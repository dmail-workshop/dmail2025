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7" r:id="rId3"/>
    <p:sldId id="277" r:id="rId4"/>
    <p:sldId id="293" r:id="rId5"/>
    <p:sldId id="295" r:id="rId6"/>
    <p:sldId id="292" r:id="rId7"/>
    <p:sldId id="273" r:id="rId8"/>
    <p:sldId id="274" r:id="rId9"/>
    <p:sldId id="275" r:id="rId10"/>
    <p:sldId id="278" r:id="rId11"/>
    <p:sldId id="294" r:id="rId12"/>
    <p:sldId id="282" r:id="rId13"/>
    <p:sldId id="283" r:id="rId14"/>
    <p:sldId id="284" r:id="rId15"/>
    <p:sldId id="279" r:id="rId16"/>
    <p:sldId id="285" r:id="rId17"/>
    <p:sldId id="281" r:id="rId18"/>
    <p:sldId id="287" r:id="rId19"/>
    <p:sldId id="288" r:id="rId20"/>
    <p:sldId id="289" r:id="rId21"/>
    <p:sldId id="280" r:id="rId22"/>
    <p:sldId id="267" r:id="rId23"/>
  </p:sldIdLst>
  <p:sldSz cx="9144000" cy="5143500" type="screen16x9"/>
  <p:notesSz cx="6858000" cy="9144000"/>
  <p:embeddedFontLst>
    <p:embeddedFont>
      <p:font typeface="Proxima Nova" panose="02000506030000020004"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353744"/>
    <a:srgbClr val="78B3F9"/>
    <a:srgbClr val="EEB2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02"/>
    <p:restoredTop sz="57778"/>
  </p:normalViewPr>
  <p:slideViewPr>
    <p:cSldViewPr snapToGrid="0">
      <p:cViewPr varScale="1">
        <p:scale>
          <a:sx n="136" d="100"/>
          <a:sy n="136" d="100"/>
        </p:scale>
        <p:origin x="208" y="416"/>
      </p:cViewPr>
      <p:guideLst>
        <p:guide orient="horz" pos="1620"/>
        <p:guide pos="288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207F82-DD24-7A41-B1A3-CC8F572760E9}" type="doc">
      <dgm:prSet loTypeId="urn:microsoft.com/office/officeart/2005/8/layout/venn1" loCatId="" qsTypeId="urn:microsoft.com/office/officeart/2005/8/quickstyle/simple1" qsCatId="simple" csTypeId="urn:microsoft.com/office/officeart/2005/8/colors/accent5_2" csCatId="accent5" phldr="1"/>
      <dgm:spPr/>
    </dgm:pt>
    <dgm:pt modelId="{BFD722BC-C1E2-1044-8637-898168AE2C24}">
      <dgm:prSet phldrT="[Text]"/>
      <dgm:spPr>
        <a:solidFill>
          <a:schemeClr val="accent5">
            <a:lumMod val="75000"/>
            <a:alpha val="50000"/>
          </a:schemeClr>
        </a:solidFill>
      </dgm:spPr>
      <dgm:t>
        <a:bodyPr/>
        <a:lstStyle/>
        <a:p>
          <a:r>
            <a:rPr lang="en-US" b="1" dirty="0">
              <a:solidFill>
                <a:schemeClr val="bg1"/>
              </a:solidFill>
            </a:rPr>
            <a:t>Legal Argument Mining</a:t>
          </a:r>
        </a:p>
      </dgm:t>
    </dgm:pt>
    <dgm:pt modelId="{B57595B8-F183-CD47-B0D2-4EB1F93A646D}" type="parTrans" cxnId="{F51B24CD-F5A2-C548-A6BA-A8747460DC1E}">
      <dgm:prSet/>
      <dgm:spPr/>
      <dgm:t>
        <a:bodyPr/>
        <a:lstStyle/>
        <a:p>
          <a:endParaRPr lang="en-US"/>
        </a:p>
      </dgm:t>
    </dgm:pt>
    <dgm:pt modelId="{B510A48D-2056-7A4E-99C1-90E520B89079}" type="sibTrans" cxnId="{F51B24CD-F5A2-C548-A6BA-A8747460DC1E}">
      <dgm:prSet/>
      <dgm:spPr/>
      <dgm:t>
        <a:bodyPr/>
        <a:lstStyle/>
        <a:p>
          <a:endParaRPr lang="en-US"/>
        </a:p>
      </dgm:t>
    </dgm:pt>
    <dgm:pt modelId="{3A4EBC12-1A85-9942-8AE2-19B8656066DA}">
      <dgm:prSet phldrT="[Text]"/>
      <dgm:spPr>
        <a:solidFill>
          <a:srgbClr val="FFFF00">
            <a:alpha val="50000"/>
          </a:srgbClr>
        </a:solidFill>
      </dgm:spPr>
      <dgm:t>
        <a:bodyPr/>
        <a:lstStyle/>
        <a:p>
          <a:r>
            <a:rPr lang="en-US" b="1" dirty="0">
              <a:solidFill>
                <a:schemeClr val="bg1"/>
              </a:solidFill>
            </a:rPr>
            <a:t>Extractive Question Answering</a:t>
          </a:r>
        </a:p>
      </dgm:t>
    </dgm:pt>
    <dgm:pt modelId="{6AF833DB-64AC-0A45-A106-0571545F3C4C}" type="parTrans" cxnId="{2B8539D7-10A0-AD4E-8642-0CA352031881}">
      <dgm:prSet/>
      <dgm:spPr/>
      <dgm:t>
        <a:bodyPr/>
        <a:lstStyle/>
        <a:p>
          <a:endParaRPr lang="en-US"/>
        </a:p>
      </dgm:t>
    </dgm:pt>
    <dgm:pt modelId="{0418C89A-20D7-1B42-8FAB-EFA4F60401AE}" type="sibTrans" cxnId="{2B8539D7-10A0-AD4E-8642-0CA352031881}">
      <dgm:prSet/>
      <dgm:spPr/>
      <dgm:t>
        <a:bodyPr/>
        <a:lstStyle/>
        <a:p>
          <a:endParaRPr lang="en-US"/>
        </a:p>
      </dgm:t>
    </dgm:pt>
    <dgm:pt modelId="{061BE250-D817-6740-98AC-40B2F20B8585}" type="pres">
      <dgm:prSet presAssocID="{03207F82-DD24-7A41-B1A3-CC8F572760E9}" presName="compositeShape" presStyleCnt="0">
        <dgm:presLayoutVars>
          <dgm:chMax val="7"/>
          <dgm:dir/>
          <dgm:resizeHandles val="exact"/>
        </dgm:presLayoutVars>
      </dgm:prSet>
      <dgm:spPr/>
    </dgm:pt>
    <dgm:pt modelId="{161C200F-5432-EC4D-8F8F-05EC1EC2387D}" type="pres">
      <dgm:prSet presAssocID="{BFD722BC-C1E2-1044-8637-898168AE2C24}" presName="circ1" presStyleLbl="vennNode1" presStyleIdx="0" presStyleCnt="2"/>
      <dgm:spPr/>
    </dgm:pt>
    <dgm:pt modelId="{0EAE006F-88BC-3F47-9A4C-51839F65AF3D}" type="pres">
      <dgm:prSet presAssocID="{BFD722BC-C1E2-1044-8637-898168AE2C24}" presName="circ1Tx" presStyleLbl="revTx" presStyleIdx="0" presStyleCnt="0">
        <dgm:presLayoutVars>
          <dgm:chMax val="0"/>
          <dgm:chPref val="0"/>
          <dgm:bulletEnabled val="1"/>
        </dgm:presLayoutVars>
      </dgm:prSet>
      <dgm:spPr/>
    </dgm:pt>
    <dgm:pt modelId="{B4C82728-FA28-3545-B6D9-28D84C72024B}" type="pres">
      <dgm:prSet presAssocID="{3A4EBC12-1A85-9942-8AE2-19B8656066DA}" presName="circ2" presStyleLbl="vennNode1" presStyleIdx="1" presStyleCnt="2"/>
      <dgm:spPr/>
    </dgm:pt>
    <dgm:pt modelId="{7754F9E3-2B85-DD4A-9775-77FCDA6C6C54}" type="pres">
      <dgm:prSet presAssocID="{3A4EBC12-1A85-9942-8AE2-19B8656066DA}" presName="circ2Tx" presStyleLbl="revTx" presStyleIdx="0" presStyleCnt="0">
        <dgm:presLayoutVars>
          <dgm:chMax val="0"/>
          <dgm:chPref val="0"/>
          <dgm:bulletEnabled val="1"/>
        </dgm:presLayoutVars>
      </dgm:prSet>
      <dgm:spPr/>
    </dgm:pt>
  </dgm:ptLst>
  <dgm:cxnLst>
    <dgm:cxn modelId="{24B60139-8988-F141-AAD3-B09C721A3B8E}" type="presOf" srcId="{BFD722BC-C1E2-1044-8637-898168AE2C24}" destId="{161C200F-5432-EC4D-8F8F-05EC1EC2387D}" srcOrd="0" destOrd="0" presId="urn:microsoft.com/office/officeart/2005/8/layout/venn1"/>
    <dgm:cxn modelId="{8CABDA6E-5051-114B-80F8-FD651CF7B620}" type="presOf" srcId="{03207F82-DD24-7A41-B1A3-CC8F572760E9}" destId="{061BE250-D817-6740-98AC-40B2F20B8585}" srcOrd="0" destOrd="0" presId="urn:microsoft.com/office/officeart/2005/8/layout/venn1"/>
    <dgm:cxn modelId="{F51B24CD-F5A2-C548-A6BA-A8747460DC1E}" srcId="{03207F82-DD24-7A41-B1A3-CC8F572760E9}" destId="{BFD722BC-C1E2-1044-8637-898168AE2C24}" srcOrd="0" destOrd="0" parTransId="{B57595B8-F183-CD47-B0D2-4EB1F93A646D}" sibTransId="{B510A48D-2056-7A4E-99C1-90E520B89079}"/>
    <dgm:cxn modelId="{FBFD73CF-B8F2-574C-855C-D53D18C5DBBA}" type="presOf" srcId="{BFD722BC-C1E2-1044-8637-898168AE2C24}" destId="{0EAE006F-88BC-3F47-9A4C-51839F65AF3D}" srcOrd="1" destOrd="0" presId="urn:microsoft.com/office/officeart/2005/8/layout/venn1"/>
    <dgm:cxn modelId="{2B8539D7-10A0-AD4E-8642-0CA352031881}" srcId="{03207F82-DD24-7A41-B1A3-CC8F572760E9}" destId="{3A4EBC12-1A85-9942-8AE2-19B8656066DA}" srcOrd="1" destOrd="0" parTransId="{6AF833DB-64AC-0A45-A106-0571545F3C4C}" sibTransId="{0418C89A-20D7-1B42-8FAB-EFA4F60401AE}"/>
    <dgm:cxn modelId="{D5C987D9-E5EB-314B-AC12-ADC4DBFA8883}" type="presOf" srcId="{3A4EBC12-1A85-9942-8AE2-19B8656066DA}" destId="{B4C82728-FA28-3545-B6D9-28D84C72024B}" srcOrd="0" destOrd="0" presId="urn:microsoft.com/office/officeart/2005/8/layout/venn1"/>
    <dgm:cxn modelId="{4CB004F7-F124-4E42-B0F5-96A5E476318E}" type="presOf" srcId="{3A4EBC12-1A85-9942-8AE2-19B8656066DA}" destId="{7754F9E3-2B85-DD4A-9775-77FCDA6C6C54}" srcOrd="1" destOrd="0" presId="urn:microsoft.com/office/officeart/2005/8/layout/venn1"/>
    <dgm:cxn modelId="{85F3FCD4-4791-2743-A1C5-7AC141ED026C}" type="presParOf" srcId="{061BE250-D817-6740-98AC-40B2F20B8585}" destId="{161C200F-5432-EC4D-8F8F-05EC1EC2387D}" srcOrd="0" destOrd="0" presId="urn:microsoft.com/office/officeart/2005/8/layout/venn1"/>
    <dgm:cxn modelId="{1F838A5E-F3C2-1446-B4EE-530623F81C4A}" type="presParOf" srcId="{061BE250-D817-6740-98AC-40B2F20B8585}" destId="{0EAE006F-88BC-3F47-9A4C-51839F65AF3D}" srcOrd="1" destOrd="0" presId="urn:microsoft.com/office/officeart/2005/8/layout/venn1"/>
    <dgm:cxn modelId="{BB867ED9-06F1-9947-8C60-C0F4BFEB9C3B}" type="presParOf" srcId="{061BE250-D817-6740-98AC-40B2F20B8585}" destId="{B4C82728-FA28-3545-B6D9-28D84C72024B}" srcOrd="2" destOrd="0" presId="urn:microsoft.com/office/officeart/2005/8/layout/venn1"/>
    <dgm:cxn modelId="{E6E7FC60-10D8-B648-B5F6-698970B2A966}" type="presParOf" srcId="{061BE250-D817-6740-98AC-40B2F20B8585}" destId="{7754F9E3-2B85-DD4A-9775-77FCDA6C6C54}" srcOrd="3" destOrd="0" presId="urn:microsoft.com/office/officeart/2005/8/layout/ven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207F82-DD24-7A41-B1A3-CC8F572760E9}" type="doc">
      <dgm:prSet loTypeId="urn:microsoft.com/office/officeart/2005/8/layout/venn1" loCatId="" qsTypeId="urn:microsoft.com/office/officeart/2005/8/quickstyle/simple1" qsCatId="simple" csTypeId="urn:microsoft.com/office/officeart/2005/8/colors/accent5_2" csCatId="accent5" phldr="1"/>
      <dgm:spPr/>
    </dgm:pt>
    <dgm:pt modelId="{BFD722BC-C1E2-1044-8637-898168AE2C24}">
      <dgm:prSet phldrT="[Text]"/>
      <dgm:spPr>
        <a:solidFill>
          <a:schemeClr val="accent5">
            <a:lumMod val="75000"/>
            <a:alpha val="50000"/>
          </a:schemeClr>
        </a:solidFill>
      </dgm:spPr>
      <dgm:t>
        <a:bodyPr/>
        <a:lstStyle/>
        <a:p>
          <a:r>
            <a:rPr lang="en-US" b="1" dirty="0">
              <a:solidFill>
                <a:schemeClr val="bg1"/>
              </a:solidFill>
            </a:rPr>
            <a:t>Legal Argument Mining</a:t>
          </a:r>
        </a:p>
      </dgm:t>
    </dgm:pt>
    <dgm:pt modelId="{B57595B8-F183-CD47-B0D2-4EB1F93A646D}" type="parTrans" cxnId="{F51B24CD-F5A2-C548-A6BA-A8747460DC1E}">
      <dgm:prSet/>
      <dgm:spPr/>
      <dgm:t>
        <a:bodyPr/>
        <a:lstStyle/>
        <a:p>
          <a:endParaRPr lang="en-US"/>
        </a:p>
      </dgm:t>
    </dgm:pt>
    <dgm:pt modelId="{B510A48D-2056-7A4E-99C1-90E520B89079}" type="sibTrans" cxnId="{F51B24CD-F5A2-C548-A6BA-A8747460DC1E}">
      <dgm:prSet/>
      <dgm:spPr/>
      <dgm:t>
        <a:bodyPr/>
        <a:lstStyle/>
        <a:p>
          <a:endParaRPr lang="en-US"/>
        </a:p>
      </dgm:t>
    </dgm:pt>
    <dgm:pt modelId="{3A4EBC12-1A85-9942-8AE2-19B8656066DA}">
      <dgm:prSet phldrT="[Text]"/>
      <dgm:spPr>
        <a:solidFill>
          <a:srgbClr val="FFFF00">
            <a:alpha val="50000"/>
          </a:srgbClr>
        </a:solidFill>
      </dgm:spPr>
      <dgm:t>
        <a:bodyPr/>
        <a:lstStyle/>
        <a:p>
          <a:r>
            <a:rPr lang="en-US" b="1" dirty="0">
              <a:solidFill>
                <a:schemeClr val="bg1"/>
              </a:solidFill>
            </a:rPr>
            <a:t>Extractive Question Answering</a:t>
          </a:r>
        </a:p>
      </dgm:t>
    </dgm:pt>
    <dgm:pt modelId="{6AF833DB-64AC-0A45-A106-0571545F3C4C}" type="parTrans" cxnId="{2B8539D7-10A0-AD4E-8642-0CA352031881}">
      <dgm:prSet/>
      <dgm:spPr/>
      <dgm:t>
        <a:bodyPr/>
        <a:lstStyle/>
        <a:p>
          <a:endParaRPr lang="en-US"/>
        </a:p>
      </dgm:t>
    </dgm:pt>
    <dgm:pt modelId="{0418C89A-20D7-1B42-8FAB-EFA4F60401AE}" type="sibTrans" cxnId="{2B8539D7-10A0-AD4E-8642-0CA352031881}">
      <dgm:prSet/>
      <dgm:spPr/>
      <dgm:t>
        <a:bodyPr/>
        <a:lstStyle/>
        <a:p>
          <a:endParaRPr lang="en-US"/>
        </a:p>
      </dgm:t>
    </dgm:pt>
    <dgm:pt modelId="{061BE250-D817-6740-98AC-40B2F20B8585}" type="pres">
      <dgm:prSet presAssocID="{03207F82-DD24-7A41-B1A3-CC8F572760E9}" presName="compositeShape" presStyleCnt="0">
        <dgm:presLayoutVars>
          <dgm:chMax val="7"/>
          <dgm:dir/>
          <dgm:resizeHandles val="exact"/>
        </dgm:presLayoutVars>
      </dgm:prSet>
      <dgm:spPr/>
    </dgm:pt>
    <dgm:pt modelId="{161C200F-5432-EC4D-8F8F-05EC1EC2387D}" type="pres">
      <dgm:prSet presAssocID="{BFD722BC-C1E2-1044-8637-898168AE2C24}" presName="circ1" presStyleLbl="vennNode1" presStyleIdx="0" presStyleCnt="2"/>
      <dgm:spPr/>
    </dgm:pt>
    <dgm:pt modelId="{0EAE006F-88BC-3F47-9A4C-51839F65AF3D}" type="pres">
      <dgm:prSet presAssocID="{BFD722BC-C1E2-1044-8637-898168AE2C24}" presName="circ1Tx" presStyleLbl="revTx" presStyleIdx="0" presStyleCnt="0">
        <dgm:presLayoutVars>
          <dgm:chMax val="0"/>
          <dgm:chPref val="0"/>
          <dgm:bulletEnabled val="1"/>
        </dgm:presLayoutVars>
      </dgm:prSet>
      <dgm:spPr/>
    </dgm:pt>
    <dgm:pt modelId="{B4C82728-FA28-3545-B6D9-28D84C72024B}" type="pres">
      <dgm:prSet presAssocID="{3A4EBC12-1A85-9942-8AE2-19B8656066DA}" presName="circ2" presStyleLbl="vennNode1" presStyleIdx="1" presStyleCnt="2"/>
      <dgm:spPr/>
    </dgm:pt>
    <dgm:pt modelId="{7754F9E3-2B85-DD4A-9775-77FCDA6C6C54}" type="pres">
      <dgm:prSet presAssocID="{3A4EBC12-1A85-9942-8AE2-19B8656066DA}" presName="circ2Tx" presStyleLbl="revTx" presStyleIdx="0" presStyleCnt="0">
        <dgm:presLayoutVars>
          <dgm:chMax val="0"/>
          <dgm:chPref val="0"/>
          <dgm:bulletEnabled val="1"/>
        </dgm:presLayoutVars>
      </dgm:prSet>
      <dgm:spPr/>
    </dgm:pt>
  </dgm:ptLst>
  <dgm:cxnLst>
    <dgm:cxn modelId="{24B60139-8988-F141-AAD3-B09C721A3B8E}" type="presOf" srcId="{BFD722BC-C1E2-1044-8637-898168AE2C24}" destId="{161C200F-5432-EC4D-8F8F-05EC1EC2387D}" srcOrd="0" destOrd="0" presId="urn:microsoft.com/office/officeart/2005/8/layout/venn1"/>
    <dgm:cxn modelId="{8CABDA6E-5051-114B-80F8-FD651CF7B620}" type="presOf" srcId="{03207F82-DD24-7A41-B1A3-CC8F572760E9}" destId="{061BE250-D817-6740-98AC-40B2F20B8585}" srcOrd="0" destOrd="0" presId="urn:microsoft.com/office/officeart/2005/8/layout/venn1"/>
    <dgm:cxn modelId="{F51B24CD-F5A2-C548-A6BA-A8747460DC1E}" srcId="{03207F82-DD24-7A41-B1A3-CC8F572760E9}" destId="{BFD722BC-C1E2-1044-8637-898168AE2C24}" srcOrd="0" destOrd="0" parTransId="{B57595B8-F183-CD47-B0D2-4EB1F93A646D}" sibTransId="{B510A48D-2056-7A4E-99C1-90E520B89079}"/>
    <dgm:cxn modelId="{FBFD73CF-B8F2-574C-855C-D53D18C5DBBA}" type="presOf" srcId="{BFD722BC-C1E2-1044-8637-898168AE2C24}" destId="{0EAE006F-88BC-3F47-9A4C-51839F65AF3D}" srcOrd="1" destOrd="0" presId="urn:microsoft.com/office/officeart/2005/8/layout/venn1"/>
    <dgm:cxn modelId="{2B8539D7-10A0-AD4E-8642-0CA352031881}" srcId="{03207F82-DD24-7A41-B1A3-CC8F572760E9}" destId="{3A4EBC12-1A85-9942-8AE2-19B8656066DA}" srcOrd="1" destOrd="0" parTransId="{6AF833DB-64AC-0A45-A106-0571545F3C4C}" sibTransId="{0418C89A-20D7-1B42-8FAB-EFA4F60401AE}"/>
    <dgm:cxn modelId="{D5C987D9-E5EB-314B-AC12-ADC4DBFA8883}" type="presOf" srcId="{3A4EBC12-1A85-9942-8AE2-19B8656066DA}" destId="{B4C82728-FA28-3545-B6D9-28D84C72024B}" srcOrd="0" destOrd="0" presId="urn:microsoft.com/office/officeart/2005/8/layout/venn1"/>
    <dgm:cxn modelId="{4CB004F7-F124-4E42-B0F5-96A5E476318E}" type="presOf" srcId="{3A4EBC12-1A85-9942-8AE2-19B8656066DA}" destId="{7754F9E3-2B85-DD4A-9775-77FCDA6C6C54}" srcOrd="1" destOrd="0" presId="urn:microsoft.com/office/officeart/2005/8/layout/venn1"/>
    <dgm:cxn modelId="{85F3FCD4-4791-2743-A1C5-7AC141ED026C}" type="presParOf" srcId="{061BE250-D817-6740-98AC-40B2F20B8585}" destId="{161C200F-5432-EC4D-8F8F-05EC1EC2387D}" srcOrd="0" destOrd="0" presId="urn:microsoft.com/office/officeart/2005/8/layout/venn1"/>
    <dgm:cxn modelId="{1F838A5E-F3C2-1446-B4EE-530623F81C4A}" type="presParOf" srcId="{061BE250-D817-6740-98AC-40B2F20B8585}" destId="{0EAE006F-88BC-3F47-9A4C-51839F65AF3D}" srcOrd="1" destOrd="0" presId="urn:microsoft.com/office/officeart/2005/8/layout/venn1"/>
    <dgm:cxn modelId="{BB867ED9-06F1-9947-8C60-C0F4BFEB9C3B}" type="presParOf" srcId="{061BE250-D817-6740-98AC-40B2F20B8585}" destId="{B4C82728-FA28-3545-B6D9-28D84C72024B}" srcOrd="2" destOrd="0" presId="urn:microsoft.com/office/officeart/2005/8/layout/venn1"/>
    <dgm:cxn modelId="{E6E7FC60-10D8-B648-B5F6-698970B2A966}" type="presParOf" srcId="{061BE250-D817-6740-98AC-40B2F20B8585}" destId="{7754F9E3-2B85-DD4A-9775-77FCDA6C6C54}" srcOrd="3" destOrd="0" presId="urn:microsoft.com/office/officeart/2005/8/layout/ven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3207F82-DD24-7A41-B1A3-CC8F572760E9}" type="doc">
      <dgm:prSet loTypeId="urn:microsoft.com/office/officeart/2005/8/layout/venn1" loCatId="" qsTypeId="urn:microsoft.com/office/officeart/2005/8/quickstyle/simple1" qsCatId="simple" csTypeId="urn:microsoft.com/office/officeart/2005/8/colors/accent5_2" csCatId="accent5" phldr="1"/>
      <dgm:spPr/>
    </dgm:pt>
    <dgm:pt modelId="{BFD722BC-C1E2-1044-8637-898168AE2C24}">
      <dgm:prSet phldrT="[Text]"/>
      <dgm:spPr>
        <a:solidFill>
          <a:schemeClr val="accent5">
            <a:lumMod val="75000"/>
            <a:alpha val="50000"/>
          </a:schemeClr>
        </a:solidFill>
      </dgm:spPr>
      <dgm:t>
        <a:bodyPr/>
        <a:lstStyle/>
        <a:p>
          <a:r>
            <a:rPr lang="en-US" b="1" dirty="0">
              <a:solidFill>
                <a:schemeClr val="bg1"/>
              </a:solidFill>
            </a:rPr>
            <a:t>Legal Argument Mining</a:t>
          </a:r>
        </a:p>
      </dgm:t>
    </dgm:pt>
    <dgm:pt modelId="{B57595B8-F183-CD47-B0D2-4EB1F93A646D}" type="parTrans" cxnId="{F51B24CD-F5A2-C548-A6BA-A8747460DC1E}">
      <dgm:prSet/>
      <dgm:spPr/>
      <dgm:t>
        <a:bodyPr/>
        <a:lstStyle/>
        <a:p>
          <a:endParaRPr lang="en-US"/>
        </a:p>
      </dgm:t>
    </dgm:pt>
    <dgm:pt modelId="{B510A48D-2056-7A4E-99C1-90E520B89079}" type="sibTrans" cxnId="{F51B24CD-F5A2-C548-A6BA-A8747460DC1E}">
      <dgm:prSet/>
      <dgm:spPr/>
      <dgm:t>
        <a:bodyPr/>
        <a:lstStyle/>
        <a:p>
          <a:endParaRPr lang="en-US"/>
        </a:p>
      </dgm:t>
    </dgm:pt>
    <dgm:pt modelId="{3A4EBC12-1A85-9942-8AE2-19B8656066DA}">
      <dgm:prSet phldrT="[Text]"/>
      <dgm:spPr>
        <a:solidFill>
          <a:srgbClr val="FFFF00">
            <a:alpha val="50000"/>
          </a:srgbClr>
        </a:solidFill>
      </dgm:spPr>
      <dgm:t>
        <a:bodyPr/>
        <a:lstStyle/>
        <a:p>
          <a:r>
            <a:rPr lang="en-US" b="1" dirty="0">
              <a:solidFill>
                <a:schemeClr val="bg1"/>
              </a:solidFill>
            </a:rPr>
            <a:t>Extractive Question Answering</a:t>
          </a:r>
        </a:p>
      </dgm:t>
    </dgm:pt>
    <dgm:pt modelId="{6AF833DB-64AC-0A45-A106-0571545F3C4C}" type="parTrans" cxnId="{2B8539D7-10A0-AD4E-8642-0CA352031881}">
      <dgm:prSet/>
      <dgm:spPr/>
      <dgm:t>
        <a:bodyPr/>
        <a:lstStyle/>
        <a:p>
          <a:endParaRPr lang="en-US"/>
        </a:p>
      </dgm:t>
    </dgm:pt>
    <dgm:pt modelId="{0418C89A-20D7-1B42-8FAB-EFA4F60401AE}" type="sibTrans" cxnId="{2B8539D7-10A0-AD4E-8642-0CA352031881}">
      <dgm:prSet/>
      <dgm:spPr/>
      <dgm:t>
        <a:bodyPr/>
        <a:lstStyle/>
        <a:p>
          <a:endParaRPr lang="en-US"/>
        </a:p>
      </dgm:t>
    </dgm:pt>
    <dgm:pt modelId="{061BE250-D817-6740-98AC-40B2F20B8585}" type="pres">
      <dgm:prSet presAssocID="{03207F82-DD24-7A41-B1A3-CC8F572760E9}" presName="compositeShape" presStyleCnt="0">
        <dgm:presLayoutVars>
          <dgm:chMax val="7"/>
          <dgm:dir/>
          <dgm:resizeHandles val="exact"/>
        </dgm:presLayoutVars>
      </dgm:prSet>
      <dgm:spPr/>
    </dgm:pt>
    <dgm:pt modelId="{161C200F-5432-EC4D-8F8F-05EC1EC2387D}" type="pres">
      <dgm:prSet presAssocID="{BFD722BC-C1E2-1044-8637-898168AE2C24}" presName="circ1" presStyleLbl="vennNode1" presStyleIdx="0" presStyleCnt="2"/>
      <dgm:spPr/>
    </dgm:pt>
    <dgm:pt modelId="{0EAE006F-88BC-3F47-9A4C-51839F65AF3D}" type="pres">
      <dgm:prSet presAssocID="{BFD722BC-C1E2-1044-8637-898168AE2C24}" presName="circ1Tx" presStyleLbl="revTx" presStyleIdx="0" presStyleCnt="0">
        <dgm:presLayoutVars>
          <dgm:chMax val="0"/>
          <dgm:chPref val="0"/>
          <dgm:bulletEnabled val="1"/>
        </dgm:presLayoutVars>
      </dgm:prSet>
      <dgm:spPr/>
    </dgm:pt>
    <dgm:pt modelId="{B4C82728-FA28-3545-B6D9-28D84C72024B}" type="pres">
      <dgm:prSet presAssocID="{3A4EBC12-1A85-9942-8AE2-19B8656066DA}" presName="circ2" presStyleLbl="vennNode1" presStyleIdx="1" presStyleCnt="2"/>
      <dgm:spPr/>
    </dgm:pt>
    <dgm:pt modelId="{7754F9E3-2B85-DD4A-9775-77FCDA6C6C54}" type="pres">
      <dgm:prSet presAssocID="{3A4EBC12-1A85-9942-8AE2-19B8656066DA}" presName="circ2Tx" presStyleLbl="revTx" presStyleIdx="0" presStyleCnt="0">
        <dgm:presLayoutVars>
          <dgm:chMax val="0"/>
          <dgm:chPref val="0"/>
          <dgm:bulletEnabled val="1"/>
        </dgm:presLayoutVars>
      </dgm:prSet>
      <dgm:spPr/>
    </dgm:pt>
  </dgm:ptLst>
  <dgm:cxnLst>
    <dgm:cxn modelId="{24B60139-8988-F141-AAD3-B09C721A3B8E}" type="presOf" srcId="{BFD722BC-C1E2-1044-8637-898168AE2C24}" destId="{161C200F-5432-EC4D-8F8F-05EC1EC2387D}" srcOrd="0" destOrd="0" presId="urn:microsoft.com/office/officeart/2005/8/layout/venn1"/>
    <dgm:cxn modelId="{8CABDA6E-5051-114B-80F8-FD651CF7B620}" type="presOf" srcId="{03207F82-DD24-7A41-B1A3-CC8F572760E9}" destId="{061BE250-D817-6740-98AC-40B2F20B8585}" srcOrd="0" destOrd="0" presId="urn:microsoft.com/office/officeart/2005/8/layout/venn1"/>
    <dgm:cxn modelId="{F51B24CD-F5A2-C548-A6BA-A8747460DC1E}" srcId="{03207F82-DD24-7A41-B1A3-CC8F572760E9}" destId="{BFD722BC-C1E2-1044-8637-898168AE2C24}" srcOrd="0" destOrd="0" parTransId="{B57595B8-F183-CD47-B0D2-4EB1F93A646D}" sibTransId="{B510A48D-2056-7A4E-99C1-90E520B89079}"/>
    <dgm:cxn modelId="{FBFD73CF-B8F2-574C-855C-D53D18C5DBBA}" type="presOf" srcId="{BFD722BC-C1E2-1044-8637-898168AE2C24}" destId="{0EAE006F-88BC-3F47-9A4C-51839F65AF3D}" srcOrd="1" destOrd="0" presId="urn:microsoft.com/office/officeart/2005/8/layout/venn1"/>
    <dgm:cxn modelId="{2B8539D7-10A0-AD4E-8642-0CA352031881}" srcId="{03207F82-DD24-7A41-B1A3-CC8F572760E9}" destId="{3A4EBC12-1A85-9942-8AE2-19B8656066DA}" srcOrd="1" destOrd="0" parTransId="{6AF833DB-64AC-0A45-A106-0571545F3C4C}" sibTransId="{0418C89A-20D7-1B42-8FAB-EFA4F60401AE}"/>
    <dgm:cxn modelId="{D5C987D9-E5EB-314B-AC12-ADC4DBFA8883}" type="presOf" srcId="{3A4EBC12-1A85-9942-8AE2-19B8656066DA}" destId="{B4C82728-FA28-3545-B6D9-28D84C72024B}" srcOrd="0" destOrd="0" presId="urn:microsoft.com/office/officeart/2005/8/layout/venn1"/>
    <dgm:cxn modelId="{4CB004F7-F124-4E42-B0F5-96A5E476318E}" type="presOf" srcId="{3A4EBC12-1A85-9942-8AE2-19B8656066DA}" destId="{7754F9E3-2B85-DD4A-9775-77FCDA6C6C54}" srcOrd="1" destOrd="0" presId="urn:microsoft.com/office/officeart/2005/8/layout/venn1"/>
    <dgm:cxn modelId="{85F3FCD4-4791-2743-A1C5-7AC141ED026C}" type="presParOf" srcId="{061BE250-D817-6740-98AC-40B2F20B8585}" destId="{161C200F-5432-EC4D-8F8F-05EC1EC2387D}" srcOrd="0" destOrd="0" presId="urn:microsoft.com/office/officeart/2005/8/layout/venn1"/>
    <dgm:cxn modelId="{1F838A5E-F3C2-1446-B4EE-530623F81C4A}" type="presParOf" srcId="{061BE250-D817-6740-98AC-40B2F20B8585}" destId="{0EAE006F-88BC-3F47-9A4C-51839F65AF3D}" srcOrd="1" destOrd="0" presId="urn:microsoft.com/office/officeart/2005/8/layout/venn1"/>
    <dgm:cxn modelId="{BB867ED9-06F1-9947-8C60-C0F4BFEB9C3B}" type="presParOf" srcId="{061BE250-D817-6740-98AC-40B2F20B8585}" destId="{B4C82728-FA28-3545-B6D9-28D84C72024B}" srcOrd="2" destOrd="0" presId="urn:microsoft.com/office/officeart/2005/8/layout/venn1"/>
    <dgm:cxn modelId="{E6E7FC60-10D8-B648-B5F6-698970B2A966}" type="presParOf" srcId="{061BE250-D817-6740-98AC-40B2F20B8585}" destId="{7754F9E3-2B85-DD4A-9775-77FCDA6C6C54}" srcOrd="3" destOrd="0" presId="urn:microsoft.com/office/officeart/2005/8/layout/ven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207F82-DD24-7A41-B1A3-CC8F572760E9}" type="doc">
      <dgm:prSet loTypeId="urn:microsoft.com/office/officeart/2005/8/layout/venn1" loCatId="" qsTypeId="urn:microsoft.com/office/officeart/2005/8/quickstyle/simple1" qsCatId="simple" csTypeId="urn:microsoft.com/office/officeart/2005/8/colors/accent5_2" csCatId="accent5" phldr="1"/>
      <dgm:spPr/>
    </dgm:pt>
    <dgm:pt modelId="{BFD722BC-C1E2-1044-8637-898168AE2C24}">
      <dgm:prSet phldrT="[Text]"/>
      <dgm:spPr>
        <a:solidFill>
          <a:schemeClr val="accent5">
            <a:lumMod val="75000"/>
            <a:alpha val="50000"/>
          </a:schemeClr>
        </a:solidFill>
      </dgm:spPr>
      <dgm:t>
        <a:bodyPr/>
        <a:lstStyle/>
        <a:p>
          <a:r>
            <a:rPr lang="en-US" b="1" dirty="0">
              <a:solidFill>
                <a:schemeClr val="bg1"/>
              </a:solidFill>
            </a:rPr>
            <a:t>Legal Argument Mining</a:t>
          </a:r>
        </a:p>
      </dgm:t>
    </dgm:pt>
    <dgm:pt modelId="{B57595B8-F183-CD47-B0D2-4EB1F93A646D}" type="parTrans" cxnId="{F51B24CD-F5A2-C548-A6BA-A8747460DC1E}">
      <dgm:prSet/>
      <dgm:spPr/>
      <dgm:t>
        <a:bodyPr/>
        <a:lstStyle/>
        <a:p>
          <a:endParaRPr lang="en-US"/>
        </a:p>
      </dgm:t>
    </dgm:pt>
    <dgm:pt modelId="{B510A48D-2056-7A4E-99C1-90E520B89079}" type="sibTrans" cxnId="{F51B24CD-F5A2-C548-A6BA-A8747460DC1E}">
      <dgm:prSet/>
      <dgm:spPr/>
      <dgm:t>
        <a:bodyPr/>
        <a:lstStyle/>
        <a:p>
          <a:endParaRPr lang="en-US"/>
        </a:p>
      </dgm:t>
    </dgm:pt>
    <dgm:pt modelId="{3A4EBC12-1A85-9942-8AE2-19B8656066DA}">
      <dgm:prSet phldrT="[Text]"/>
      <dgm:spPr>
        <a:solidFill>
          <a:srgbClr val="FFFF00">
            <a:alpha val="50000"/>
          </a:srgbClr>
        </a:solidFill>
      </dgm:spPr>
      <dgm:t>
        <a:bodyPr/>
        <a:lstStyle/>
        <a:p>
          <a:r>
            <a:rPr lang="en-US" b="1" dirty="0">
              <a:solidFill>
                <a:schemeClr val="bg1"/>
              </a:solidFill>
            </a:rPr>
            <a:t>Extractive Question Answering</a:t>
          </a:r>
        </a:p>
      </dgm:t>
    </dgm:pt>
    <dgm:pt modelId="{6AF833DB-64AC-0A45-A106-0571545F3C4C}" type="parTrans" cxnId="{2B8539D7-10A0-AD4E-8642-0CA352031881}">
      <dgm:prSet/>
      <dgm:spPr/>
      <dgm:t>
        <a:bodyPr/>
        <a:lstStyle/>
        <a:p>
          <a:endParaRPr lang="en-US"/>
        </a:p>
      </dgm:t>
    </dgm:pt>
    <dgm:pt modelId="{0418C89A-20D7-1B42-8FAB-EFA4F60401AE}" type="sibTrans" cxnId="{2B8539D7-10A0-AD4E-8642-0CA352031881}">
      <dgm:prSet/>
      <dgm:spPr/>
      <dgm:t>
        <a:bodyPr/>
        <a:lstStyle/>
        <a:p>
          <a:endParaRPr lang="en-US"/>
        </a:p>
      </dgm:t>
    </dgm:pt>
    <dgm:pt modelId="{061BE250-D817-6740-98AC-40B2F20B8585}" type="pres">
      <dgm:prSet presAssocID="{03207F82-DD24-7A41-B1A3-CC8F572760E9}" presName="compositeShape" presStyleCnt="0">
        <dgm:presLayoutVars>
          <dgm:chMax val="7"/>
          <dgm:dir/>
          <dgm:resizeHandles val="exact"/>
        </dgm:presLayoutVars>
      </dgm:prSet>
      <dgm:spPr/>
    </dgm:pt>
    <dgm:pt modelId="{161C200F-5432-EC4D-8F8F-05EC1EC2387D}" type="pres">
      <dgm:prSet presAssocID="{BFD722BC-C1E2-1044-8637-898168AE2C24}" presName="circ1" presStyleLbl="vennNode1" presStyleIdx="0" presStyleCnt="2"/>
      <dgm:spPr/>
    </dgm:pt>
    <dgm:pt modelId="{0EAE006F-88BC-3F47-9A4C-51839F65AF3D}" type="pres">
      <dgm:prSet presAssocID="{BFD722BC-C1E2-1044-8637-898168AE2C24}" presName="circ1Tx" presStyleLbl="revTx" presStyleIdx="0" presStyleCnt="0">
        <dgm:presLayoutVars>
          <dgm:chMax val="0"/>
          <dgm:chPref val="0"/>
          <dgm:bulletEnabled val="1"/>
        </dgm:presLayoutVars>
      </dgm:prSet>
      <dgm:spPr/>
    </dgm:pt>
    <dgm:pt modelId="{B4C82728-FA28-3545-B6D9-28D84C72024B}" type="pres">
      <dgm:prSet presAssocID="{3A4EBC12-1A85-9942-8AE2-19B8656066DA}" presName="circ2" presStyleLbl="vennNode1" presStyleIdx="1" presStyleCnt="2"/>
      <dgm:spPr/>
    </dgm:pt>
    <dgm:pt modelId="{7754F9E3-2B85-DD4A-9775-77FCDA6C6C54}" type="pres">
      <dgm:prSet presAssocID="{3A4EBC12-1A85-9942-8AE2-19B8656066DA}" presName="circ2Tx" presStyleLbl="revTx" presStyleIdx="0" presStyleCnt="0">
        <dgm:presLayoutVars>
          <dgm:chMax val="0"/>
          <dgm:chPref val="0"/>
          <dgm:bulletEnabled val="1"/>
        </dgm:presLayoutVars>
      </dgm:prSet>
      <dgm:spPr/>
    </dgm:pt>
  </dgm:ptLst>
  <dgm:cxnLst>
    <dgm:cxn modelId="{24B60139-8988-F141-AAD3-B09C721A3B8E}" type="presOf" srcId="{BFD722BC-C1E2-1044-8637-898168AE2C24}" destId="{161C200F-5432-EC4D-8F8F-05EC1EC2387D}" srcOrd="0" destOrd="0" presId="urn:microsoft.com/office/officeart/2005/8/layout/venn1"/>
    <dgm:cxn modelId="{8CABDA6E-5051-114B-80F8-FD651CF7B620}" type="presOf" srcId="{03207F82-DD24-7A41-B1A3-CC8F572760E9}" destId="{061BE250-D817-6740-98AC-40B2F20B8585}" srcOrd="0" destOrd="0" presId="urn:microsoft.com/office/officeart/2005/8/layout/venn1"/>
    <dgm:cxn modelId="{F51B24CD-F5A2-C548-A6BA-A8747460DC1E}" srcId="{03207F82-DD24-7A41-B1A3-CC8F572760E9}" destId="{BFD722BC-C1E2-1044-8637-898168AE2C24}" srcOrd="0" destOrd="0" parTransId="{B57595B8-F183-CD47-B0D2-4EB1F93A646D}" sibTransId="{B510A48D-2056-7A4E-99C1-90E520B89079}"/>
    <dgm:cxn modelId="{FBFD73CF-B8F2-574C-855C-D53D18C5DBBA}" type="presOf" srcId="{BFD722BC-C1E2-1044-8637-898168AE2C24}" destId="{0EAE006F-88BC-3F47-9A4C-51839F65AF3D}" srcOrd="1" destOrd="0" presId="urn:microsoft.com/office/officeart/2005/8/layout/venn1"/>
    <dgm:cxn modelId="{2B8539D7-10A0-AD4E-8642-0CA352031881}" srcId="{03207F82-DD24-7A41-B1A3-CC8F572760E9}" destId="{3A4EBC12-1A85-9942-8AE2-19B8656066DA}" srcOrd="1" destOrd="0" parTransId="{6AF833DB-64AC-0A45-A106-0571545F3C4C}" sibTransId="{0418C89A-20D7-1B42-8FAB-EFA4F60401AE}"/>
    <dgm:cxn modelId="{D5C987D9-E5EB-314B-AC12-ADC4DBFA8883}" type="presOf" srcId="{3A4EBC12-1A85-9942-8AE2-19B8656066DA}" destId="{B4C82728-FA28-3545-B6D9-28D84C72024B}" srcOrd="0" destOrd="0" presId="urn:microsoft.com/office/officeart/2005/8/layout/venn1"/>
    <dgm:cxn modelId="{4CB004F7-F124-4E42-B0F5-96A5E476318E}" type="presOf" srcId="{3A4EBC12-1A85-9942-8AE2-19B8656066DA}" destId="{7754F9E3-2B85-DD4A-9775-77FCDA6C6C54}" srcOrd="1" destOrd="0" presId="urn:microsoft.com/office/officeart/2005/8/layout/venn1"/>
    <dgm:cxn modelId="{85F3FCD4-4791-2743-A1C5-7AC141ED026C}" type="presParOf" srcId="{061BE250-D817-6740-98AC-40B2F20B8585}" destId="{161C200F-5432-EC4D-8F8F-05EC1EC2387D}" srcOrd="0" destOrd="0" presId="urn:microsoft.com/office/officeart/2005/8/layout/venn1"/>
    <dgm:cxn modelId="{1F838A5E-F3C2-1446-B4EE-530623F81C4A}" type="presParOf" srcId="{061BE250-D817-6740-98AC-40B2F20B8585}" destId="{0EAE006F-88BC-3F47-9A4C-51839F65AF3D}" srcOrd="1" destOrd="0" presId="urn:microsoft.com/office/officeart/2005/8/layout/venn1"/>
    <dgm:cxn modelId="{BB867ED9-06F1-9947-8C60-C0F4BFEB9C3B}" type="presParOf" srcId="{061BE250-D817-6740-98AC-40B2F20B8585}" destId="{B4C82728-FA28-3545-B6D9-28D84C72024B}" srcOrd="2" destOrd="0" presId="urn:microsoft.com/office/officeart/2005/8/layout/venn1"/>
    <dgm:cxn modelId="{E6E7FC60-10D8-B648-B5F6-698970B2A966}" type="presParOf" srcId="{061BE250-D817-6740-98AC-40B2F20B8585}" destId="{7754F9E3-2B85-DD4A-9775-77FCDA6C6C54}" srcOrd="3" destOrd="0" presId="urn:microsoft.com/office/officeart/2005/8/layout/ven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9B6ED3B-7298-CB44-8407-70A53819E640}" type="doc">
      <dgm:prSet loTypeId="urn:microsoft.com/office/officeart/2005/8/layout/process1" loCatId="" qsTypeId="urn:microsoft.com/office/officeart/2005/8/quickstyle/simple1" qsCatId="simple" csTypeId="urn:microsoft.com/office/officeart/2005/8/colors/colorful4" csCatId="colorful" phldr="1"/>
      <dgm:spPr/>
    </dgm:pt>
    <dgm:pt modelId="{91F2D7F7-6BAA-1047-B136-4F062134DAD0}">
      <dgm:prSet phldrT="[Text]"/>
      <dgm:spPr/>
      <dgm:t>
        <a:bodyPr/>
        <a:lstStyle/>
        <a:p>
          <a:r>
            <a:rPr lang="en-US" b="1" dirty="0"/>
            <a:t>Data Collection: </a:t>
          </a:r>
        </a:p>
        <a:p>
          <a:r>
            <a:rPr lang="en-US" dirty="0"/>
            <a:t>We scraped all of the publicly available merger &amp; acquisition decisions from TCA’s website (4552 decisions)</a:t>
          </a:r>
        </a:p>
      </dgm:t>
    </dgm:pt>
    <dgm:pt modelId="{3D3B554F-C1B5-AF45-ACF0-F4A0177DC904}" type="parTrans" cxnId="{6F7DCE12-321F-614F-9A88-0974CBAC411D}">
      <dgm:prSet/>
      <dgm:spPr/>
      <dgm:t>
        <a:bodyPr/>
        <a:lstStyle/>
        <a:p>
          <a:endParaRPr lang="en-US"/>
        </a:p>
      </dgm:t>
    </dgm:pt>
    <dgm:pt modelId="{01974A57-BD96-9D45-BD98-B4E38D064735}" type="sibTrans" cxnId="{6F7DCE12-321F-614F-9A88-0974CBAC411D}">
      <dgm:prSet/>
      <dgm:spPr/>
      <dgm:t>
        <a:bodyPr/>
        <a:lstStyle/>
        <a:p>
          <a:endParaRPr lang="en-US"/>
        </a:p>
      </dgm:t>
    </dgm:pt>
    <dgm:pt modelId="{AD662B21-0522-C246-AACE-C8E97964028B}">
      <dgm:prSet phldrT="[Text]"/>
      <dgm:spPr/>
      <dgm:t>
        <a:bodyPr/>
        <a:lstStyle/>
        <a:p>
          <a:r>
            <a:rPr lang="en-US" b="1" dirty="0"/>
            <a:t>Keyword Filtering: </a:t>
          </a:r>
        </a:p>
        <a:p>
          <a:r>
            <a:rPr lang="en-US" b="0" dirty="0"/>
            <a:t>To isolate relevant cases, we filtered this collection to only include that contained the specific legal term “technology undertaking” (152 decisions)</a:t>
          </a:r>
        </a:p>
      </dgm:t>
    </dgm:pt>
    <dgm:pt modelId="{1B0B0E27-038C-6C41-844B-EFBB03A245EC}" type="parTrans" cxnId="{7F9B3F3C-9B1B-3146-8415-11CE1A68F6F9}">
      <dgm:prSet/>
      <dgm:spPr/>
      <dgm:t>
        <a:bodyPr/>
        <a:lstStyle/>
        <a:p>
          <a:endParaRPr lang="en-US"/>
        </a:p>
      </dgm:t>
    </dgm:pt>
    <dgm:pt modelId="{AE14A859-3E01-A34E-8111-6A501B1A210A}" type="sibTrans" cxnId="{7F9B3F3C-9B1B-3146-8415-11CE1A68F6F9}">
      <dgm:prSet/>
      <dgm:spPr/>
      <dgm:t>
        <a:bodyPr/>
        <a:lstStyle/>
        <a:p>
          <a:endParaRPr lang="en-US"/>
        </a:p>
      </dgm:t>
    </dgm:pt>
    <dgm:pt modelId="{5E51CED4-FB3D-194F-99E3-0A3536E6551D}">
      <dgm:prSet phldrT="[Text]"/>
      <dgm:spPr/>
      <dgm:t>
        <a:bodyPr/>
        <a:lstStyle/>
        <a:p>
          <a:r>
            <a:rPr lang="en-US" b="1" dirty="0"/>
            <a:t>Content Extraction:</a:t>
          </a:r>
        </a:p>
        <a:p>
          <a:r>
            <a:rPr lang="en-US" b="0" dirty="0"/>
            <a:t>From these 152 decisions, we extracted only the core analytical section known as the “Examination and Evaluation” section.</a:t>
          </a:r>
        </a:p>
      </dgm:t>
    </dgm:pt>
    <dgm:pt modelId="{B0A9DA64-C13F-8C46-9E91-4225FF2677F9}" type="parTrans" cxnId="{DCD76C1B-FD35-4843-8419-7E3DFFF15971}">
      <dgm:prSet/>
      <dgm:spPr/>
      <dgm:t>
        <a:bodyPr/>
        <a:lstStyle/>
        <a:p>
          <a:endParaRPr lang="en-US"/>
        </a:p>
      </dgm:t>
    </dgm:pt>
    <dgm:pt modelId="{17C1777B-805C-5544-A288-A4FD2415FE30}" type="sibTrans" cxnId="{DCD76C1B-FD35-4843-8419-7E3DFFF15971}">
      <dgm:prSet/>
      <dgm:spPr/>
      <dgm:t>
        <a:bodyPr/>
        <a:lstStyle/>
        <a:p>
          <a:endParaRPr lang="en-US"/>
        </a:p>
      </dgm:t>
    </dgm:pt>
    <dgm:pt modelId="{A42EEDA3-4E0F-C344-BED8-DA857FE59B47}" type="pres">
      <dgm:prSet presAssocID="{D9B6ED3B-7298-CB44-8407-70A53819E640}" presName="Name0" presStyleCnt="0">
        <dgm:presLayoutVars>
          <dgm:dir/>
          <dgm:resizeHandles val="exact"/>
        </dgm:presLayoutVars>
      </dgm:prSet>
      <dgm:spPr/>
    </dgm:pt>
    <dgm:pt modelId="{3090F73D-97C5-0B46-8813-7E4DF9634E05}" type="pres">
      <dgm:prSet presAssocID="{91F2D7F7-6BAA-1047-B136-4F062134DAD0}" presName="node" presStyleLbl="node1" presStyleIdx="0" presStyleCnt="3">
        <dgm:presLayoutVars>
          <dgm:bulletEnabled val="1"/>
        </dgm:presLayoutVars>
      </dgm:prSet>
      <dgm:spPr/>
    </dgm:pt>
    <dgm:pt modelId="{8651280B-6502-844F-9A15-108A0A9BC69E}" type="pres">
      <dgm:prSet presAssocID="{01974A57-BD96-9D45-BD98-B4E38D064735}" presName="sibTrans" presStyleLbl="sibTrans2D1" presStyleIdx="0" presStyleCnt="2"/>
      <dgm:spPr/>
    </dgm:pt>
    <dgm:pt modelId="{FD497F3E-5A1B-A546-B316-2B0394ADB425}" type="pres">
      <dgm:prSet presAssocID="{01974A57-BD96-9D45-BD98-B4E38D064735}" presName="connectorText" presStyleLbl="sibTrans2D1" presStyleIdx="0" presStyleCnt="2"/>
      <dgm:spPr/>
    </dgm:pt>
    <dgm:pt modelId="{C55A7417-DB87-F74D-A82D-397DB91698DA}" type="pres">
      <dgm:prSet presAssocID="{AD662B21-0522-C246-AACE-C8E97964028B}" presName="node" presStyleLbl="node1" presStyleIdx="1" presStyleCnt="3" custScaleX="116563">
        <dgm:presLayoutVars>
          <dgm:bulletEnabled val="1"/>
        </dgm:presLayoutVars>
      </dgm:prSet>
      <dgm:spPr/>
    </dgm:pt>
    <dgm:pt modelId="{DB6321B4-BA29-C949-86C8-9DE85B47289B}" type="pres">
      <dgm:prSet presAssocID="{AE14A859-3E01-A34E-8111-6A501B1A210A}" presName="sibTrans" presStyleLbl="sibTrans2D1" presStyleIdx="1" presStyleCnt="2"/>
      <dgm:spPr/>
    </dgm:pt>
    <dgm:pt modelId="{AA5F1A76-0363-7540-A869-ABBA8112A82C}" type="pres">
      <dgm:prSet presAssocID="{AE14A859-3E01-A34E-8111-6A501B1A210A}" presName="connectorText" presStyleLbl="sibTrans2D1" presStyleIdx="1" presStyleCnt="2"/>
      <dgm:spPr/>
    </dgm:pt>
    <dgm:pt modelId="{C0536F9C-6EDD-754D-A735-AD257ED1E9DB}" type="pres">
      <dgm:prSet presAssocID="{5E51CED4-FB3D-194F-99E3-0A3536E6551D}" presName="node" presStyleLbl="node1" presStyleIdx="2" presStyleCnt="3">
        <dgm:presLayoutVars>
          <dgm:bulletEnabled val="1"/>
        </dgm:presLayoutVars>
      </dgm:prSet>
      <dgm:spPr/>
    </dgm:pt>
  </dgm:ptLst>
  <dgm:cxnLst>
    <dgm:cxn modelId="{6F7DCE12-321F-614F-9A88-0974CBAC411D}" srcId="{D9B6ED3B-7298-CB44-8407-70A53819E640}" destId="{91F2D7F7-6BAA-1047-B136-4F062134DAD0}" srcOrd="0" destOrd="0" parTransId="{3D3B554F-C1B5-AF45-ACF0-F4A0177DC904}" sibTransId="{01974A57-BD96-9D45-BD98-B4E38D064735}"/>
    <dgm:cxn modelId="{DCD76C1B-FD35-4843-8419-7E3DFFF15971}" srcId="{D9B6ED3B-7298-CB44-8407-70A53819E640}" destId="{5E51CED4-FB3D-194F-99E3-0A3536E6551D}" srcOrd="2" destOrd="0" parTransId="{B0A9DA64-C13F-8C46-9E91-4225FF2677F9}" sibTransId="{17C1777B-805C-5544-A288-A4FD2415FE30}"/>
    <dgm:cxn modelId="{7F9B3F3C-9B1B-3146-8415-11CE1A68F6F9}" srcId="{D9B6ED3B-7298-CB44-8407-70A53819E640}" destId="{AD662B21-0522-C246-AACE-C8E97964028B}" srcOrd="1" destOrd="0" parTransId="{1B0B0E27-038C-6C41-844B-EFBB03A245EC}" sibTransId="{AE14A859-3E01-A34E-8111-6A501B1A210A}"/>
    <dgm:cxn modelId="{9D3B8144-4A6F-9D40-B21C-FED9D0FBE0F2}" type="presOf" srcId="{D9B6ED3B-7298-CB44-8407-70A53819E640}" destId="{A42EEDA3-4E0F-C344-BED8-DA857FE59B47}" srcOrd="0" destOrd="0" presId="urn:microsoft.com/office/officeart/2005/8/layout/process1"/>
    <dgm:cxn modelId="{E0D17758-6AC4-D843-8913-AC1903C66A24}" type="presOf" srcId="{AE14A859-3E01-A34E-8111-6A501B1A210A}" destId="{DB6321B4-BA29-C949-86C8-9DE85B47289B}" srcOrd="0" destOrd="0" presId="urn:microsoft.com/office/officeart/2005/8/layout/process1"/>
    <dgm:cxn modelId="{A710795A-4B77-D645-A118-E43A6FB45705}" type="presOf" srcId="{01974A57-BD96-9D45-BD98-B4E38D064735}" destId="{FD497F3E-5A1B-A546-B316-2B0394ADB425}" srcOrd="1" destOrd="0" presId="urn:microsoft.com/office/officeart/2005/8/layout/process1"/>
    <dgm:cxn modelId="{C6EA7B5D-0617-7749-A2CF-035EE390D94D}" type="presOf" srcId="{AE14A859-3E01-A34E-8111-6A501B1A210A}" destId="{AA5F1A76-0363-7540-A869-ABBA8112A82C}" srcOrd="1" destOrd="0" presId="urn:microsoft.com/office/officeart/2005/8/layout/process1"/>
    <dgm:cxn modelId="{1B7E8F60-1F99-1C4E-B464-E17069DD95EB}" type="presOf" srcId="{5E51CED4-FB3D-194F-99E3-0A3536E6551D}" destId="{C0536F9C-6EDD-754D-A735-AD257ED1E9DB}" srcOrd="0" destOrd="0" presId="urn:microsoft.com/office/officeart/2005/8/layout/process1"/>
    <dgm:cxn modelId="{08E9BE64-CBFA-1642-959D-E909E0A8F382}" type="presOf" srcId="{01974A57-BD96-9D45-BD98-B4E38D064735}" destId="{8651280B-6502-844F-9A15-108A0A9BC69E}" srcOrd="0" destOrd="0" presId="urn:microsoft.com/office/officeart/2005/8/layout/process1"/>
    <dgm:cxn modelId="{72FBB891-B921-514E-B41E-538B358A903A}" type="presOf" srcId="{91F2D7F7-6BAA-1047-B136-4F062134DAD0}" destId="{3090F73D-97C5-0B46-8813-7E4DF9634E05}" srcOrd="0" destOrd="0" presId="urn:microsoft.com/office/officeart/2005/8/layout/process1"/>
    <dgm:cxn modelId="{EE4DFBFB-3598-1C4E-B39C-0A1C79B6A943}" type="presOf" srcId="{AD662B21-0522-C246-AACE-C8E97964028B}" destId="{C55A7417-DB87-F74D-A82D-397DB91698DA}" srcOrd="0" destOrd="0" presId="urn:microsoft.com/office/officeart/2005/8/layout/process1"/>
    <dgm:cxn modelId="{BA00F098-9E88-DC4B-8A24-B3E357F7756B}" type="presParOf" srcId="{A42EEDA3-4E0F-C344-BED8-DA857FE59B47}" destId="{3090F73D-97C5-0B46-8813-7E4DF9634E05}" srcOrd="0" destOrd="0" presId="urn:microsoft.com/office/officeart/2005/8/layout/process1"/>
    <dgm:cxn modelId="{8A557BE8-0FDE-F347-8751-4F513EBE6E2F}" type="presParOf" srcId="{A42EEDA3-4E0F-C344-BED8-DA857FE59B47}" destId="{8651280B-6502-844F-9A15-108A0A9BC69E}" srcOrd="1" destOrd="0" presId="urn:microsoft.com/office/officeart/2005/8/layout/process1"/>
    <dgm:cxn modelId="{D01A3F9E-3B6F-A841-A612-FC2F3698638D}" type="presParOf" srcId="{8651280B-6502-844F-9A15-108A0A9BC69E}" destId="{FD497F3E-5A1B-A546-B316-2B0394ADB425}" srcOrd="0" destOrd="0" presId="urn:microsoft.com/office/officeart/2005/8/layout/process1"/>
    <dgm:cxn modelId="{9F2E8B56-DE71-4045-BA72-612C061393B9}" type="presParOf" srcId="{A42EEDA3-4E0F-C344-BED8-DA857FE59B47}" destId="{C55A7417-DB87-F74D-A82D-397DB91698DA}" srcOrd="2" destOrd="0" presId="urn:microsoft.com/office/officeart/2005/8/layout/process1"/>
    <dgm:cxn modelId="{EE5C26AA-8FB8-8548-84CB-63F349F4A710}" type="presParOf" srcId="{A42EEDA3-4E0F-C344-BED8-DA857FE59B47}" destId="{DB6321B4-BA29-C949-86C8-9DE85B47289B}" srcOrd="3" destOrd="0" presId="urn:microsoft.com/office/officeart/2005/8/layout/process1"/>
    <dgm:cxn modelId="{BF18101D-CDE1-FB42-BD06-F5680D73377D}" type="presParOf" srcId="{DB6321B4-BA29-C949-86C8-9DE85B47289B}" destId="{AA5F1A76-0363-7540-A869-ABBA8112A82C}" srcOrd="0" destOrd="0" presId="urn:microsoft.com/office/officeart/2005/8/layout/process1"/>
    <dgm:cxn modelId="{9BFED679-8876-D147-A979-7CCDF6D3BB63}" type="presParOf" srcId="{A42EEDA3-4E0F-C344-BED8-DA857FE59B47}" destId="{C0536F9C-6EDD-754D-A735-AD257ED1E9DB}" srcOrd="4"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55D5206-9A90-BB42-B365-27A2D65FB8A8}"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US"/>
        </a:p>
      </dgm:t>
    </dgm:pt>
    <dgm:pt modelId="{B9AD38CD-F66C-0243-83A0-C208DC3ACF7E}">
      <dgm:prSet phldrT="[Text]"/>
      <dgm:spPr/>
      <dgm:t>
        <a:bodyPr/>
        <a:lstStyle/>
        <a:p>
          <a:r>
            <a:rPr lang="en-US" dirty="0"/>
            <a:t>Core Experimental Design</a:t>
          </a:r>
        </a:p>
      </dgm:t>
    </dgm:pt>
    <dgm:pt modelId="{6008CE26-0622-934D-A9E8-87B8B2742FEA}" type="parTrans" cxnId="{D2DAFF49-18F8-7F4F-B98F-D2BBDB38F3C6}">
      <dgm:prSet/>
      <dgm:spPr/>
      <dgm:t>
        <a:bodyPr/>
        <a:lstStyle/>
        <a:p>
          <a:endParaRPr lang="en-US"/>
        </a:p>
      </dgm:t>
    </dgm:pt>
    <dgm:pt modelId="{D92D9039-F59F-184F-9F1B-72E1E92B60C1}" type="sibTrans" cxnId="{D2DAFF49-18F8-7F4F-B98F-D2BBDB38F3C6}">
      <dgm:prSet/>
      <dgm:spPr/>
      <dgm:t>
        <a:bodyPr/>
        <a:lstStyle/>
        <a:p>
          <a:endParaRPr lang="en-US"/>
        </a:p>
      </dgm:t>
    </dgm:pt>
    <dgm:pt modelId="{25D59B68-4BD9-C64F-9AC7-D50DAB7D41F1}">
      <dgm:prSet phldrT="[Text]"/>
      <dgm:spPr/>
      <dgm:t>
        <a:bodyPr/>
        <a:lstStyle/>
        <a:p>
          <a:pPr>
            <a:buFont typeface="Arial" panose="020B0604020202020204" pitchFamily="34" charset="0"/>
            <a:buChar char="•"/>
          </a:pPr>
          <a:r>
            <a:rPr lang="en-US" b="1" i="0" dirty="0"/>
            <a:t>Base Model:</a:t>
          </a:r>
          <a:r>
            <a:rPr lang="en-US" b="0" i="0" dirty="0"/>
            <a:t> </a:t>
          </a:r>
          <a:r>
            <a:rPr lang="en-US" b="0" i="0" dirty="0" err="1"/>
            <a:t>dbmdz</a:t>
          </a:r>
          <a:r>
            <a:rPr lang="en-US" b="0" i="0" dirty="0"/>
            <a:t>/</a:t>
          </a:r>
          <a:r>
            <a:rPr lang="en-US" b="0" i="0" dirty="0" err="1"/>
            <a:t>bert</a:t>
          </a:r>
          <a:r>
            <a:rPr lang="en-US" b="0" i="0" dirty="0"/>
            <a:t>-base-</a:t>
          </a:r>
          <a:r>
            <a:rPr lang="en-US" b="0" i="0" dirty="0" err="1"/>
            <a:t>turkish</a:t>
          </a:r>
          <a:r>
            <a:rPr lang="en-US" b="0" i="0" dirty="0"/>
            <a:t>-cased (BERT-base architecture).</a:t>
          </a:r>
          <a:endParaRPr lang="en-US" dirty="0"/>
        </a:p>
      </dgm:t>
    </dgm:pt>
    <dgm:pt modelId="{3C8D23EB-C9A6-EC42-A1CC-FF6A526613E9}" type="parTrans" cxnId="{98F1C801-538D-7645-9B69-723F31C0B6CE}">
      <dgm:prSet/>
      <dgm:spPr/>
      <dgm:t>
        <a:bodyPr/>
        <a:lstStyle/>
        <a:p>
          <a:endParaRPr lang="en-US"/>
        </a:p>
      </dgm:t>
    </dgm:pt>
    <dgm:pt modelId="{260F4990-178E-8B49-9EC6-948C88E10A6F}" type="sibTrans" cxnId="{98F1C801-538D-7645-9B69-723F31C0B6CE}">
      <dgm:prSet/>
      <dgm:spPr/>
      <dgm:t>
        <a:bodyPr/>
        <a:lstStyle/>
        <a:p>
          <a:endParaRPr lang="en-US"/>
        </a:p>
      </dgm:t>
    </dgm:pt>
    <dgm:pt modelId="{FB403FE0-9EA9-374A-862E-1B334E25FE22}">
      <dgm:prSet phldrT="[Text]"/>
      <dgm:spPr/>
      <dgm:t>
        <a:bodyPr/>
        <a:lstStyle/>
        <a:p>
          <a:r>
            <a:rPr lang="en-US" dirty="0"/>
            <a:t>Fine-Tuning &amp; Validation</a:t>
          </a:r>
        </a:p>
      </dgm:t>
    </dgm:pt>
    <dgm:pt modelId="{A405654D-3F93-3745-A2EB-73CC298E267F}" type="parTrans" cxnId="{C25F75C3-5E13-FE49-83EF-F789D4795F37}">
      <dgm:prSet/>
      <dgm:spPr/>
      <dgm:t>
        <a:bodyPr/>
        <a:lstStyle/>
        <a:p>
          <a:endParaRPr lang="en-US"/>
        </a:p>
      </dgm:t>
    </dgm:pt>
    <dgm:pt modelId="{5D684CC3-4F23-BD43-90C6-1715D3FBE30E}" type="sibTrans" cxnId="{C25F75C3-5E13-FE49-83EF-F789D4795F37}">
      <dgm:prSet/>
      <dgm:spPr/>
      <dgm:t>
        <a:bodyPr/>
        <a:lstStyle/>
        <a:p>
          <a:endParaRPr lang="en-US"/>
        </a:p>
      </dgm:t>
    </dgm:pt>
    <dgm:pt modelId="{CE290BBA-77D0-274C-93B9-5241028E0A28}">
      <dgm:prSet/>
      <dgm:spPr/>
      <dgm:t>
        <a:bodyPr/>
        <a:lstStyle/>
        <a:p>
          <a:pPr>
            <a:buFont typeface="Arial" panose="020B0604020202020204" pitchFamily="34" charset="0"/>
            <a:buChar char="•"/>
          </a:pPr>
          <a:r>
            <a:rPr lang="en-US" b="1" i="0"/>
            <a:t>Task Formulation:</a:t>
          </a:r>
          <a:r>
            <a:rPr lang="en-US" b="0" i="0"/>
            <a:t> Extractive Question Answering (SQuAD format).</a:t>
          </a:r>
        </a:p>
      </dgm:t>
    </dgm:pt>
    <dgm:pt modelId="{383E5334-E710-664B-BD70-E3D2630800D6}" type="parTrans" cxnId="{C430A7EE-E00D-F248-86C7-25C7E48FC8DF}">
      <dgm:prSet/>
      <dgm:spPr/>
      <dgm:t>
        <a:bodyPr/>
        <a:lstStyle/>
        <a:p>
          <a:endParaRPr lang="en-US"/>
        </a:p>
      </dgm:t>
    </dgm:pt>
    <dgm:pt modelId="{1B1D09F2-58B3-A448-A012-44926A9013BF}" type="sibTrans" cxnId="{C430A7EE-E00D-F248-86C7-25C7E48FC8DF}">
      <dgm:prSet/>
      <dgm:spPr/>
      <dgm:t>
        <a:bodyPr/>
        <a:lstStyle/>
        <a:p>
          <a:endParaRPr lang="en-US"/>
        </a:p>
      </dgm:t>
    </dgm:pt>
    <dgm:pt modelId="{0C3A05C2-4F79-6744-ADF7-377520407A7D}">
      <dgm:prSet/>
      <dgm:spPr/>
      <dgm:t>
        <a:bodyPr/>
        <a:lstStyle/>
        <a:p>
          <a:pPr>
            <a:buFont typeface="Arial" panose="020B0604020202020204" pitchFamily="34" charset="0"/>
            <a:buChar char="•"/>
          </a:pPr>
          <a:r>
            <a:rPr lang="en-US" b="0" i="0" dirty="0"/>
            <a:t>The model predicts the start and end token indices of the answer span.</a:t>
          </a:r>
        </a:p>
      </dgm:t>
    </dgm:pt>
    <dgm:pt modelId="{26C3E6B1-1F99-374F-91FB-98EC222F7DD4}" type="parTrans" cxnId="{1E38A1DB-71B2-2B45-956C-AA132D67FE19}">
      <dgm:prSet/>
      <dgm:spPr/>
      <dgm:t>
        <a:bodyPr/>
        <a:lstStyle/>
        <a:p>
          <a:endParaRPr lang="en-US"/>
        </a:p>
      </dgm:t>
    </dgm:pt>
    <dgm:pt modelId="{1ABCBEB2-0A79-A340-9F4C-AB8A45AA7781}" type="sibTrans" cxnId="{1E38A1DB-71B2-2B45-956C-AA132D67FE19}">
      <dgm:prSet/>
      <dgm:spPr/>
      <dgm:t>
        <a:bodyPr/>
        <a:lstStyle/>
        <a:p>
          <a:endParaRPr lang="en-US"/>
        </a:p>
      </dgm:t>
    </dgm:pt>
    <dgm:pt modelId="{B0AC5723-CE54-DE49-989B-B49CD082A3DF}">
      <dgm:prSet/>
      <dgm:spPr/>
      <dgm:t>
        <a:bodyPr/>
        <a:lstStyle/>
        <a:p>
          <a:pPr>
            <a:buFont typeface="Arial" panose="020B0604020202020204" pitchFamily="34" charset="0"/>
            <a:buChar char="•"/>
          </a:pPr>
          <a:r>
            <a:rPr lang="en-US" b="1" i="0" dirty="0"/>
            <a:t>Framework:</a:t>
          </a:r>
          <a:r>
            <a:rPr lang="en-US" b="0" i="0" dirty="0"/>
            <a:t> </a:t>
          </a:r>
          <a:r>
            <a:rPr lang="en-US" b="0" i="0" dirty="0" err="1"/>
            <a:t>HuggingFace</a:t>
          </a:r>
          <a:r>
            <a:rPr lang="en-US" b="0" i="0" dirty="0"/>
            <a:t> transformers and datasets libraries.</a:t>
          </a:r>
        </a:p>
      </dgm:t>
    </dgm:pt>
    <dgm:pt modelId="{8D8E3FF7-4E0F-E944-AD70-98FD77A7C2A7}" type="parTrans" cxnId="{CC5571EE-1B34-9D4A-8456-B5114CB2AF41}">
      <dgm:prSet/>
      <dgm:spPr/>
      <dgm:t>
        <a:bodyPr/>
        <a:lstStyle/>
        <a:p>
          <a:endParaRPr lang="en-US"/>
        </a:p>
      </dgm:t>
    </dgm:pt>
    <dgm:pt modelId="{885AC0A4-3356-EC4A-9DF1-DC361F0F2FDA}" type="sibTrans" cxnId="{CC5571EE-1B34-9D4A-8456-B5114CB2AF41}">
      <dgm:prSet/>
      <dgm:spPr/>
      <dgm:t>
        <a:bodyPr/>
        <a:lstStyle/>
        <a:p>
          <a:endParaRPr lang="en-US"/>
        </a:p>
      </dgm:t>
    </dgm:pt>
    <dgm:pt modelId="{95A555CA-CF82-1E4C-829B-224DE0D7A32F}">
      <dgm:prSet phldrT="[Text]"/>
      <dgm:spPr/>
      <dgm:t>
        <a:bodyPr/>
        <a:lstStyle/>
        <a:p>
          <a:pPr>
            <a:buFont typeface="Arial" panose="020B0604020202020204" pitchFamily="34" charset="0"/>
            <a:buChar char="•"/>
          </a:pPr>
          <a:r>
            <a:rPr lang="en-US" b="1" i="0" dirty="0"/>
            <a:t>Hyperparameters (Optimized): </a:t>
          </a:r>
          <a:r>
            <a:rPr lang="en-US" b="0" i="1" dirty="0"/>
            <a:t>Learning Rate: </a:t>
          </a:r>
          <a:r>
            <a:rPr lang="en-US" b="0" i="0" dirty="0"/>
            <a:t>3e-5, </a:t>
          </a:r>
          <a:r>
            <a:rPr lang="en-US" b="0" i="1" dirty="0"/>
            <a:t>Batch Size</a:t>
          </a:r>
          <a:r>
            <a:rPr lang="en-US" b="0" i="0" dirty="0"/>
            <a:t>: 2, </a:t>
          </a:r>
          <a:r>
            <a:rPr lang="en-US" b="0" i="1" dirty="0"/>
            <a:t>Epochs</a:t>
          </a:r>
          <a:r>
            <a:rPr lang="en-US" b="0" i="0" dirty="0"/>
            <a:t>: 4,</a:t>
          </a:r>
          <a:r>
            <a:rPr lang="en-US" b="0" i="1" dirty="0"/>
            <a:t>Weight Decay</a:t>
          </a:r>
          <a:r>
            <a:rPr lang="en-US" b="0" i="0" dirty="0"/>
            <a:t>: 0.01</a:t>
          </a:r>
          <a:endParaRPr lang="en-US" dirty="0"/>
        </a:p>
      </dgm:t>
    </dgm:pt>
    <dgm:pt modelId="{3FC33178-1463-D547-A9FD-B24790696AD5}" type="parTrans" cxnId="{2FBC10DD-6CB0-CC4F-91A8-ECBBFA648D58}">
      <dgm:prSet/>
      <dgm:spPr/>
      <dgm:t>
        <a:bodyPr/>
        <a:lstStyle/>
        <a:p>
          <a:endParaRPr lang="en-US"/>
        </a:p>
      </dgm:t>
    </dgm:pt>
    <dgm:pt modelId="{BDC596D2-3284-2B43-A264-6C6A023EE484}" type="sibTrans" cxnId="{2FBC10DD-6CB0-CC4F-91A8-ECBBFA648D58}">
      <dgm:prSet/>
      <dgm:spPr/>
      <dgm:t>
        <a:bodyPr/>
        <a:lstStyle/>
        <a:p>
          <a:endParaRPr lang="en-US"/>
        </a:p>
      </dgm:t>
    </dgm:pt>
    <dgm:pt modelId="{8AFB95AD-308A-B140-AC0F-57E508A8D62F}">
      <dgm:prSet/>
      <dgm:spPr/>
      <dgm:t>
        <a:bodyPr/>
        <a:lstStyle/>
        <a:p>
          <a:pPr>
            <a:buFont typeface="Arial" panose="020B0604020202020204" pitchFamily="34" charset="0"/>
            <a:buChar char="•"/>
          </a:pPr>
          <a:r>
            <a:rPr lang="en-US" b="1" i="0" dirty="0"/>
            <a:t>Validation Strategy:</a:t>
          </a:r>
          <a:r>
            <a:rPr lang="en-US" b="0" i="0" dirty="0"/>
            <a:t> 5-Fold Cross-Validation</a:t>
          </a:r>
        </a:p>
      </dgm:t>
    </dgm:pt>
    <dgm:pt modelId="{C4DC5C72-5B8F-E84F-8D42-79FDE32082A1}" type="parTrans" cxnId="{B590DCE3-246B-5540-814D-A54B5BF2537D}">
      <dgm:prSet/>
      <dgm:spPr/>
      <dgm:t>
        <a:bodyPr/>
        <a:lstStyle/>
        <a:p>
          <a:endParaRPr lang="en-US"/>
        </a:p>
      </dgm:t>
    </dgm:pt>
    <dgm:pt modelId="{109FD41C-CD36-8F4D-8EFE-AEA83C0D5D2F}" type="sibTrans" cxnId="{B590DCE3-246B-5540-814D-A54B5BF2537D}">
      <dgm:prSet/>
      <dgm:spPr/>
      <dgm:t>
        <a:bodyPr/>
        <a:lstStyle/>
        <a:p>
          <a:endParaRPr lang="en-US"/>
        </a:p>
      </dgm:t>
    </dgm:pt>
    <dgm:pt modelId="{62A19CF7-A322-1D4F-816C-1CA91351F4AB}">
      <dgm:prSet/>
      <dgm:spPr/>
      <dgm:t>
        <a:bodyPr/>
        <a:lstStyle/>
        <a:p>
          <a:pPr>
            <a:buFont typeface="Arial" panose="020B0604020202020204" pitchFamily="34" charset="0"/>
            <a:buChar char="•"/>
          </a:pPr>
          <a:r>
            <a:rPr lang="en-US" b="0" i="0" dirty="0"/>
            <a:t>Ablation Study: Context Impact</a:t>
          </a:r>
        </a:p>
      </dgm:t>
    </dgm:pt>
    <dgm:pt modelId="{2C24F5B3-29BD-6249-BDDC-589F5EDC99CD}" type="parTrans" cxnId="{D86CF841-FD27-A945-AE9E-E2DAFE910C07}">
      <dgm:prSet/>
      <dgm:spPr/>
      <dgm:t>
        <a:bodyPr/>
        <a:lstStyle/>
        <a:p>
          <a:endParaRPr lang="en-US"/>
        </a:p>
      </dgm:t>
    </dgm:pt>
    <dgm:pt modelId="{DD8438A8-A2FB-C948-B3C8-4CBE18E2A32E}" type="sibTrans" cxnId="{D86CF841-FD27-A945-AE9E-E2DAFE910C07}">
      <dgm:prSet/>
      <dgm:spPr/>
      <dgm:t>
        <a:bodyPr/>
        <a:lstStyle/>
        <a:p>
          <a:endParaRPr lang="en-US"/>
        </a:p>
      </dgm:t>
    </dgm:pt>
    <dgm:pt modelId="{09AB3268-EF5B-B548-851C-EE9B98466407}">
      <dgm:prSet/>
      <dgm:spPr/>
      <dgm:t>
        <a:bodyPr/>
        <a:lstStyle/>
        <a:p>
          <a:pPr>
            <a:buFont typeface="Arial" panose="020B0604020202020204" pitchFamily="34" charset="0"/>
            <a:buChar char="•"/>
          </a:pPr>
          <a:r>
            <a:rPr lang="en-US" b="1" i="0"/>
            <a:t>Objective:</a:t>
          </a:r>
          <a:r>
            <a:rPr lang="en-US" b="0" i="0"/>
            <a:t> To quantify the performance bottleneck caused by high signal-to-noise ratio in legal texts.</a:t>
          </a:r>
          <a:endParaRPr lang="en-US" b="0" i="0" dirty="0"/>
        </a:p>
      </dgm:t>
    </dgm:pt>
    <dgm:pt modelId="{914ADE4F-B544-F648-B5FF-8C714F5D4B6C}" type="parTrans" cxnId="{E3078989-08CB-6947-81CD-0A3458379CBF}">
      <dgm:prSet/>
      <dgm:spPr/>
      <dgm:t>
        <a:bodyPr/>
        <a:lstStyle/>
        <a:p>
          <a:endParaRPr lang="en-US"/>
        </a:p>
      </dgm:t>
    </dgm:pt>
    <dgm:pt modelId="{B15D37EF-061C-3244-A440-9EB1AA3EEFF4}" type="sibTrans" cxnId="{E3078989-08CB-6947-81CD-0A3458379CBF}">
      <dgm:prSet/>
      <dgm:spPr/>
      <dgm:t>
        <a:bodyPr/>
        <a:lstStyle/>
        <a:p>
          <a:endParaRPr lang="en-US"/>
        </a:p>
      </dgm:t>
    </dgm:pt>
    <dgm:pt modelId="{70551849-854E-2441-ABAA-B0C32AFE9949}">
      <dgm:prSet/>
      <dgm:spPr/>
      <dgm:t>
        <a:bodyPr/>
        <a:lstStyle/>
        <a:p>
          <a:pPr>
            <a:buFont typeface="Arial" panose="020B0604020202020204" pitchFamily="34" charset="0"/>
            <a:buChar char="•"/>
          </a:pPr>
          <a:r>
            <a:rPr lang="en-US" b="1" i="0"/>
            <a:t>Method:</a:t>
          </a:r>
          <a:r>
            <a:rPr lang="en-US" b="0" i="0"/>
            <a:t> A "Truncated-Span Context" dataset was generated using a heuristic.</a:t>
          </a:r>
        </a:p>
      </dgm:t>
    </dgm:pt>
    <dgm:pt modelId="{74F9DA6F-C6D5-694E-9462-05FB96CC6976}" type="parTrans" cxnId="{738E8EA8-897C-EB44-816A-6D4BB0D18ED3}">
      <dgm:prSet/>
      <dgm:spPr/>
      <dgm:t>
        <a:bodyPr/>
        <a:lstStyle/>
        <a:p>
          <a:endParaRPr lang="en-US"/>
        </a:p>
      </dgm:t>
    </dgm:pt>
    <dgm:pt modelId="{A5575F0D-7D65-2A48-8969-C02AA7777540}" type="sibTrans" cxnId="{738E8EA8-897C-EB44-816A-6D4BB0D18ED3}">
      <dgm:prSet/>
      <dgm:spPr/>
      <dgm:t>
        <a:bodyPr/>
        <a:lstStyle/>
        <a:p>
          <a:endParaRPr lang="en-US"/>
        </a:p>
      </dgm:t>
    </dgm:pt>
    <dgm:pt modelId="{390CF97B-5863-7841-BDC9-E7B8F72653C2}">
      <dgm:prSet/>
      <dgm:spPr/>
      <dgm:t>
        <a:bodyPr/>
        <a:lstStyle/>
        <a:p>
          <a:pPr>
            <a:buFont typeface="Arial" panose="020B0604020202020204" pitchFamily="34" charset="0"/>
            <a:buChar char="•"/>
          </a:pPr>
          <a:r>
            <a:rPr lang="en-US" b="0" i="0" dirty="0"/>
            <a:t>For each document, context was programmatically reduced to the minimal substring spanning from the start of the earliest answer to the end of the latest answer.</a:t>
          </a:r>
        </a:p>
      </dgm:t>
    </dgm:pt>
    <dgm:pt modelId="{151B7976-C69C-504B-8CC4-5145C064856A}" type="parTrans" cxnId="{C36E5C23-71C2-2E45-A2C2-99CB97FD6113}">
      <dgm:prSet/>
      <dgm:spPr/>
      <dgm:t>
        <a:bodyPr/>
        <a:lstStyle/>
        <a:p>
          <a:endParaRPr lang="en-US"/>
        </a:p>
      </dgm:t>
    </dgm:pt>
    <dgm:pt modelId="{B787F1D2-4B0D-194B-B42E-3956A63B3BE6}" type="sibTrans" cxnId="{C36E5C23-71C2-2E45-A2C2-99CB97FD6113}">
      <dgm:prSet/>
      <dgm:spPr/>
      <dgm:t>
        <a:bodyPr/>
        <a:lstStyle/>
        <a:p>
          <a:endParaRPr lang="en-US"/>
        </a:p>
      </dgm:t>
    </dgm:pt>
    <dgm:pt modelId="{A7879B80-A357-E144-B0E7-0ACA3597A630}">
      <dgm:prSet/>
      <dgm:spPr/>
      <dgm:t>
        <a:bodyPr/>
        <a:lstStyle/>
        <a:p>
          <a:pPr>
            <a:buFont typeface="Arial" panose="020B0604020202020204" pitchFamily="34" charset="0"/>
            <a:buChar char="•"/>
          </a:pPr>
          <a:r>
            <a:rPr lang="en-US" b="0" i="0"/>
            <a:t>This isolates the impact of extraneous text on model accuracy.</a:t>
          </a:r>
        </a:p>
      </dgm:t>
    </dgm:pt>
    <dgm:pt modelId="{41A53041-8380-214D-883E-94946282278B}" type="parTrans" cxnId="{FE57C7EB-110B-1E4B-B31E-FFF346CDBCDD}">
      <dgm:prSet/>
      <dgm:spPr/>
      <dgm:t>
        <a:bodyPr/>
        <a:lstStyle/>
        <a:p>
          <a:endParaRPr lang="en-US"/>
        </a:p>
      </dgm:t>
    </dgm:pt>
    <dgm:pt modelId="{FDF960BE-C1DC-2E47-B3D8-83ADA416EE10}" type="sibTrans" cxnId="{FE57C7EB-110B-1E4B-B31E-FFF346CDBCDD}">
      <dgm:prSet/>
      <dgm:spPr/>
      <dgm:t>
        <a:bodyPr/>
        <a:lstStyle/>
        <a:p>
          <a:endParaRPr lang="en-US"/>
        </a:p>
      </dgm:t>
    </dgm:pt>
    <dgm:pt modelId="{B4A255E6-8CBE-4C47-A59D-5DF9E05EDE7F}" type="pres">
      <dgm:prSet presAssocID="{A55D5206-9A90-BB42-B365-27A2D65FB8A8}" presName="linear" presStyleCnt="0">
        <dgm:presLayoutVars>
          <dgm:dir/>
          <dgm:animLvl val="lvl"/>
          <dgm:resizeHandles val="exact"/>
        </dgm:presLayoutVars>
      </dgm:prSet>
      <dgm:spPr/>
    </dgm:pt>
    <dgm:pt modelId="{82D4E997-B64F-E842-A9A4-1746E9209E66}" type="pres">
      <dgm:prSet presAssocID="{B9AD38CD-F66C-0243-83A0-C208DC3ACF7E}" presName="parentLin" presStyleCnt="0"/>
      <dgm:spPr/>
    </dgm:pt>
    <dgm:pt modelId="{42DE39A6-C45E-8C4C-886A-553ADE0F0731}" type="pres">
      <dgm:prSet presAssocID="{B9AD38CD-F66C-0243-83A0-C208DC3ACF7E}" presName="parentLeftMargin" presStyleLbl="node1" presStyleIdx="0" presStyleCnt="3"/>
      <dgm:spPr/>
    </dgm:pt>
    <dgm:pt modelId="{F5964186-C30A-4A48-B7FD-8F7E335C56FE}" type="pres">
      <dgm:prSet presAssocID="{B9AD38CD-F66C-0243-83A0-C208DC3ACF7E}" presName="parentText" presStyleLbl="node1" presStyleIdx="0" presStyleCnt="3">
        <dgm:presLayoutVars>
          <dgm:chMax val="0"/>
          <dgm:bulletEnabled val="1"/>
        </dgm:presLayoutVars>
      </dgm:prSet>
      <dgm:spPr/>
    </dgm:pt>
    <dgm:pt modelId="{B4BD80FA-53D3-094A-8885-653074FB0983}" type="pres">
      <dgm:prSet presAssocID="{B9AD38CD-F66C-0243-83A0-C208DC3ACF7E}" presName="negativeSpace" presStyleCnt="0"/>
      <dgm:spPr/>
    </dgm:pt>
    <dgm:pt modelId="{D2968C77-E854-0D44-AC2D-C710FD37E50D}" type="pres">
      <dgm:prSet presAssocID="{B9AD38CD-F66C-0243-83A0-C208DC3ACF7E}" presName="childText" presStyleLbl="conFgAcc1" presStyleIdx="0" presStyleCnt="3">
        <dgm:presLayoutVars>
          <dgm:bulletEnabled val="1"/>
        </dgm:presLayoutVars>
      </dgm:prSet>
      <dgm:spPr/>
    </dgm:pt>
    <dgm:pt modelId="{EEA0B00A-FD4E-B74C-AE7F-66E4EF5B6D22}" type="pres">
      <dgm:prSet presAssocID="{D92D9039-F59F-184F-9F1B-72E1E92B60C1}" presName="spaceBetweenRectangles" presStyleCnt="0"/>
      <dgm:spPr/>
    </dgm:pt>
    <dgm:pt modelId="{61D73397-A1B8-6A46-883A-7C3A134F5479}" type="pres">
      <dgm:prSet presAssocID="{FB403FE0-9EA9-374A-862E-1B334E25FE22}" presName="parentLin" presStyleCnt="0"/>
      <dgm:spPr/>
    </dgm:pt>
    <dgm:pt modelId="{1A807F18-F9D0-1445-AA59-8066FC784D90}" type="pres">
      <dgm:prSet presAssocID="{FB403FE0-9EA9-374A-862E-1B334E25FE22}" presName="parentLeftMargin" presStyleLbl="node1" presStyleIdx="0" presStyleCnt="3"/>
      <dgm:spPr/>
    </dgm:pt>
    <dgm:pt modelId="{67FA5825-139A-364D-8876-CBF6337FD0A8}" type="pres">
      <dgm:prSet presAssocID="{FB403FE0-9EA9-374A-862E-1B334E25FE22}" presName="parentText" presStyleLbl="node1" presStyleIdx="1" presStyleCnt="3">
        <dgm:presLayoutVars>
          <dgm:chMax val="0"/>
          <dgm:bulletEnabled val="1"/>
        </dgm:presLayoutVars>
      </dgm:prSet>
      <dgm:spPr/>
    </dgm:pt>
    <dgm:pt modelId="{613C093B-C3FB-2B4A-88DE-5D98B866AF7B}" type="pres">
      <dgm:prSet presAssocID="{FB403FE0-9EA9-374A-862E-1B334E25FE22}" presName="negativeSpace" presStyleCnt="0"/>
      <dgm:spPr/>
    </dgm:pt>
    <dgm:pt modelId="{FC90DECC-913D-0E47-A916-4FB8B5D76822}" type="pres">
      <dgm:prSet presAssocID="{FB403FE0-9EA9-374A-862E-1B334E25FE22}" presName="childText" presStyleLbl="conFgAcc1" presStyleIdx="1" presStyleCnt="3">
        <dgm:presLayoutVars>
          <dgm:bulletEnabled val="1"/>
        </dgm:presLayoutVars>
      </dgm:prSet>
      <dgm:spPr/>
    </dgm:pt>
    <dgm:pt modelId="{C36025D0-29A0-7A42-ACBE-C96216A53624}" type="pres">
      <dgm:prSet presAssocID="{5D684CC3-4F23-BD43-90C6-1715D3FBE30E}" presName="spaceBetweenRectangles" presStyleCnt="0"/>
      <dgm:spPr/>
    </dgm:pt>
    <dgm:pt modelId="{15EBF804-1714-2F43-A017-F26B2382C0F3}" type="pres">
      <dgm:prSet presAssocID="{62A19CF7-A322-1D4F-816C-1CA91351F4AB}" presName="parentLin" presStyleCnt="0"/>
      <dgm:spPr/>
    </dgm:pt>
    <dgm:pt modelId="{87BDA8BE-7EE1-D647-B063-A947F0C5D65A}" type="pres">
      <dgm:prSet presAssocID="{62A19CF7-A322-1D4F-816C-1CA91351F4AB}" presName="parentLeftMargin" presStyleLbl="node1" presStyleIdx="1" presStyleCnt="3"/>
      <dgm:spPr/>
    </dgm:pt>
    <dgm:pt modelId="{680D7EF4-297E-CF4C-8CFE-55EF367C3787}" type="pres">
      <dgm:prSet presAssocID="{62A19CF7-A322-1D4F-816C-1CA91351F4AB}" presName="parentText" presStyleLbl="node1" presStyleIdx="2" presStyleCnt="3">
        <dgm:presLayoutVars>
          <dgm:chMax val="0"/>
          <dgm:bulletEnabled val="1"/>
        </dgm:presLayoutVars>
      </dgm:prSet>
      <dgm:spPr/>
    </dgm:pt>
    <dgm:pt modelId="{F8EF18F1-99C6-2541-99F1-BA5DF37F8AE3}" type="pres">
      <dgm:prSet presAssocID="{62A19CF7-A322-1D4F-816C-1CA91351F4AB}" presName="negativeSpace" presStyleCnt="0"/>
      <dgm:spPr/>
    </dgm:pt>
    <dgm:pt modelId="{A50FEF31-4B2E-C24E-9D03-DE0BAB87AA78}" type="pres">
      <dgm:prSet presAssocID="{62A19CF7-A322-1D4F-816C-1CA91351F4AB}" presName="childText" presStyleLbl="conFgAcc1" presStyleIdx="2" presStyleCnt="3">
        <dgm:presLayoutVars>
          <dgm:bulletEnabled val="1"/>
        </dgm:presLayoutVars>
      </dgm:prSet>
      <dgm:spPr/>
    </dgm:pt>
  </dgm:ptLst>
  <dgm:cxnLst>
    <dgm:cxn modelId="{98F1C801-538D-7645-9B69-723F31C0B6CE}" srcId="{B9AD38CD-F66C-0243-83A0-C208DC3ACF7E}" destId="{25D59B68-4BD9-C64F-9AC7-D50DAB7D41F1}" srcOrd="0" destOrd="0" parTransId="{3C8D23EB-C9A6-EC42-A1CC-FF6A526613E9}" sibTransId="{260F4990-178E-8B49-9EC6-948C88E10A6F}"/>
    <dgm:cxn modelId="{022EF002-29AB-214B-8867-0855211A2A83}" type="presOf" srcId="{25D59B68-4BD9-C64F-9AC7-D50DAB7D41F1}" destId="{D2968C77-E854-0D44-AC2D-C710FD37E50D}" srcOrd="0" destOrd="0" presId="urn:microsoft.com/office/officeart/2005/8/layout/list1"/>
    <dgm:cxn modelId="{C36E5C23-71C2-2E45-A2C2-99CB97FD6113}" srcId="{70551849-854E-2441-ABAA-B0C32AFE9949}" destId="{390CF97B-5863-7841-BDC9-E7B8F72653C2}" srcOrd="0" destOrd="0" parTransId="{151B7976-C69C-504B-8CC4-5145C064856A}" sibTransId="{B787F1D2-4B0D-194B-B42E-3956A63B3BE6}"/>
    <dgm:cxn modelId="{BDF89C29-DBEE-E848-AA07-D2D7C63CD284}" type="presOf" srcId="{B9AD38CD-F66C-0243-83A0-C208DC3ACF7E}" destId="{F5964186-C30A-4A48-B7FD-8F7E335C56FE}" srcOrd="1" destOrd="0" presId="urn:microsoft.com/office/officeart/2005/8/layout/list1"/>
    <dgm:cxn modelId="{4EA0DD30-4D97-A049-BE0C-35B4A69B1AD3}" type="presOf" srcId="{09AB3268-EF5B-B548-851C-EE9B98466407}" destId="{A50FEF31-4B2E-C24E-9D03-DE0BAB87AA78}" srcOrd="0" destOrd="0" presId="urn:microsoft.com/office/officeart/2005/8/layout/list1"/>
    <dgm:cxn modelId="{D86CF841-FD27-A945-AE9E-E2DAFE910C07}" srcId="{A55D5206-9A90-BB42-B365-27A2D65FB8A8}" destId="{62A19CF7-A322-1D4F-816C-1CA91351F4AB}" srcOrd="2" destOrd="0" parTransId="{2C24F5B3-29BD-6249-BDDC-589F5EDC99CD}" sibTransId="{DD8438A8-A2FB-C948-B3C8-4CBE18E2A32E}"/>
    <dgm:cxn modelId="{D2DAFF49-18F8-7F4F-B98F-D2BBDB38F3C6}" srcId="{A55D5206-9A90-BB42-B365-27A2D65FB8A8}" destId="{B9AD38CD-F66C-0243-83A0-C208DC3ACF7E}" srcOrd="0" destOrd="0" parTransId="{6008CE26-0622-934D-A9E8-87B8B2742FEA}" sibTransId="{D92D9039-F59F-184F-9F1B-72E1E92B60C1}"/>
    <dgm:cxn modelId="{94B2DB51-3F1A-494B-8973-7B6971C3A210}" type="presOf" srcId="{62A19CF7-A322-1D4F-816C-1CA91351F4AB}" destId="{87BDA8BE-7EE1-D647-B063-A947F0C5D65A}" srcOrd="0" destOrd="0" presId="urn:microsoft.com/office/officeart/2005/8/layout/list1"/>
    <dgm:cxn modelId="{FCEC8A52-F784-8248-BAE8-00C0BFAF1314}" type="presOf" srcId="{B0AC5723-CE54-DE49-989B-B49CD082A3DF}" destId="{D2968C77-E854-0D44-AC2D-C710FD37E50D}" srcOrd="0" destOrd="3" presId="urn:microsoft.com/office/officeart/2005/8/layout/list1"/>
    <dgm:cxn modelId="{45C2F959-4603-054A-ABB1-7F9D0514ED65}" type="presOf" srcId="{62A19CF7-A322-1D4F-816C-1CA91351F4AB}" destId="{680D7EF4-297E-CF4C-8CFE-55EF367C3787}" srcOrd="1" destOrd="0" presId="urn:microsoft.com/office/officeart/2005/8/layout/list1"/>
    <dgm:cxn modelId="{43729F5D-EF53-4F4C-9F3A-58361157F503}" type="presOf" srcId="{95A555CA-CF82-1E4C-829B-224DE0D7A32F}" destId="{FC90DECC-913D-0E47-A916-4FB8B5D76822}" srcOrd="0" destOrd="0" presId="urn:microsoft.com/office/officeart/2005/8/layout/list1"/>
    <dgm:cxn modelId="{BB929663-3438-0347-86E2-3F8A76DB4E8B}" type="presOf" srcId="{8AFB95AD-308A-B140-AC0F-57E508A8D62F}" destId="{FC90DECC-913D-0E47-A916-4FB8B5D76822}" srcOrd="0" destOrd="1" presId="urn:microsoft.com/office/officeart/2005/8/layout/list1"/>
    <dgm:cxn modelId="{E3078989-08CB-6947-81CD-0A3458379CBF}" srcId="{62A19CF7-A322-1D4F-816C-1CA91351F4AB}" destId="{09AB3268-EF5B-B548-851C-EE9B98466407}" srcOrd="0" destOrd="0" parTransId="{914ADE4F-B544-F648-B5FF-8C714F5D4B6C}" sibTransId="{B15D37EF-061C-3244-A440-9EB1AA3EEFF4}"/>
    <dgm:cxn modelId="{2A04C98E-13CF-8849-B2F7-C429564B2497}" type="presOf" srcId="{FB403FE0-9EA9-374A-862E-1B334E25FE22}" destId="{1A807F18-F9D0-1445-AA59-8066FC784D90}" srcOrd="0" destOrd="0" presId="urn:microsoft.com/office/officeart/2005/8/layout/list1"/>
    <dgm:cxn modelId="{113C789F-4AF4-FE4A-81D6-0D46E908AC31}" type="presOf" srcId="{A55D5206-9A90-BB42-B365-27A2D65FB8A8}" destId="{B4A255E6-8CBE-4C47-A59D-5DF9E05EDE7F}" srcOrd="0" destOrd="0" presId="urn:microsoft.com/office/officeart/2005/8/layout/list1"/>
    <dgm:cxn modelId="{738E8EA8-897C-EB44-816A-6D4BB0D18ED3}" srcId="{62A19CF7-A322-1D4F-816C-1CA91351F4AB}" destId="{70551849-854E-2441-ABAA-B0C32AFE9949}" srcOrd="1" destOrd="0" parTransId="{74F9DA6F-C6D5-694E-9462-05FB96CC6976}" sibTransId="{A5575F0D-7D65-2A48-8969-C02AA7777540}"/>
    <dgm:cxn modelId="{32C87AB0-93D1-7845-BA5B-57707EFEE993}" type="presOf" srcId="{CE290BBA-77D0-274C-93B9-5241028E0A28}" destId="{D2968C77-E854-0D44-AC2D-C710FD37E50D}" srcOrd="0" destOrd="1" presId="urn:microsoft.com/office/officeart/2005/8/layout/list1"/>
    <dgm:cxn modelId="{D7C53DBC-BC68-BC4C-9C2B-F8EC3656B282}" type="presOf" srcId="{70551849-854E-2441-ABAA-B0C32AFE9949}" destId="{A50FEF31-4B2E-C24E-9D03-DE0BAB87AA78}" srcOrd="0" destOrd="1" presId="urn:microsoft.com/office/officeart/2005/8/layout/list1"/>
    <dgm:cxn modelId="{C25F75C3-5E13-FE49-83EF-F789D4795F37}" srcId="{A55D5206-9A90-BB42-B365-27A2D65FB8A8}" destId="{FB403FE0-9EA9-374A-862E-1B334E25FE22}" srcOrd="1" destOrd="0" parTransId="{A405654D-3F93-3745-A2EB-73CC298E267F}" sibTransId="{5D684CC3-4F23-BD43-90C6-1715D3FBE30E}"/>
    <dgm:cxn modelId="{6A075BC7-B815-A240-AD0E-A8A95FF68F67}" type="presOf" srcId="{FB403FE0-9EA9-374A-862E-1B334E25FE22}" destId="{67FA5825-139A-364D-8876-CBF6337FD0A8}" srcOrd="1" destOrd="0" presId="urn:microsoft.com/office/officeart/2005/8/layout/list1"/>
    <dgm:cxn modelId="{1E38A1DB-71B2-2B45-956C-AA132D67FE19}" srcId="{CE290BBA-77D0-274C-93B9-5241028E0A28}" destId="{0C3A05C2-4F79-6744-ADF7-377520407A7D}" srcOrd="0" destOrd="0" parTransId="{26C3E6B1-1F99-374F-91FB-98EC222F7DD4}" sibTransId="{1ABCBEB2-0A79-A340-9F4C-AB8A45AA7781}"/>
    <dgm:cxn modelId="{2FBC10DD-6CB0-CC4F-91A8-ECBBFA648D58}" srcId="{FB403FE0-9EA9-374A-862E-1B334E25FE22}" destId="{95A555CA-CF82-1E4C-829B-224DE0D7A32F}" srcOrd="0" destOrd="0" parTransId="{3FC33178-1463-D547-A9FD-B24790696AD5}" sibTransId="{BDC596D2-3284-2B43-A264-6C6A023EE484}"/>
    <dgm:cxn modelId="{E593DCE0-6D9C-D843-A93B-4482A812329E}" type="presOf" srcId="{A7879B80-A357-E144-B0E7-0ACA3597A630}" destId="{A50FEF31-4B2E-C24E-9D03-DE0BAB87AA78}" srcOrd="0" destOrd="3" presId="urn:microsoft.com/office/officeart/2005/8/layout/list1"/>
    <dgm:cxn modelId="{B590DCE3-246B-5540-814D-A54B5BF2537D}" srcId="{FB403FE0-9EA9-374A-862E-1B334E25FE22}" destId="{8AFB95AD-308A-B140-AC0F-57E508A8D62F}" srcOrd="1" destOrd="0" parTransId="{C4DC5C72-5B8F-E84F-8D42-79FDE32082A1}" sibTransId="{109FD41C-CD36-8F4D-8EFE-AEA83C0D5D2F}"/>
    <dgm:cxn modelId="{BBDC43E4-AE1B-E841-81D0-6DE829E3AE1B}" type="presOf" srcId="{390CF97B-5863-7841-BDC9-E7B8F72653C2}" destId="{A50FEF31-4B2E-C24E-9D03-DE0BAB87AA78}" srcOrd="0" destOrd="2" presId="urn:microsoft.com/office/officeart/2005/8/layout/list1"/>
    <dgm:cxn modelId="{10E6AEE9-8157-8942-9BB2-2EFBD8565740}" type="presOf" srcId="{0C3A05C2-4F79-6744-ADF7-377520407A7D}" destId="{D2968C77-E854-0D44-AC2D-C710FD37E50D}" srcOrd="0" destOrd="2" presId="urn:microsoft.com/office/officeart/2005/8/layout/list1"/>
    <dgm:cxn modelId="{FE57C7EB-110B-1E4B-B31E-FFF346CDBCDD}" srcId="{70551849-854E-2441-ABAA-B0C32AFE9949}" destId="{A7879B80-A357-E144-B0E7-0ACA3597A630}" srcOrd="1" destOrd="0" parTransId="{41A53041-8380-214D-883E-94946282278B}" sibTransId="{FDF960BE-C1DC-2E47-B3D8-83ADA416EE10}"/>
    <dgm:cxn modelId="{CC5571EE-1B34-9D4A-8456-B5114CB2AF41}" srcId="{B9AD38CD-F66C-0243-83A0-C208DC3ACF7E}" destId="{B0AC5723-CE54-DE49-989B-B49CD082A3DF}" srcOrd="2" destOrd="0" parTransId="{8D8E3FF7-4E0F-E944-AD70-98FD77A7C2A7}" sibTransId="{885AC0A4-3356-EC4A-9DF1-DC361F0F2FDA}"/>
    <dgm:cxn modelId="{C430A7EE-E00D-F248-86C7-25C7E48FC8DF}" srcId="{B9AD38CD-F66C-0243-83A0-C208DC3ACF7E}" destId="{CE290BBA-77D0-274C-93B9-5241028E0A28}" srcOrd="1" destOrd="0" parTransId="{383E5334-E710-664B-BD70-E3D2630800D6}" sibTransId="{1B1D09F2-58B3-A448-A012-44926A9013BF}"/>
    <dgm:cxn modelId="{F42A83FF-2969-B048-BF82-64DB0F418B30}" type="presOf" srcId="{B9AD38CD-F66C-0243-83A0-C208DC3ACF7E}" destId="{42DE39A6-C45E-8C4C-886A-553ADE0F0731}" srcOrd="0" destOrd="0" presId="urn:microsoft.com/office/officeart/2005/8/layout/list1"/>
    <dgm:cxn modelId="{5274EAF0-E1FF-6248-B749-5FA904180C53}" type="presParOf" srcId="{B4A255E6-8CBE-4C47-A59D-5DF9E05EDE7F}" destId="{82D4E997-B64F-E842-A9A4-1746E9209E66}" srcOrd="0" destOrd="0" presId="urn:microsoft.com/office/officeart/2005/8/layout/list1"/>
    <dgm:cxn modelId="{17610E93-55DC-8148-A28C-C8CA1DF21B7B}" type="presParOf" srcId="{82D4E997-B64F-E842-A9A4-1746E9209E66}" destId="{42DE39A6-C45E-8C4C-886A-553ADE0F0731}" srcOrd="0" destOrd="0" presId="urn:microsoft.com/office/officeart/2005/8/layout/list1"/>
    <dgm:cxn modelId="{8A74D372-BBAF-0B4B-A2AD-91C0C17A9E8B}" type="presParOf" srcId="{82D4E997-B64F-E842-A9A4-1746E9209E66}" destId="{F5964186-C30A-4A48-B7FD-8F7E335C56FE}" srcOrd="1" destOrd="0" presId="urn:microsoft.com/office/officeart/2005/8/layout/list1"/>
    <dgm:cxn modelId="{33F7D71A-5ACF-F044-B31C-840D500BB8FB}" type="presParOf" srcId="{B4A255E6-8CBE-4C47-A59D-5DF9E05EDE7F}" destId="{B4BD80FA-53D3-094A-8885-653074FB0983}" srcOrd="1" destOrd="0" presId="urn:microsoft.com/office/officeart/2005/8/layout/list1"/>
    <dgm:cxn modelId="{D84AA181-3EC2-C046-94F8-8508D690666E}" type="presParOf" srcId="{B4A255E6-8CBE-4C47-A59D-5DF9E05EDE7F}" destId="{D2968C77-E854-0D44-AC2D-C710FD37E50D}" srcOrd="2" destOrd="0" presId="urn:microsoft.com/office/officeart/2005/8/layout/list1"/>
    <dgm:cxn modelId="{54450C4F-F9F7-1F48-966D-B04749266056}" type="presParOf" srcId="{B4A255E6-8CBE-4C47-A59D-5DF9E05EDE7F}" destId="{EEA0B00A-FD4E-B74C-AE7F-66E4EF5B6D22}" srcOrd="3" destOrd="0" presId="urn:microsoft.com/office/officeart/2005/8/layout/list1"/>
    <dgm:cxn modelId="{83356C01-6076-D645-B4EF-941D2EBBF20F}" type="presParOf" srcId="{B4A255E6-8CBE-4C47-A59D-5DF9E05EDE7F}" destId="{61D73397-A1B8-6A46-883A-7C3A134F5479}" srcOrd="4" destOrd="0" presId="urn:microsoft.com/office/officeart/2005/8/layout/list1"/>
    <dgm:cxn modelId="{D11F5B78-EC8B-A445-B835-32F1095C97FA}" type="presParOf" srcId="{61D73397-A1B8-6A46-883A-7C3A134F5479}" destId="{1A807F18-F9D0-1445-AA59-8066FC784D90}" srcOrd="0" destOrd="0" presId="urn:microsoft.com/office/officeart/2005/8/layout/list1"/>
    <dgm:cxn modelId="{F55B3CA5-5EA9-7349-B44A-15A2D45B038A}" type="presParOf" srcId="{61D73397-A1B8-6A46-883A-7C3A134F5479}" destId="{67FA5825-139A-364D-8876-CBF6337FD0A8}" srcOrd="1" destOrd="0" presId="urn:microsoft.com/office/officeart/2005/8/layout/list1"/>
    <dgm:cxn modelId="{4C2A6261-DD24-6D45-AA97-2ED6CEAC5305}" type="presParOf" srcId="{B4A255E6-8CBE-4C47-A59D-5DF9E05EDE7F}" destId="{613C093B-C3FB-2B4A-88DE-5D98B866AF7B}" srcOrd="5" destOrd="0" presId="urn:microsoft.com/office/officeart/2005/8/layout/list1"/>
    <dgm:cxn modelId="{F9971E17-AC90-104C-90AD-D8A10A71684F}" type="presParOf" srcId="{B4A255E6-8CBE-4C47-A59D-5DF9E05EDE7F}" destId="{FC90DECC-913D-0E47-A916-4FB8B5D76822}" srcOrd="6" destOrd="0" presId="urn:microsoft.com/office/officeart/2005/8/layout/list1"/>
    <dgm:cxn modelId="{2220AC76-6C16-1543-92CE-CD20859D3B6A}" type="presParOf" srcId="{B4A255E6-8CBE-4C47-A59D-5DF9E05EDE7F}" destId="{C36025D0-29A0-7A42-ACBE-C96216A53624}" srcOrd="7" destOrd="0" presId="urn:microsoft.com/office/officeart/2005/8/layout/list1"/>
    <dgm:cxn modelId="{4B078474-DF9F-A94D-A87F-205CA1CED862}" type="presParOf" srcId="{B4A255E6-8CBE-4C47-A59D-5DF9E05EDE7F}" destId="{15EBF804-1714-2F43-A017-F26B2382C0F3}" srcOrd="8" destOrd="0" presId="urn:microsoft.com/office/officeart/2005/8/layout/list1"/>
    <dgm:cxn modelId="{D0A0F719-40BB-7545-9B65-DD9EDA4FF934}" type="presParOf" srcId="{15EBF804-1714-2F43-A017-F26B2382C0F3}" destId="{87BDA8BE-7EE1-D647-B063-A947F0C5D65A}" srcOrd="0" destOrd="0" presId="urn:microsoft.com/office/officeart/2005/8/layout/list1"/>
    <dgm:cxn modelId="{C69EE218-5653-3042-B111-6FC2E3B3BE54}" type="presParOf" srcId="{15EBF804-1714-2F43-A017-F26B2382C0F3}" destId="{680D7EF4-297E-CF4C-8CFE-55EF367C3787}" srcOrd="1" destOrd="0" presId="urn:microsoft.com/office/officeart/2005/8/layout/list1"/>
    <dgm:cxn modelId="{A906671D-8D1B-CF4F-A670-1BBFC850E381}" type="presParOf" srcId="{B4A255E6-8CBE-4C47-A59D-5DF9E05EDE7F}" destId="{F8EF18F1-99C6-2541-99F1-BA5DF37F8AE3}" srcOrd="9" destOrd="0" presId="urn:microsoft.com/office/officeart/2005/8/layout/list1"/>
    <dgm:cxn modelId="{58B287A2-5AD1-9B4A-941D-887035D07069}" type="presParOf" srcId="{B4A255E6-8CBE-4C47-A59D-5DF9E05EDE7F}" destId="{A50FEF31-4B2E-C24E-9D03-DE0BAB87AA78}" srcOrd="10"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CA09CD7-1C20-FC4B-867E-B910E1C22CBF}" type="doc">
      <dgm:prSet loTypeId="urn:microsoft.com/office/officeart/2008/layout/LinedList" loCatId="" qsTypeId="urn:microsoft.com/office/officeart/2005/8/quickstyle/simple1" qsCatId="simple" csTypeId="urn:microsoft.com/office/officeart/2005/8/colors/accent0_2" csCatId="mainScheme" phldr="1"/>
      <dgm:spPr/>
      <dgm:t>
        <a:bodyPr/>
        <a:lstStyle/>
        <a:p>
          <a:endParaRPr lang="en-US"/>
        </a:p>
      </dgm:t>
    </dgm:pt>
    <dgm:pt modelId="{726B8B0E-E61A-F146-B090-2F055C5705BD}">
      <dgm:prSet phldrT="[Text]" custT="1"/>
      <dgm:spPr/>
      <dgm:t>
        <a:bodyPr/>
        <a:lstStyle/>
        <a:p>
          <a:r>
            <a:rPr lang="en-US" sz="1800" b="1" dirty="0">
              <a:solidFill>
                <a:schemeClr val="bg1"/>
              </a:solidFill>
              <a:latin typeface="Calibri" panose="020F0502020204030204" pitchFamily="34" charset="0"/>
              <a:cs typeface="Calibri" panose="020F0502020204030204" pitchFamily="34" charset="0"/>
            </a:rPr>
            <a:t>Positive and Monolingual Data</a:t>
          </a:r>
        </a:p>
      </dgm:t>
    </dgm:pt>
    <dgm:pt modelId="{C6C1DAD0-6522-554C-A059-65B6AF41FB45}" type="parTrans" cxnId="{A6CC626A-A9D9-1A46-9E52-19F3AE50E94B}">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690E34FB-A2F1-B54F-88C2-769DEF09F20E}" type="sibTrans" cxnId="{A6CC626A-A9D9-1A46-9E52-19F3AE50E94B}">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BED1F491-37FE-754B-A779-8977E943F41F}">
      <dgm:prSet phldrT="[Text]" custT="1"/>
      <dgm:spPr/>
      <dgm:t>
        <a:bodyPr/>
        <a:lstStyle/>
        <a:p>
          <a:r>
            <a:rPr lang="en-US" sz="1800" dirty="0">
              <a:solidFill>
                <a:schemeClr val="bg1"/>
              </a:solidFill>
              <a:latin typeface="Calibri" panose="020F0502020204030204" pitchFamily="34" charset="0"/>
              <a:cs typeface="Calibri" panose="020F0502020204030204" pitchFamily="34" charset="0"/>
            </a:rPr>
            <a:t>Turkish only</a:t>
          </a:r>
        </a:p>
      </dgm:t>
    </dgm:pt>
    <dgm:pt modelId="{C4FC1386-03F8-384C-9AFF-23E5974D6A36}" type="parTrans" cxnId="{9C45D7FD-8380-2D4E-832E-1CFEFAC557F3}">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B8669537-7D13-C445-BC6E-164AB0FB21C9}" type="sibTrans" cxnId="{9C45D7FD-8380-2D4E-832E-1CFEFAC557F3}">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8A10ABC4-376F-3F41-B0C5-6C84167BD2BB}">
      <dgm:prSet phldrT="[Text]" custT="1"/>
      <dgm:spPr/>
      <dgm:t>
        <a:bodyPr/>
        <a:lstStyle/>
        <a:p>
          <a:r>
            <a:rPr lang="en-US" sz="1800" b="1" dirty="0">
              <a:solidFill>
                <a:schemeClr val="bg1"/>
              </a:solidFill>
              <a:latin typeface="Calibri" panose="020F0502020204030204" pitchFamily="34" charset="0"/>
              <a:cs typeface="Calibri" panose="020F0502020204030204" pitchFamily="34" charset="0"/>
            </a:rPr>
            <a:t>Context &amp; Noise Problem</a:t>
          </a:r>
        </a:p>
      </dgm:t>
    </dgm:pt>
    <dgm:pt modelId="{3459433E-5529-3943-999B-D6A8DBB0D782}" type="parTrans" cxnId="{D50843BD-6B94-9A43-8DED-A4BEDD5103D9}">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45C29523-5B82-2241-89EC-8701B45BD069}" type="sibTrans" cxnId="{D50843BD-6B94-9A43-8DED-A4BEDD5103D9}">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C5BDB0CD-64FC-514E-B113-CB7A99C4D587}">
      <dgm:prSet phldrT="[Text]" custT="1"/>
      <dgm:spPr/>
      <dgm:t>
        <a:bodyPr/>
        <a:lstStyle/>
        <a:p>
          <a:r>
            <a:rPr lang="en-US" sz="1800" b="1" dirty="0">
              <a:solidFill>
                <a:schemeClr val="bg1"/>
              </a:solidFill>
              <a:latin typeface="Calibri" panose="020F0502020204030204" pitchFamily="34" charset="0"/>
              <a:cs typeface="Calibri" panose="020F0502020204030204" pitchFamily="34" charset="0"/>
            </a:rPr>
            <a:t>Single Best Answer Problem</a:t>
          </a:r>
        </a:p>
      </dgm:t>
    </dgm:pt>
    <dgm:pt modelId="{AE7E6E9A-4DF2-7541-8A7E-CE5473CD11BE}" type="parTrans" cxnId="{0A82B2C3-CFCA-8B45-A5DC-8B0AD0DABE01}">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7155454B-713E-8D47-B767-BF084457AA12}" type="sibTrans" cxnId="{0A82B2C3-CFCA-8B45-A5DC-8B0AD0DABE01}">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D1321B11-39F3-2C4B-B40F-94FE4A4ADA8F}">
      <dgm:prSet phldrT="[Text]" custT="1"/>
      <dgm:spPr/>
      <dgm:t>
        <a:bodyPr/>
        <a:lstStyle/>
        <a:p>
          <a:r>
            <a:rPr lang="en-US" sz="1800" b="1" dirty="0">
              <a:solidFill>
                <a:schemeClr val="bg1"/>
              </a:solidFill>
              <a:latin typeface="Calibri" panose="020F0502020204030204" pitchFamily="34" charset="0"/>
              <a:cs typeface="Calibri" panose="020F0502020204030204" pitchFamily="34" charset="0"/>
            </a:rPr>
            <a:t>Implicit v. Explicit Reasoning</a:t>
          </a:r>
        </a:p>
      </dgm:t>
    </dgm:pt>
    <dgm:pt modelId="{276AB359-8BFC-FA44-B343-6CDD91E5C7DB}" type="parTrans" cxnId="{50C44BBC-F8CC-5B46-BBCC-CD5F6412D289}">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43DBDC57-1A8E-2A46-BB47-005B8CFB29DD}" type="sibTrans" cxnId="{50C44BBC-F8CC-5B46-BBCC-CD5F6412D289}">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4BEFA574-A968-1148-B137-245D41506291}">
      <dgm:prSet phldrT="[Text]" custT="1"/>
      <dgm:spPr/>
      <dgm:t>
        <a:bodyPr/>
        <a:lstStyle/>
        <a:p>
          <a:r>
            <a:rPr lang="en-US" sz="1800" dirty="0">
              <a:solidFill>
                <a:schemeClr val="bg1"/>
              </a:solidFill>
              <a:latin typeface="Calibri" panose="020F0502020204030204" pitchFamily="34" charset="0"/>
              <a:cs typeface="Calibri" panose="020F0502020204030204" pitchFamily="34" charset="0"/>
            </a:rPr>
            <a:t>Lack of negative example</a:t>
          </a:r>
        </a:p>
      </dgm:t>
    </dgm:pt>
    <dgm:pt modelId="{74185CF1-29B2-D643-8753-D8E1121E3841}" type="parTrans" cxnId="{79B12AA3-5EA9-ED40-B7C8-04B17C38104B}">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709FA93C-230C-DA45-918C-78D3572FB42F}" type="sibTrans" cxnId="{79B12AA3-5EA9-ED40-B7C8-04B17C38104B}">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A8DBFC91-396D-174D-9209-282A8C7B98CD}">
      <dgm:prSet phldrT="[Text]" custT="1"/>
      <dgm:spPr/>
      <dgm:t>
        <a:bodyPr/>
        <a:lstStyle/>
        <a:p>
          <a:pPr marL="114300" lvl="1" indent="-114300" algn="l" defTabSz="622300">
            <a:lnSpc>
              <a:spcPct val="90000"/>
            </a:lnSpc>
            <a:spcBef>
              <a:spcPct val="0"/>
            </a:spcBef>
            <a:spcAft>
              <a:spcPct val="20000"/>
            </a:spcAft>
            <a:buChar char="•"/>
          </a:pPr>
          <a:r>
            <a:rPr lang="en-US" sz="1800" kern="1200" dirty="0">
              <a:solidFill>
                <a:schemeClr val="bg1"/>
              </a:solidFill>
              <a:latin typeface="Calibri" panose="020F0502020204030204" pitchFamily="34" charset="0"/>
              <a:ea typeface="+mn-ea"/>
              <a:cs typeface="Calibri" panose="020F0502020204030204" pitchFamily="34" charset="0"/>
            </a:rPr>
            <a:t>Ablation study</a:t>
          </a:r>
        </a:p>
      </dgm:t>
    </dgm:pt>
    <dgm:pt modelId="{E10397EF-7985-3941-8F1C-0866A9E0EC6F}" type="parTrans" cxnId="{F41EC5A1-6BF8-DB40-8447-6AFF713C3478}">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C75D7A17-6292-6049-ADD0-0A61DB9D48A6}" type="sibTrans" cxnId="{F41EC5A1-6BF8-DB40-8447-6AFF713C3478}">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45921CA6-5F56-0141-BCFF-A0C0B0B67193}">
      <dgm:prSet phldrT="[Text]" custT="1"/>
      <dgm:spPr/>
      <dgm:t>
        <a:bodyPr/>
        <a:lstStyle/>
        <a:p>
          <a:pPr marL="114300" lvl="1" indent="-114300" algn="l" defTabSz="622300">
            <a:lnSpc>
              <a:spcPct val="90000"/>
            </a:lnSpc>
            <a:spcBef>
              <a:spcPct val="0"/>
            </a:spcBef>
            <a:spcAft>
              <a:spcPct val="20000"/>
            </a:spcAft>
            <a:buChar char="•"/>
          </a:pPr>
          <a:r>
            <a:rPr lang="en-US" sz="1800" kern="1200" dirty="0">
              <a:solidFill>
                <a:schemeClr val="bg1"/>
              </a:solidFill>
              <a:latin typeface="Calibri" panose="020F0502020204030204" pitchFamily="34" charset="0"/>
              <a:ea typeface="+mn-ea"/>
              <a:cs typeface="Calibri" panose="020F0502020204030204" pitchFamily="34" charset="0"/>
            </a:rPr>
            <a:t>Need for a retriever stage</a:t>
          </a:r>
        </a:p>
      </dgm:t>
    </dgm:pt>
    <dgm:pt modelId="{A3B0DB37-044A-C54B-9B62-3394FFCE84D0}" type="parTrans" cxnId="{207B9D71-4822-4C4C-8AF4-E02CD57CA34C}">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2513331B-5563-214E-8663-29BADE63ACE5}" type="sibTrans" cxnId="{207B9D71-4822-4C4C-8AF4-E02CD57CA34C}">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B3AE663B-3EB5-0E43-893B-2EDF31444366}">
      <dgm:prSet phldrT="[Text]" custT="1"/>
      <dgm:spPr/>
      <dgm:t>
        <a:bodyPr/>
        <a:lstStyle/>
        <a:p>
          <a:pPr marL="114300" lvl="1" indent="-114300" algn="l" defTabSz="622300">
            <a:lnSpc>
              <a:spcPct val="90000"/>
            </a:lnSpc>
            <a:spcBef>
              <a:spcPct val="0"/>
            </a:spcBef>
            <a:spcAft>
              <a:spcPct val="20000"/>
            </a:spcAft>
            <a:buChar char="•"/>
          </a:pPr>
          <a:r>
            <a:rPr lang="en-US" sz="1600" kern="1200" dirty="0">
              <a:solidFill>
                <a:schemeClr val="bg1"/>
              </a:solidFill>
              <a:latin typeface="Calibri" panose="020F0502020204030204" pitchFamily="34" charset="0"/>
              <a:ea typeface="+mn-ea"/>
              <a:cs typeface="Calibri" panose="020F0502020204030204" pitchFamily="34" charset="0"/>
            </a:rPr>
            <a:t>Multiple sentences can be correct</a:t>
          </a:r>
        </a:p>
      </dgm:t>
    </dgm:pt>
    <dgm:pt modelId="{866E9EEE-8585-1043-8294-6665A18F1A93}" type="parTrans" cxnId="{3D86DBA6-81B5-8C4F-8937-AA6FA8BFFB6A}">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0C8DEBBE-F61E-224D-9465-51FA0610A173}" type="sibTrans" cxnId="{3D86DBA6-81B5-8C4F-8937-AA6FA8BFFB6A}">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BC848CEF-732A-7747-A0C1-2F768EBB5CD1}">
      <dgm:prSet phldrT="[Text]" custT="1"/>
      <dgm:spPr/>
      <dgm:t>
        <a:bodyPr/>
        <a:lstStyle/>
        <a:p>
          <a:pPr marL="114300" lvl="1" indent="-114300" algn="l" defTabSz="622300">
            <a:lnSpc>
              <a:spcPct val="90000"/>
            </a:lnSpc>
            <a:spcBef>
              <a:spcPct val="0"/>
            </a:spcBef>
            <a:spcAft>
              <a:spcPct val="20000"/>
            </a:spcAft>
            <a:buChar char="•"/>
          </a:pPr>
          <a:r>
            <a:rPr lang="en-US" sz="1600" kern="1200" dirty="0">
              <a:solidFill>
                <a:schemeClr val="bg1"/>
              </a:solidFill>
              <a:latin typeface="Calibri" panose="020F0502020204030204" pitchFamily="34" charset="0"/>
              <a:ea typeface="+mn-ea"/>
              <a:cs typeface="Calibri" panose="020F0502020204030204" pitchFamily="34" charset="0"/>
            </a:rPr>
            <a:t>Multi-span annotation or preference-based frameworks</a:t>
          </a:r>
        </a:p>
      </dgm:t>
    </dgm:pt>
    <dgm:pt modelId="{61FE481A-3263-6848-9DEC-39667DD8900D}" type="parTrans" cxnId="{0B79CCAA-6BFD-3944-A2E4-75B45FB47B25}">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438B6FC8-1488-9F47-850C-CB6FBA284E1B}" type="sibTrans" cxnId="{0B79CCAA-6BFD-3944-A2E4-75B45FB47B25}">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74831E60-83A0-7347-81AA-E32786A6D7A9}">
      <dgm:prSet phldrT="[Text]" custT="1"/>
      <dgm:spPr/>
      <dgm:t>
        <a:bodyPr/>
        <a:lstStyle/>
        <a:p>
          <a:pPr marL="114300" lvl="1" indent="-114300" algn="l" defTabSz="622300">
            <a:lnSpc>
              <a:spcPct val="90000"/>
            </a:lnSpc>
            <a:spcBef>
              <a:spcPct val="0"/>
            </a:spcBef>
            <a:spcAft>
              <a:spcPct val="20000"/>
            </a:spcAft>
            <a:buChar char="•"/>
          </a:pPr>
          <a:r>
            <a:rPr lang="en-US" sz="1600" kern="1200" dirty="0">
              <a:solidFill>
                <a:schemeClr val="bg1"/>
              </a:solidFill>
              <a:latin typeface="Calibri" panose="020F0502020204030204" pitchFamily="34" charset="0"/>
              <a:ea typeface="+mn-ea"/>
              <a:cs typeface="Calibri" panose="020F0502020204030204" pitchFamily="34" charset="0"/>
            </a:rPr>
            <a:t>Formulaic questions (Q2, Q4) vs implicit questions (Q1, Q3)</a:t>
          </a:r>
        </a:p>
      </dgm:t>
    </dgm:pt>
    <dgm:pt modelId="{7E0A3728-8861-1F47-BAE6-A3D648744FCF}" type="parTrans" cxnId="{0FB0976F-79A4-424C-8467-421155E237F7}">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F2E2D7B6-E5C8-D742-A43A-31960C67BC63}" type="sibTrans" cxnId="{0FB0976F-79A4-424C-8467-421155E237F7}">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3AA58EDE-95CF-DE4E-BC32-0B2CC23C2FF6}">
      <dgm:prSet phldrT="[Text]" custT="1"/>
      <dgm:spPr/>
      <dgm:t>
        <a:bodyPr/>
        <a:lstStyle/>
        <a:p>
          <a:pPr marL="114300" lvl="1" indent="-114300" algn="l" defTabSz="622300">
            <a:lnSpc>
              <a:spcPct val="90000"/>
            </a:lnSpc>
            <a:spcBef>
              <a:spcPct val="0"/>
            </a:spcBef>
            <a:spcAft>
              <a:spcPct val="20000"/>
            </a:spcAft>
            <a:buChar char="•"/>
          </a:pPr>
          <a:r>
            <a:rPr lang="en-US" sz="1600" kern="1200" dirty="0">
              <a:solidFill>
                <a:schemeClr val="bg1"/>
              </a:solidFill>
              <a:latin typeface="Calibri" panose="020F0502020204030204" pitchFamily="34" charset="0"/>
              <a:ea typeface="+mn-ea"/>
              <a:cs typeface="Calibri" panose="020F0502020204030204" pitchFamily="34" charset="0"/>
            </a:rPr>
            <a:t>From pattern matching to legal reasoning with LLMs</a:t>
          </a:r>
        </a:p>
      </dgm:t>
    </dgm:pt>
    <dgm:pt modelId="{7387D2C2-DF2C-5B45-A1C8-1BF4CCC784AE}" type="parTrans" cxnId="{7BBF3E71-B502-EE48-9DD2-D7E57C712977}">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BA850510-6CBA-3E41-AE19-D18E5383ED7A}" type="sibTrans" cxnId="{7BBF3E71-B502-EE48-9DD2-D7E57C712977}">
      <dgm:prSet/>
      <dgm:spPr/>
      <dgm:t>
        <a:bodyPr/>
        <a:lstStyle/>
        <a:p>
          <a:endParaRPr lang="en-US" sz="2800">
            <a:solidFill>
              <a:schemeClr val="bg1"/>
            </a:solidFill>
            <a:latin typeface="Calibri" panose="020F0502020204030204" pitchFamily="34" charset="0"/>
            <a:cs typeface="Calibri" panose="020F0502020204030204" pitchFamily="34" charset="0"/>
          </a:endParaRPr>
        </a:p>
      </dgm:t>
    </dgm:pt>
    <dgm:pt modelId="{5581F508-A419-C645-9F40-4D85677CB8DF}" type="pres">
      <dgm:prSet presAssocID="{0CA09CD7-1C20-FC4B-867E-B910E1C22CBF}" presName="vert0" presStyleCnt="0">
        <dgm:presLayoutVars>
          <dgm:dir/>
          <dgm:animOne val="branch"/>
          <dgm:animLvl val="lvl"/>
        </dgm:presLayoutVars>
      </dgm:prSet>
      <dgm:spPr/>
    </dgm:pt>
    <dgm:pt modelId="{312AE66F-F0F7-D440-B82D-AB277BA1FB3C}" type="pres">
      <dgm:prSet presAssocID="{726B8B0E-E61A-F146-B090-2F055C5705BD}" presName="thickLine" presStyleLbl="alignNode1" presStyleIdx="0" presStyleCnt="4"/>
      <dgm:spPr/>
    </dgm:pt>
    <dgm:pt modelId="{8B1D3E90-819E-E844-880D-C4D939F5C49F}" type="pres">
      <dgm:prSet presAssocID="{726B8B0E-E61A-F146-B090-2F055C5705BD}" presName="horz1" presStyleCnt="0"/>
      <dgm:spPr/>
    </dgm:pt>
    <dgm:pt modelId="{5C0B855B-DEFC-A145-87FD-D6B70D510200}" type="pres">
      <dgm:prSet presAssocID="{726B8B0E-E61A-F146-B090-2F055C5705BD}" presName="tx1" presStyleLbl="revTx" presStyleIdx="0" presStyleCnt="12"/>
      <dgm:spPr/>
    </dgm:pt>
    <dgm:pt modelId="{E9862D8E-E7F7-E74C-9B7A-DFB0E6B0CB7E}" type="pres">
      <dgm:prSet presAssocID="{726B8B0E-E61A-F146-B090-2F055C5705BD}" presName="vert1" presStyleCnt="0"/>
      <dgm:spPr/>
    </dgm:pt>
    <dgm:pt modelId="{24BAF107-624B-BA4B-AB34-5A106B3FF13A}" type="pres">
      <dgm:prSet presAssocID="{BED1F491-37FE-754B-A779-8977E943F41F}" presName="vertSpace2a" presStyleCnt="0"/>
      <dgm:spPr/>
    </dgm:pt>
    <dgm:pt modelId="{0EB537F1-35F5-4A46-8C30-57B0CA687E3F}" type="pres">
      <dgm:prSet presAssocID="{BED1F491-37FE-754B-A779-8977E943F41F}" presName="horz2" presStyleCnt="0"/>
      <dgm:spPr/>
    </dgm:pt>
    <dgm:pt modelId="{86A798A4-61C9-9742-AD18-D7A6EFE4385B}" type="pres">
      <dgm:prSet presAssocID="{BED1F491-37FE-754B-A779-8977E943F41F}" presName="horzSpace2" presStyleCnt="0"/>
      <dgm:spPr/>
    </dgm:pt>
    <dgm:pt modelId="{DD165910-8474-4249-9160-990AB4BCB7E3}" type="pres">
      <dgm:prSet presAssocID="{BED1F491-37FE-754B-A779-8977E943F41F}" presName="tx2" presStyleLbl="revTx" presStyleIdx="1" presStyleCnt="12"/>
      <dgm:spPr/>
    </dgm:pt>
    <dgm:pt modelId="{E945DB64-54C2-CF4C-850E-4CC5188E1BB7}" type="pres">
      <dgm:prSet presAssocID="{BED1F491-37FE-754B-A779-8977E943F41F}" presName="vert2" presStyleCnt="0"/>
      <dgm:spPr/>
    </dgm:pt>
    <dgm:pt modelId="{2B6287B2-BFD5-D546-A5B7-59BF961918D6}" type="pres">
      <dgm:prSet presAssocID="{BED1F491-37FE-754B-A779-8977E943F41F}" presName="thinLine2b" presStyleLbl="callout" presStyleIdx="0" presStyleCnt="8"/>
      <dgm:spPr/>
    </dgm:pt>
    <dgm:pt modelId="{E4694706-90E4-0A4B-90DD-FF1627ED9002}" type="pres">
      <dgm:prSet presAssocID="{BED1F491-37FE-754B-A779-8977E943F41F}" presName="vertSpace2b" presStyleCnt="0"/>
      <dgm:spPr/>
    </dgm:pt>
    <dgm:pt modelId="{DAB1F98B-CF67-EC45-99A7-A4FA1E57462D}" type="pres">
      <dgm:prSet presAssocID="{4BEFA574-A968-1148-B137-245D41506291}" presName="horz2" presStyleCnt="0"/>
      <dgm:spPr/>
    </dgm:pt>
    <dgm:pt modelId="{61B977D4-3FEE-2949-85FA-6709B7FB9001}" type="pres">
      <dgm:prSet presAssocID="{4BEFA574-A968-1148-B137-245D41506291}" presName="horzSpace2" presStyleCnt="0"/>
      <dgm:spPr/>
    </dgm:pt>
    <dgm:pt modelId="{321F9F83-2772-664D-B42E-E92C47AEC9B9}" type="pres">
      <dgm:prSet presAssocID="{4BEFA574-A968-1148-B137-245D41506291}" presName="tx2" presStyleLbl="revTx" presStyleIdx="2" presStyleCnt="12"/>
      <dgm:spPr/>
    </dgm:pt>
    <dgm:pt modelId="{3D053F6F-F753-704D-BF39-5802990DFE28}" type="pres">
      <dgm:prSet presAssocID="{4BEFA574-A968-1148-B137-245D41506291}" presName="vert2" presStyleCnt="0"/>
      <dgm:spPr/>
    </dgm:pt>
    <dgm:pt modelId="{F153AFE1-25CA-AA47-B09C-2892659DF4AB}" type="pres">
      <dgm:prSet presAssocID="{4BEFA574-A968-1148-B137-245D41506291}" presName="thinLine2b" presStyleLbl="callout" presStyleIdx="1" presStyleCnt="8"/>
      <dgm:spPr/>
    </dgm:pt>
    <dgm:pt modelId="{F7A6F9BF-DCE1-5148-B5B3-5A23D187C787}" type="pres">
      <dgm:prSet presAssocID="{4BEFA574-A968-1148-B137-245D41506291}" presName="vertSpace2b" presStyleCnt="0"/>
      <dgm:spPr/>
    </dgm:pt>
    <dgm:pt modelId="{43B5A763-DEDA-F645-B528-A6E894403418}" type="pres">
      <dgm:prSet presAssocID="{8A10ABC4-376F-3F41-B0C5-6C84167BD2BB}" presName="thickLine" presStyleLbl="alignNode1" presStyleIdx="1" presStyleCnt="4"/>
      <dgm:spPr/>
    </dgm:pt>
    <dgm:pt modelId="{F34C61B4-2790-A848-B8FF-7668F997B520}" type="pres">
      <dgm:prSet presAssocID="{8A10ABC4-376F-3F41-B0C5-6C84167BD2BB}" presName="horz1" presStyleCnt="0"/>
      <dgm:spPr/>
    </dgm:pt>
    <dgm:pt modelId="{F8FB0729-2868-2547-ABB4-8A77298A7031}" type="pres">
      <dgm:prSet presAssocID="{8A10ABC4-376F-3F41-B0C5-6C84167BD2BB}" presName="tx1" presStyleLbl="revTx" presStyleIdx="3" presStyleCnt="12"/>
      <dgm:spPr/>
    </dgm:pt>
    <dgm:pt modelId="{E17489C3-5148-9845-AD32-2A05EC424947}" type="pres">
      <dgm:prSet presAssocID="{8A10ABC4-376F-3F41-B0C5-6C84167BD2BB}" presName="vert1" presStyleCnt="0"/>
      <dgm:spPr/>
    </dgm:pt>
    <dgm:pt modelId="{4DB84CCA-DD15-464D-9AC7-57FF82CBAF56}" type="pres">
      <dgm:prSet presAssocID="{A8DBFC91-396D-174D-9209-282A8C7B98CD}" presName="vertSpace2a" presStyleCnt="0"/>
      <dgm:spPr/>
    </dgm:pt>
    <dgm:pt modelId="{DC57B075-7A23-F14B-81B3-280CC27F7EBA}" type="pres">
      <dgm:prSet presAssocID="{A8DBFC91-396D-174D-9209-282A8C7B98CD}" presName="horz2" presStyleCnt="0"/>
      <dgm:spPr/>
    </dgm:pt>
    <dgm:pt modelId="{035691E1-AF9B-6C44-991D-5A7D00B8BA9B}" type="pres">
      <dgm:prSet presAssocID="{A8DBFC91-396D-174D-9209-282A8C7B98CD}" presName="horzSpace2" presStyleCnt="0"/>
      <dgm:spPr/>
    </dgm:pt>
    <dgm:pt modelId="{27DE7F45-E70C-9742-B78E-4D897FAABAD9}" type="pres">
      <dgm:prSet presAssocID="{A8DBFC91-396D-174D-9209-282A8C7B98CD}" presName="tx2" presStyleLbl="revTx" presStyleIdx="4" presStyleCnt="12"/>
      <dgm:spPr/>
    </dgm:pt>
    <dgm:pt modelId="{84A36F00-CF48-C74D-923F-90CA58D0BECC}" type="pres">
      <dgm:prSet presAssocID="{A8DBFC91-396D-174D-9209-282A8C7B98CD}" presName="vert2" presStyleCnt="0"/>
      <dgm:spPr/>
    </dgm:pt>
    <dgm:pt modelId="{6FED0F2D-CEF2-F74C-9165-8E2A6E40A52C}" type="pres">
      <dgm:prSet presAssocID="{A8DBFC91-396D-174D-9209-282A8C7B98CD}" presName="thinLine2b" presStyleLbl="callout" presStyleIdx="2" presStyleCnt="8"/>
      <dgm:spPr/>
    </dgm:pt>
    <dgm:pt modelId="{8FB6EA6F-385C-3D4A-862F-332F720C5BA3}" type="pres">
      <dgm:prSet presAssocID="{A8DBFC91-396D-174D-9209-282A8C7B98CD}" presName="vertSpace2b" presStyleCnt="0"/>
      <dgm:spPr/>
    </dgm:pt>
    <dgm:pt modelId="{070B12CB-59C8-3444-BCAE-CDB844A10678}" type="pres">
      <dgm:prSet presAssocID="{45921CA6-5F56-0141-BCFF-A0C0B0B67193}" presName="horz2" presStyleCnt="0"/>
      <dgm:spPr/>
    </dgm:pt>
    <dgm:pt modelId="{3F8A4F2D-F62F-5046-964F-42F373164F17}" type="pres">
      <dgm:prSet presAssocID="{45921CA6-5F56-0141-BCFF-A0C0B0B67193}" presName="horzSpace2" presStyleCnt="0"/>
      <dgm:spPr/>
    </dgm:pt>
    <dgm:pt modelId="{78542E46-FC8F-D743-BB25-3C8FD0B4B789}" type="pres">
      <dgm:prSet presAssocID="{45921CA6-5F56-0141-BCFF-A0C0B0B67193}" presName="tx2" presStyleLbl="revTx" presStyleIdx="5" presStyleCnt="12"/>
      <dgm:spPr/>
    </dgm:pt>
    <dgm:pt modelId="{733B61C9-BDA0-1D46-A901-8298AEE5B258}" type="pres">
      <dgm:prSet presAssocID="{45921CA6-5F56-0141-BCFF-A0C0B0B67193}" presName="vert2" presStyleCnt="0"/>
      <dgm:spPr/>
    </dgm:pt>
    <dgm:pt modelId="{53095649-73C0-924C-92FB-FD1EF967CB24}" type="pres">
      <dgm:prSet presAssocID="{45921CA6-5F56-0141-BCFF-A0C0B0B67193}" presName="thinLine2b" presStyleLbl="callout" presStyleIdx="3" presStyleCnt="8"/>
      <dgm:spPr/>
    </dgm:pt>
    <dgm:pt modelId="{D292C31C-02CA-F743-B457-D6A947236685}" type="pres">
      <dgm:prSet presAssocID="{45921CA6-5F56-0141-BCFF-A0C0B0B67193}" presName="vertSpace2b" presStyleCnt="0"/>
      <dgm:spPr/>
    </dgm:pt>
    <dgm:pt modelId="{3651A936-553D-5940-A777-AB1D0A8C505C}" type="pres">
      <dgm:prSet presAssocID="{C5BDB0CD-64FC-514E-B113-CB7A99C4D587}" presName="thickLine" presStyleLbl="alignNode1" presStyleIdx="2" presStyleCnt="4"/>
      <dgm:spPr/>
    </dgm:pt>
    <dgm:pt modelId="{AD3D9D4C-8592-A544-9F89-7BEE6A6B2F56}" type="pres">
      <dgm:prSet presAssocID="{C5BDB0CD-64FC-514E-B113-CB7A99C4D587}" presName="horz1" presStyleCnt="0"/>
      <dgm:spPr/>
    </dgm:pt>
    <dgm:pt modelId="{D36C7F39-325F-774E-9E6E-773390B92FD6}" type="pres">
      <dgm:prSet presAssocID="{C5BDB0CD-64FC-514E-B113-CB7A99C4D587}" presName="tx1" presStyleLbl="revTx" presStyleIdx="6" presStyleCnt="12"/>
      <dgm:spPr/>
    </dgm:pt>
    <dgm:pt modelId="{5DCD2120-966C-F94A-83F8-769A1985D36B}" type="pres">
      <dgm:prSet presAssocID="{C5BDB0CD-64FC-514E-B113-CB7A99C4D587}" presName="vert1" presStyleCnt="0"/>
      <dgm:spPr/>
    </dgm:pt>
    <dgm:pt modelId="{17DF4045-0035-5A40-8396-EADFF1328940}" type="pres">
      <dgm:prSet presAssocID="{B3AE663B-3EB5-0E43-893B-2EDF31444366}" presName="vertSpace2a" presStyleCnt="0"/>
      <dgm:spPr/>
    </dgm:pt>
    <dgm:pt modelId="{4ABA8876-8672-4A48-86A0-4C7DA01958D1}" type="pres">
      <dgm:prSet presAssocID="{B3AE663B-3EB5-0E43-893B-2EDF31444366}" presName="horz2" presStyleCnt="0"/>
      <dgm:spPr/>
    </dgm:pt>
    <dgm:pt modelId="{C7E21658-1DB3-6944-8663-BBD007C74AA9}" type="pres">
      <dgm:prSet presAssocID="{B3AE663B-3EB5-0E43-893B-2EDF31444366}" presName="horzSpace2" presStyleCnt="0"/>
      <dgm:spPr/>
    </dgm:pt>
    <dgm:pt modelId="{40DCA47E-C109-3941-A36E-3E23788DCF01}" type="pres">
      <dgm:prSet presAssocID="{B3AE663B-3EB5-0E43-893B-2EDF31444366}" presName="tx2" presStyleLbl="revTx" presStyleIdx="7" presStyleCnt="12"/>
      <dgm:spPr/>
    </dgm:pt>
    <dgm:pt modelId="{50C63657-E0B7-1B4A-9C93-519343A3036D}" type="pres">
      <dgm:prSet presAssocID="{B3AE663B-3EB5-0E43-893B-2EDF31444366}" presName="vert2" presStyleCnt="0"/>
      <dgm:spPr/>
    </dgm:pt>
    <dgm:pt modelId="{FE1E60B0-AC81-CA48-BEED-D49A5FC5C318}" type="pres">
      <dgm:prSet presAssocID="{B3AE663B-3EB5-0E43-893B-2EDF31444366}" presName="thinLine2b" presStyleLbl="callout" presStyleIdx="4" presStyleCnt="8"/>
      <dgm:spPr/>
    </dgm:pt>
    <dgm:pt modelId="{008FBD89-1C2F-4D4B-99E1-67E38A852CB1}" type="pres">
      <dgm:prSet presAssocID="{B3AE663B-3EB5-0E43-893B-2EDF31444366}" presName="vertSpace2b" presStyleCnt="0"/>
      <dgm:spPr/>
    </dgm:pt>
    <dgm:pt modelId="{994200BF-EB97-BF49-9B5E-05A67D222109}" type="pres">
      <dgm:prSet presAssocID="{BC848CEF-732A-7747-A0C1-2F768EBB5CD1}" presName="horz2" presStyleCnt="0"/>
      <dgm:spPr/>
    </dgm:pt>
    <dgm:pt modelId="{57428928-1769-7C49-ABCD-F5EEBF2BE868}" type="pres">
      <dgm:prSet presAssocID="{BC848CEF-732A-7747-A0C1-2F768EBB5CD1}" presName="horzSpace2" presStyleCnt="0"/>
      <dgm:spPr/>
    </dgm:pt>
    <dgm:pt modelId="{D4F7AA03-046E-DA4B-B158-35408D74AD6B}" type="pres">
      <dgm:prSet presAssocID="{BC848CEF-732A-7747-A0C1-2F768EBB5CD1}" presName="tx2" presStyleLbl="revTx" presStyleIdx="8" presStyleCnt="12"/>
      <dgm:spPr/>
    </dgm:pt>
    <dgm:pt modelId="{7B94B767-D264-BE46-8E39-B325DF259972}" type="pres">
      <dgm:prSet presAssocID="{BC848CEF-732A-7747-A0C1-2F768EBB5CD1}" presName="vert2" presStyleCnt="0"/>
      <dgm:spPr/>
    </dgm:pt>
    <dgm:pt modelId="{29DCE9AF-5E45-424F-8903-9771A7F023BC}" type="pres">
      <dgm:prSet presAssocID="{BC848CEF-732A-7747-A0C1-2F768EBB5CD1}" presName="thinLine2b" presStyleLbl="callout" presStyleIdx="5" presStyleCnt="8"/>
      <dgm:spPr/>
    </dgm:pt>
    <dgm:pt modelId="{45D3001A-FA31-CD49-9816-C47D34D31694}" type="pres">
      <dgm:prSet presAssocID="{BC848CEF-732A-7747-A0C1-2F768EBB5CD1}" presName="vertSpace2b" presStyleCnt="0"/>
      <dgm:spPr/>
    </dgm:pt>
    <dgm:pt modelId="{BAEB7C50-A678-9A4A-BC52-ACAC3B63A256}" type="pres">
      <dgm:prSet presAssocID="{D1321B11-39F3-2C4B-B40F-94FE4A4ADA8F}" presName="thickLine" presStyleLbl="alignNode1" presStyleIdx="3" presStyleCnt="4"/>
      <dgm:spPr/>
    </dgm:pt>
    <dgm:pt modelId="{DAEC3F2D-8CBF-414D-9463-A38C93139928}" type="pres">
      <dgm:prSet presAssocID="{D1321B11-39F3-2C4B-B40F-94FE4A4ADA8F}" presName="horz1" presStyleCnt="0"/>
      <dgm:spPr/>
    </dgm:pt>
    <dgm:pt modelId="{7C401F62-CD3C-DF4A-AAD3-A716B8CED3C4}" type="pres">
      <dgm:prSet presAssocID="{D1321B11-39F3-2C4B-B40F-94FE4A4ADA8F}" presName="tx1" presStyleLbl="revTx" presStyleIdx="9" presStyleCnt="12"/>
      <dgm:spPr/>
    </dgm:pt>
    <dgm:pt modelId="{E160AA35-5E92-F441-8223-47E0842719A7}" type="pres">
      <dgm:prSet presAssocID="{D1321B11-39F3-2C4B-B40F-94FE4A4ADA8F}" presName="vert1" presStyleCnt="0"/>
      <dgm:spPr/>
    </dgm:pt>
    <dgm:pt modelId="{67180864-5666-674A-BDE8-33325CBBEE98}" type="pres">
      <dgm:prSet presAssocID="{74831E60-83A0-7347-81AA-E32786A6D7A9}" presName="vertSpace2a" presStyleCnt="0"/>
      <dgm:spPr/>
    </dgm:pt>
    <dgm:pt modelId="{CE806FEB-FD76-F841-944A-9AB772CAE173}" type="pres">
      <dgm:prSet presAssocID="{74831E60-83A0-7347-81AA-E32786A6D7A9}" presName="horz2" presStyleCnt="0"/>
      <dgm:spPr/>
    </dgm:pt>
    <dgm:pt modelId="{05CE9DD5-00AB-934B-A6FD-345D14EBB1B1}" type="pres">
      <dgm:prSet presAssocID="{74831E60-83A0-7347-81AA-E32786A6D7A9}" presName="horzSpace2" presStyleCnt="0"/>
      <dgm:spPr/>
    </dgm:pt>
    <dgm:pt modelId="{B6BB8B91-E7D5-8D4D-B7C5-6B97346B8054}" type="pres">
      <dgm:prSet presAssocID="{74831E60-83A0-7347-81AA-E32786A6D7A9}" presName="tx2" presStyleLbl="revTx" presStyleIdx="10" presStyleCnt="12"/>
      <dgm:spPr/>
    </dgm:pt>
    <dgm:pt modelId="{DF73A2DE-5DCF-684E-AC98-519FA466719A}" type="pres">
      <dgm:prSet presAssocID="{74831E60-83A0-7347-81AA-E32786A6D7A9}" presName="vert2" presStyleCnt="0"/>
      <dgm:spPr/>
    </dgm:pt>
    <dgm:pt modelId="{C25FF8A7-858B-0041-8C57-578BE4BFBDCB}" type="pres">
      <dgm:prSet presAssocID="{74831E60-83A0-7347-81AA-E32786A6D7A9}" presName="thinLine2b" presStyleLbl="callout" presStyleIdx="6" presStyleCnt="8"/>
      <dgm:spPr/>
    </dgm:pt>
    <dgm:pt modelId="{6F0B0CDD-6E8E-0A43-9C47-9CB055065331}" type="pres">
      <dgm:prSet presAssocID="{74831E60-83A0-7347-81AA-E32786A6D7A9}" presName="vertSpace2b" presStyleCnt="0"/>
      <dgm:spPr/>
    </dgm:pt>
    <dgm:pt modelId="{DFE399C6-5783-0047-BCF6-34B14C250936}" type="pres">
      <dgm:prSet presAssocID="{3AA58EDE-95CF-DE4E-BC32-0B2CC23C2FF6}" presName="horz2" presStyleCnt="0"/>
      <dgm:spPr/>
    </dgm:pt>
    <dgm:pt modelId="{485157F0-852A-9043-AE09-8E9D4FD67F68}" type="pres">
      <dgm:prSet presAssocID="{3AA58EDE-95CF-DE4E-BC32-0B2CC23C2FF6}" presName="horzSpace2" presStyleCnt="0"/>
      <dgm:spPr/>
    </dgm:pt>
    <dgm:pt modelId="{0A39D3BD-98EC-2B4F-B63E-875C8501FA09}" type="pres">
      <dgm:prSet presAssocID="{3AA58EDE-95CF-DE4E-BC32-0B2CC23C2FF6}" presName="tx2" presStyleLbl="revTx" presStyleIdx="11" presStyleCnt="12"/>
      <dgm:spPr/>
    </dgm:pt>
    <dgm:pt modelId="{438EEE70-A04B-6D49-BAB7-29FF310DCC07}" type="pres">
      <dgm:prSet presAssocID="{3AA58EDE-95CF-DE4E-BC32-0B2CC23C2FF6}" presName="vert2" presStyleCnt="0"/>
      <dgm:spPr/>
    </dgm:pt>
    <dgm:pt modelId="{6A017FF8-5541-DB45-BF92-1A1DA47D6996}" type="pres">
      <dgm:prSet presAssocID="{3AA58EDE-95CF-DE4E-BC32-0B2CC23C2FF6}" presName="thinLine2b" presStyleLbl="callout" presStyleIdx="7" presStyleCnt="8"/>
      <dgm:spPr/>
    </dgm:pt>
    <dgm:pt modelId="{4B2FA14D-1876-B440-BDF6-38CBBE72C74B}" type="pres">
      <dgm:prSet presAssocID="{3AA58EDE-95CF-DE4E-BC32-0B2CC23C2FF6}" presName="vertSpace2b" presStyleCnt="0"/>
      <dgm:spPr/>
    </dgm:pt>
  </dgm:ptLst>
  <dgm:cxnLst>
    <dgm:cxn modelId="{49C5A111-8A7F-8A4A-8542-D7236B8AE357}" type="presOf" srcId="{3AA58EDE-95CF-DE4E-BC32-0B2CC23C2FF6}" destId="{0A39D3BD-98EC-2B4F-B63E-875C8501FA09}" srcOrd="0" destOrd="0" presId="urn:microsoft.com/office/officeart/2008/layout/LinedList"/>
    <dgm:cxn modelId="{56B7BA22-8FC4-5441-BAEB-4804D7B86582}" type="presOf" srcId="{74831E60-83A0-7347-81AA-E32786A6D7A9}" destId="{B6BB8B91-E7D5-8D4D-B7C5-6B97346B8054}" srcOrd="0" destOrd="0" presId="urn:microsoft.com/office/officeart/2008/layout/LinedList"/>
    <dgm:cxn modelId="{9359C641-CEEC-4441-A089-2CFDF55EEE3B}" type="presOf" srcId="{0CA09CD7-1C20-FC4B-867E-B910E1C22CBF}" destId="{5581F508-A419-C645-9F40-4D85677CB8DF}" srcOrd="0" destOrd="0" presId="urn:microsoft.com/office/officeart/2008/layout/LinedList"/>
    <dgm:cxn modelId="{60C33347-24EB-7144-8D22-F5FDA9802876}" type="presOf" srcId="{726B8B0E-E61A-F146-B090-2F055C5705BD}" destId="{5C0B855B-DEFC-A145-87FD-D6B70D510200}" srcOrd="0" destOrd="0" presId="urn:microsoft.com/office/officeart/2008/layout/LinedList"/>
    <dgm:cxn modelId="{82F23A4F-A269-AB42-90BC-BEAC91E434D3}" type="presOf" srcId="{D1321B11-39F3-2C4B-B40F-94FE4A4ADA8F}" destId="{7C401F62-CD3C-DF4A-AAD3-A716B8CED3C4}" srcOrd="0" destOrd="0" presId="urn:microsoft.com/office/officeart/2008/layout/LinedList"/>
    <dgm:cxn modelId="{11181F59-E4BE-084B-8925-ADED931CAF56}" type="presOf" srcId="{BED1F491-37FE-754B-A779-8977E943F41F}" destId="{DD165910-8474-4249-9160-990AB4BCB7E3}" srcOrd="0" destOrd="0" presId="urn:microsoft.com/office/officeart/2008/layout/LinedList"/>
    <dgm:cxn modelId="{A6CC626A-A9D9-1A46-9E52-19F3AE50E94B}" srcId="{0CA09CD7-1C20-FC4B-867E-B910E1C22CBF}" destId="{726B8B0E-E61A-F146-B090-2F055C5705BD}" srcOrd="0" destOrd="0" parTransId="{C6C1DAD0-6522-554C-A059-65B6AF41FB45}" sibTransId="{690E34FB-A2F1-B54F-88C2-769DEF09F20E}"/>
    <dgm:cxn modelId="{B455916A-8604-774E-B424-D6003A9F3BC3}" type="presOf" srcId="{A8DBFC91-396D-174D-9209-282A8C7B98CD}" destId="{27DE7F45-E70C-9742-B78E-4D897FAABAD9}" srcOrd="0" destOrd="0" presId="urn:microsoft.com/office/officeart/2008/layout/LinedList"/>
    <dgm:cxn modelId="{2D638A6E-6D27-5E40-B9F5-58433AF40E22}" type="presOf" srcId="{BC848CEF-732A-7747-A0C1-2F768EBB5CD1}" destId="{D4F7AA03-046E-DA4B-B158-35408D74AD6B}" srcOrd="0" destOrd="0" presId="urn:microsoft.com/office/officeart/2008/layout/LinedList"/>
    <dgm:cxn modelId="{0FB0976F-79A4-424C-8467-421155E237F7}" srcId="{D1321B11-39F3-2C4B-B40F-94FE4A4ADA8F}" destId="{74831E60-83A0-7347-81AA-E32786A6D7A9}" srcOrd="0" destOrd="0" parTransId="{7E0A3728-8861-1F47-BAE6-A3D648744FCF}" sibTransId="{F2E2D7B6-E5C8-D742-A43A-31960C67BC63}"/>
    <dgm:cxn modelId="{7BBF3E71-B502-EE48-9DD2-D7E57C712977}" srcId="{D1321B11-39F3-2C4B-B40F-94FE4A4ADA8F}" destId="{3AA58EDE-95CF-DE4E-BC32-0B2CC23C2FF6}" srcOrd="1" destOrd="0" parTransId="{7387D2C2-DF2C-5B45-A1C8-1BF4CCC784AE}" sibTransId="{BA850510-6CBA-3E41-AE19-D18E5383ED7A}"/>
    <dgm:cxn modelId="{207B9D71-4822-4C4C-8AF4-E02CD57CA34C}" srcId="{8A10ABC4-376F-3F41-B0C5-6C84167BD2BB}" destId="{45921CA6-5F56-0141-BCFF-A0C0B0B67193}" srcOrd="1" destOrd="0" parTransId="{A3B0DB37-044A-C54B-9B62-3394FFCE84D0}" sibTransId="{2513331B-5563-214E-8663-29BADE63ACE5}"/>
    <dgm:cxn modelId="{E99CE38D-6462-E144-8F63-A1F0CBE907DA}" type="presOf" srcId="{B3AE663B-3EB5-0E43-893B-2EDF31444366}" destId="{40DCA47E-C109-3941-A36E-3E23788DCF01}" srcOrd="0" destOrd="0" presId="urn:microsoft.com/office/officeart/2008/layout/LinedList"/>
    <dgm:cxn modelId="{F41EC5A1-6BF8-DB40-8447-6AFF713C3478}" srcId="{8A10ABC4-376F-3F41-B0C5-6C84167BD2BB}" destId="{A8DBFC91-396D-174D-9209-282A8C7B98CD}" srcOrd="0" destOrd="0" parTransId="{E10397EF-7985-3941-8F1C-0866A9E0EC6F}" sibTransId="{C75D7A17-6292-6049-ADD0-0A61DB9D48A6}"/>
    <dgm:cxn modelId="{79B12AA3-5EA9-ED40-B7C8-04B17C38104B}" srcId="{726B8B0E-E61A-F146-B090-2F055C5705BD}" destId="{4BEFA574-A968-1148-B137-245D41506291}" srcOrd="1" destOrd="0" parTransId="{74185CF1-29B2-D643-8753-D8E1121E3841}" sibTransId="{709FA93C-230C-DA45-918C-78D3572FB42F}"/>
    <dgm:cxn modelId="{3D86DBA6-81B5-8C4F-8937-AA6FA8BFFB6A}" srcId="{C5BDB0CD-64FC-514E-B113-CB7A99C4D587}" destId="{B3AE663B-3EB5-0E43-893B-2EDF31444366}" srcOrd="0" destOrd="0" parTransId="{866E9EEE-8585-1043-8294-6665A18F1A93}" sibTransId="{0C8DEBBE-F61E-224D-9465-51FA0610A173}"/>
    <dgm:cxn modelId="{0B79CCAA-6BFD-3944-A2E4-75B45FB47B25}" srcId="{C5BDB0CD-64FC-514E-B113-CB7A99C4D587}" destId="{BC848CEF-732A-7747-A0C1-2F768EBB5CD1}" srcOrd="1" destOrd="0" parTransId="{61FE481A-3263-6848-9DEC-39667DD8900D}" sibTransId="{438B6FC8-1488-9F47-850C-CB6FBA284E1B}"/>
    <dgm:cxn modelId="{50C44BBC-F8CC-5B46-BBCC-CD5F6412D289}" srcId="{0CA09CD7-1C20-FC4B-867E-B910E1C22CBF}" destId="{D1321B11-39F3-2C4B-B40F-94FE4A4ADA8F}" srcOrd="3" destOrd="0" parTransId="{276AB359-8BFC-FA44-B343-6CDD91E5C7DB}" sibTransId="{43DBDC57-1A8E-2A46-BB47-005B8CFB29DD}"/>
    <dgm:cxn modelId="{D50843BD-6B94-9A43-8DED-A4BEDD5103D9}" srcId="{0CA09CD7-1C20-FC4B-867E-B910E1C22CBF}" destId="{8A10ABC4-376F-3F41-B0C5-6C84167BD2BB}" srcOrd="1" destOrd="0" parTransId="{3459433E-5529-3943-999B-D6A8DBB0D782}" sibTransId="{45C29523-5B82-2241-89EC-8701B45BD069}"/>
    <dgm:cxn modelId="{D36CE4BF-AA01-694D-9FE6-84474AA5CA8B}" type="presOf" srcId="{4BEFA574-A968-1148-B137-245D41506291}" destId="{321F9F83-2772-664D-B42E-E92C47AEC9B9}" srcOrd="0" destOrd="0" presId="urn:microsoft.com/office/officeart/2008/layout/LinedList"/>
    <dgm:cxn modelId="{0A82B2C3-CFCA-8B45-A5DC-8B0AD0DABE01}" srcId="{0CA09CD7-1C20-FC4B-867E-B910E1C22CBF}" destId="{C5BDB0CD-64FC-514E-B113-CB7A99C4D587}" srcOrd="2" destOrd="0" parTransId="{AE7E6E9A-4DF2-7541-8A7E-CE5473CD11BE}" sibTransId="{7155454B-713E-8D47-B767-BF084457AA12}"/>
    <dgm:cxn modelId="{C96E6DDC-72D9-184D-82D8-2F98D626D8AD}" type="presOf" srcId="{8A10ABC4-376F-3F41-B0C5-6C84167BD2BB}" destId="{F8FB0729-2868-2547-ABB4-8A77298A7031}" srcOrd="0" destOrd="0" presId="urn:microsoft.com/office/officeart/2008/layout/LinedList"/>
    <dgm:cxn modelId="{A0943FE5-33D1-B644-9265-584B9E30B44A}" type="presOf" srcId="{45921CA6-5F56-0141-BCFF-A0C0B0B67193}" destId="{78542E46-FC8F-D743-BB25-3C8FD0B4B789}" srcOrd="0" destOrd="0" presId="urn:microsoft.com/office/officeart/2008/layout/LinedList"/>
    <dgm:cxn modelId="{3917D2EF-C1E8-8443-A7DF-97ECC8FB342F}" type="presOf" srcId="{C5BDB0CD-64FC-514E-B113-CB7A99C4D587}" destId="{D36C7F39-325F-774E-9E6E-773390B92FD6}" srcOrd="0" destOrd="0" presId="urn:microsoft.com/office/officeart/2008/layout/LinedList"/>
    <dgm:cxn modelId="{9C45D7FD-8380-2D4E-832E-1CFEFAC557F3}" srcId="{726B8B0E-E61A-F146-B090-2F055C5705BD}" destId="{BED1F491-37FE-754B-A779-8977E943F41F}" srcOrd="0" destOrd="0" parTransId="{C4FC1386-03F8-384C-9AFF-23E5974D6A36}" sibTransId="{B8669537-7D13-C445-BC6E-164AB0FB21C9}"/>
    <dgm:cxn modelId="{CA386385-22B9-1C48-8330-8B66C0A90361}" type="presParOf" srcId="{5581F508-A419-C645-9F40-4D85677CB8DF}" destId="{312AE66F-F0F7-D440-B82D-AB277BA1FB3C}" srcOrd="0" destOrd="0" presId="urn:microsoft.com/office/officeart/2008/layout/LinedList"/>
    <dgm:cxn modelId="{1619D7C0-16F6-3040-B696-952A68E2B341}" type="presParOf" srcId="{5581F508-A419-C645-9F40-4D85677CB8DF}" destId="{8B1D3E90-819E-E844-880D-C4D939F5C49F}" srcOrd="1" destOrd="0" presId="urn:microsoft.com/office/officeart/2008/layout/LinedList"/>
    <dgm:cxn modelId="{1B6BC711-8DF1-5B4B-B74D-5FDD634724C8}" type="presParOf" srcId="{8B1D3E90-819E-E844-880D-C4D939F5C49F}" destId="{5C0B855B-DEFC-A145-87FD-D6B70D510200}" srcOrd="0" destOrd="0" presId="urn:microsoft.com/office/officeart/2008/layout/LinedList"/>
    <dgm:cxn modelId="{F69746EC-08F2-3243-89DF-952CE1FDD644}" type="presParOf" srcId="{8B1D3E90-819E-E844-880D-C4D939F5C49F}" destId="{E9862D8E-E7F7-E74C-9B7A-DFB0E6B0CB7E}" srcOrd="1" destOrd="0" presId="urn:microsoft.com/office/officeart/2008/layout/LinedList"/>
    <dgm:cxn modelId="{57411B44-84B6-8042-9639-1EE8EE7BD932}" type="presParOf" srcId="{E9862D8E-E7F7-E74C-9B7A-DFB0E6B0CB7E}" destId="{24BAF107-624B-BA4B-AB34-5A106B3FF13A}" srcOrd="0" destOrd="0" presId="urn:microsoft.com/office/officeart/2008/layout/LinedList"/>
    <dgm:cxn modelId="{C534FED7-2498-2A42-85AC-430AEF55D077}" type="presParOf" srcId="{E9862D8E-E7F7-E74C-9B7A-DFB0E6B0CB7E}" destId="{0EB537F1-35F5-4A46-8C30-57B0CA687E3F}" srcOrd="1" destOrd="0" presId="urn:microsoft.com/office/officeart/2008/layout/LinedList"/>
    <dgm:cxn modelId="{7EA9BD83-FDB4-1341-A5DD-43A8199A6D09}" type="presParOf" srcId="{0EB537F1-35F5-4A46-8C30-57B0CA687E3F}" destId="{86A798A4-61C9-9742-AD18-D7A6EFE4385B}" srcOrd="0" destOrd="0" presId="urn:microsoft.com/office/officeart/2008/layout/LinedList"/>
    <dgm:cxn modelId="{C51BF470-65AB-BD4C-9A2F-E50C539028C7}" type="presParOf" srcId="{0EB537F1-35F5-4A46-8C30-57B0CA687E3F}" destId="{DD165910-8474-4249-9160-990AB4BCB7E3}" srcOrd="1" destOrd="0" presId="urn:microsoft.com/office/officeart/2008/layout/LinedList"/>
    <dgm:cxn modelId="{4645220B-0CAD-904B-B7C0-6AF0F458F894}" type="presParOf" srcId="{0EB537F1-35F5-4A46-8C30-57B0CA687E3F}" destId="{E945DB64-54C2-CF4C-850E-4CC5188E1BB7}" srcOrd="2" destOrd="0" presId="urn:microsoft.com/office/officeart/2008/layout/LinedList"/>
    <dgm:cxn modelId="{ACC52761-6759-BB49-B7EC-E8FDC03DF433}" type="presParOf" srcId="{E9862D8E-E7F7-E74C-9B7A-DFB0E6B0CB7E}" destId="{2B6287B2-BFD5-D546-A5B7-59BF961918D6}" srcOrd="2" destOrd="0" presId="urn:microsoft.com/office/officeart/2008/layout/LinedList"/>
    <dgm:cxn modelId="{B0B61B1E-6FF8-6E41-AF84-C87BBB0D1934}" type="presParOf" srcId="{E9862D8E-E7F7-E74C-9B7A-DFB0E6B0CB7E}" destId="{E4694706-90E4-0A4B-90DD-FF1627ED9002}" srcOrd="3" destOrd="0" presId="urn:microsoft.com/office/officeart/2008/layout/LinedList"/>
    <dgm:cxn modelId="{A1D5812C-52B3-2E4E-A5FF-72CC9A8DC64E}" type="presParOf" srcId="{E9862D8E-E7F7-E74C-9B7A-DFB0E6B0CB7E}" destId="{DAB1F98B-CF67-EC45-99A7-A4FA1E57462D}" srcOrd="4" destOrd="0" presId="urn:microsoft.com/office/officeart/2008/layout/LinedList"/>
    <dgm:cxn modelId="{A1569234-9C51-C543-855E-9AAD0A85D334}" type="presParOf" srcId="{DAB1F98B-CF67-EC45-99A7-A4FA1E57462D}" destId="{61B977D4-3FEE-2949-85FA-6709B7FB9001}" srcOrd="0" destOrd="0" presId="urn:microsoft.com/office/officeart/2008/layout/LinedList"/>
    <dgm:cxn modelId="{09470ABE-EF41-1847-BED1-0E78A473A385}" type="presParOf" srcId="{DAB1F98B-CF67-EC45-99A7-A4FA1E57462D}" destId="{321F9F83-2772-664D-B42E-E92C47AEC9B9}" srcOrd="1" destOrd="0" presId="urn:microsoft.com/office/officeart/2008/layout/LinedList"/>
    <dgm:cxn modelId="{DF84B838-DDFA-EB46-8A11-12A19455985F}" type="presParOf" srcId="{DAB1F98B-CF67-EC45-99A7-A4FA1E57462D}" destId="{3D053F6F-F753-704D-BF39-5802990DFE28}" srcOrd="2" destOrd="0" presId="urn:microsoft.com/office/officeart/2008/layout/LinedList"/>
    <dgm:cxn modelId="{F793BC30-CA42-C54E-8720-806196BDA126}" type="presParOf" srcId="{E9862D8E-E7F7-E74C-9B7A-DFB0E6B0CB7E}" destId="{F153AFE1-25CA-AA47-B09C-2892659DF4AB}" srcOrd="5" destOrd="0" presId="urn:microsoft.com/office/officeart/2008/layout/LinedList"/>
    <dgm:cxn modelId="{588644B1-0591-AE4C-A6F1-2F924A99C4AD}" type="presParOf" srcId="{E9862D8E-E7F7-E74C-9B7A-DFB0E6B0CB7E}" destId="{F7A6F9BF-DCE1-5148-B5B3-5A23D187C787}" srcOrd="6" destOrd="0" presId="urn:microsoft.com/office/officeart/2008/layout/LinedList"/>
    <dgm:cxn modelId="{BB61D21C-50B9-474B-8CDF-326526B3DBE0}" type="presParOf" srcId="{5581F508-A419-C645-9F40-4D85677CB8DF}" destId="{43B5A763-DEDA-F645-B528-A6E894403418}" srcOrd="2" destOrd="0" presId="urn:microsoft.com/office/officeart/2008/layout/LinedList"/>
    <dgm:cxn modelId="{49A44437-88D1-1A47-9608-96C1D805C407}" type="presParOf" srcId="{5581F508-A419-C645-9F40-4D85677CB8DF}" destId="{F34C61B4-2790-A848-B8FF-7668F997B520}" srcOrd="3" destOrd="0" presId="urn:microsoft.com/office/officeart/2008/layout/LinedList"/>
    <dgm:cxn modelId="{AD61D14D-4A2B-054D-A321-4E69532D468B}" type="presParOf" srcId="{F34C61B4-2790-A848-B8FF-7668F997B520}" destId="{F8FB0729-2868-2547-ABB4-8A77298A7031}" srcOrd="0" destOrd="0" presId="urn:microsoft.com/office/officeart/2008/layout/LinedList"/>
    <dgm:cxn modelId="{2E1B11FE-59CA-D846-8D37-4E75387A2DE6}" type="presParOf" srcId="{F34C61B4-2790-A848-B8FF-7668F997B520}" destId="{E17489C3-5148-9845-AD32-2A05EC424947}" srcOrd="1" destOrd="0" presId="urn:microsoft.com/office/officeart/2008/layout/LinedList"/>
    <dgm:cxn modelId="{4E75B2E1-857F-2548-9539-62089FBF4A4E}" type="presParOf" srcId="{E17489C3-5148-9845-AD32-2A05EC424947}" destId="{4DB84CCA-DD15-464D-9AC7-57FF82CBAF56}" srcOrd="0" destOrd="0" presId="urn:microsoft.com/office/officeart/2008/layout/LinedList"/>
    <dgm:cxn modelId="{AA8AC0D9-975A-9147-BA5C-633862F78CBD}" type="presParOf" srcId="{E17489C3-5148-9845-AD32-2A05EC424947}" destId="{DC57B075-7A23-F14B-81B3-280CC27F7EBA}" srcOrd="1" destOrd="0" presId="urn:microsoft.com/office/officeart/2008/layout/LinedList"/>
    <dgm:cxn modelId="{1A44B62E-DE9B-D440-B551-A2A1E5DDC7CD}" type="presParOf" srcId="{DC57B075-7A23-F14B-81B3-280CC27F7EBA}" destId="{035691E1-AF9B-6C44-991D-5A7D00B8BA9B}" srcOrd="0" destOrd="0" presId="urn:microsoft.com/office/officeart/2008/layout/LinedList"/>
    <dgm:cxn modelId="{65A4658D-FFDF-1247-A150-C1087AE5F849}" type="presParOf" srcId="{DC57B075-7A23-F14B-81B3-280CC27F7EBA}" destId="{27DE7F45-E70C-9742-B78E-4D897FAABAD9}" srcOrd="1" destOrd="0" presId="urn:microsoft.com/office/officeart/2008/layout/LinedList"/>
    <dgm:cxn modelId="{469EF2ED-11AC-1148-8E67-C62F2BB5D7E5}" type="presParOf" srcId="{DC57B075-7A23-F14B-81B3-280CC27F7EBA}" destId="{84A36F00-CF48-C74D-923F-90CA58D0BECC}" srcOrd="2" destOrd="0" presId="urn:microsoft.com/office/officeart/2008/layout/LinedList"/>
    <dgm:cxn modelId="{CC70CC35-19B6-254B-A7B4-85412F97CCAB}" type="presParOf" srcId="{E17489C3-5148-9845-AD32-2A05EC424947}" destId="{6FED0F2D-CEF2-F74C-9165-8E2A6E40A52C}" srcOrd="2" destOrd="0" presId="urn:microsoft.com/office/officeart/2008/layout/LinedList"/>
    <dgm:cxn modelId="{2C0CAEA0-6429-694B-BB26-59107613020D}" type="presParOf" srcId="{E17489C3-5148-9845-AD32-2A05EC424947}" destId="{8FB6EA6F-385C-3D4A-862F-332F720C5BA3}" srcOrd="3" destOrd="0" presId="urn:microsoft.com/office/officeart/2008/layout/LinedList"/>
    <dgm:cxn modelId="{D163CACE-C6F8-0448-BE4F-BC7E324D5F67}" type="presParOf" srcId="{E17489C3-5148-9845-AD32-2A05EC424947}" destId="{070B12CB-59C8-3444-BCAE-CDB844A10678}" srcOrd="4" destOrd="0" presId="urn:microsoft.com/office/officeart/2008/layout/LinedList"/>
    <dgm:cxn modelId="{792F163B-1509-ED41-8D01-F178FC06C5B8}" type="presParOf" srcId="{070B12CB-59C8-3444-BCAE-CDB844A10678}" destId="{3F8A4F2D-F62F-5046-964F-42F373164F17}" srcOrd="0" destOrd="0" presId="urn:microsoft.com/office/officeart/2008/layout/LinedList"/>
    <dgm:cxn modelId="{B672973D-B14C-B24E-B54E-99DA0705F720}" type="presParOf" srcId="{070B12CB-59C8-3444-BCAE-CDB844A10678}" destId="{78542E46-FC8F-D743-BB25-3C8FD0B4B789}" srcOrd="1" destOrd="0" presId="urn:microsoft.com/office/officeart/2008/layout/LinedList"/>
    <dgm:cxn modelId="{BF027FE3-75A2-B44F-B571-14454D1D18BD}" type="presParOf" srcId="{070B12CB-59C8-3444-BCAE-CDB844A10678}" destId="{733B61C9-BDA0-1D46-A901-8298AEE5B258}" srcOrd="2" destOrd="0" presId="urn:microsoft.com/office/officeart/2008/layout/LinedList"/>
    <dgm:cxn modelId="{4DC1C355-2DD4-1E4A-857C-90D57D389064}" type="presParOf" srcId="{E17489C3-5148-9845-AD32-2A05EC424947}" destId="{53095649-73C0-924C-92FB-FD1EF967CB24}" srcOrd="5" destOrd="0" presId="urn:microsoft.com/office/officeart/2008/layout/LinedList"/>
    <dgm:cxn modelId="{D6757856-88AC-424C-B5FB-B2CDDB49A684}" type="presParOf" srcId="{E17489C3-5148-9845-AD32-2A05EC424947}" destId="{D292C31C-02CA-F743-B457-D6A947236685}" srcOrd="6" destOrd="0" presId="urn:microsoft.com/office/officeart/2008/layout/LinedList"/>
    <dgm:cxn modelId="{A48F410D-3017-7248-9625-6E35EB1D1F70}" type="presParOf" srcId="{5581F508-A419-C645-9F40-4D85677CB8DF}" destId="{3651A936-553D-5940-A777-AB1D0A8C505C}" srcOrd="4" destOrd="0" presId="urn:microsoft.com/office/officeart/2008/layout/LinedList"/>
    <dgm:cxn modelId="{3F536C8E-44E2-594B-9B5B-EA5A1CE68649}" type="presParOf" srcId="{5581F508-A419-C645-9F40-4D85677CB8DF}" destId="{AD3D9D4C-8592-A544-9F89-7BEE6A6B2F56}" srcOrd="5" destOrd="0" presId="urn:microsoft.com/office/officeart/2008/layout/LinedList"/>
    <dgm:cxn modelId="{14F36670-1BBA-8348-AD03-3423350DE08B}" type="presParOf" srcId="{AD3D9D4C-8592-A544-9F89-7BEE6A6B2F56}" destId="{D36C7F39-325F-774E-9E6E-773390B92FD6}" srcOrd="0" destOrd="0" presId="urn:microsoft.com/office/officeart/2008/layout/LinedList"/>
    <dgm:cxn modelId="{DA775C70-FF93-B64F-B8D3-50C7CF5C40DA}" type="presParOf" srcId="{AD3D9D4C-8592-A544-9F89-7BEE6A6B2F56}" destId="{5DCD2120-966C-F94A-83F8-769A1985D36B}" srcOrd="1" destOrd="0" presId="urn:microsoft.com/office/officeart/2008/layout/LinedList"/>
    <dgm:cxn modelId="{29099838-F874-2546-AD24-F850A1298018}" type="presParOf" srcId="{5DCD2120-966C-F94A-83F8-769A1985D36B}" destId="{17DF4045-0035-5A40-8396-EADFF1328940}" srcOrd="0" destOrd="0" presId="urn:microsoft.com/office/officeart/2008/layout/LinedList"/>
    <dgm:cxn modelId="{D9BDABE8-066D-2845-9927-E6991F32BDCF}" type="presParOf" srcId="{5DCD2120-966C-F94A-83F8-769A1985D36B}" destId="{4ABA8876-8672-4A48-86A0-4C7DA01958D1}" srcOrd="1" destOrd="0" presId="urn:microsoft.com/office/officeart/2008/layout/LinedList"/>
    <dgm:cxn modelId="{F1AFBA05-9731-C649-B98F-0613B938CD1C}" type="presParOf" srcId="{4ABA8876-8672-4A48-86A0-4C7DA01958D1}" destId="{C7E21658-1DB3-6944-8663-BBD007C74AA9}" srcOrd="0" destOrd="0" presId="urn:microsoft.com/office/officeart/2008/layout/LinedList"/>
    <dgm:cxn modelId="{FFA315DD-B720-414B-A56E-C006D010CEBA}" type="presParOf" srcId="{4ABA8876-8672-4A48-86A0-4C7DA01958D1}" destId="{40DCA47E-C109-3941-A36E-3E23788DCF01}" srcOrd="1" destOrd="0" presId="urn:microsoft.com/office/officeart/2008/layout/LinedList"/>
    <dgm:cxn modelId="{FA2DFE54-B9EF-8B49-BABE-B82116137941}" type="presParOf" srcId="{4ABA8876-8672-4A48-86A0-4C7DA01958D1}" destId="{50C63657-E0B7-1B4A-9C93-519343A3036D}" srcOrd="2" destOrd="0" presId="urn:microsoft.com/office/officeart/2008/layout/LinedList"/>
    <dgm:cxn modelId="{70E29319-ECF5-2041-9AC2-B616BFD52890}" type="presParOf" srcId="{5DCD2120-966C-F94A-83F8-769A1985D36B}" destId="{FE1E60B0-AC81-CA48-BEED-D49A5FC5C318}" srcOrd="2" destOrd="0" presId="urn:microsoft.com/office/officeart/2008/layout/LinedList"/>
    <dgm:cxn modelId="{E85993D5-5B52-BC4F-A31C-897FAD3E1465}" type="presParOf" srcId="{5DCD2120-966C-F94A-83F8-769A1985D36B}" destId="{008FBD89-1C2F-4D4B-99E1-67E38A852CB1}" srcOrd="3" destOrd="0" presId="urn:microsoft.com/office/officeart/2008/layout/LinedList"/>
    <dgm:cxn modelId="{97888553-43F0-BF42-877F-8290DA30E9F1}" type="presParOf" srcId="{5DCD2120-966C-F94A-83F8-769A1985D36B}" destId="{994200BF-EB97-BF49-9B5E-05A67D222109}" srcOrd="4" destOrd="0" presId="urn:microsoft.com/office/officeart/2008/layout/LinedList"/>
    <dgm:cxn modelId="{41AF2B18-5B1F-304D-890E-80C834998295}" type="presParOf" srcId="{994200BF-EB97-BF49-9B5E-05A67D222109}" destId="{57428928-1769-7C49-ABCD-F5EEBF2BE868}" srcOrd="0" destOrd="0" presId="urn:microsoft.com/office/officeart/2008/layout/LinedList"/>
    <dgm:cxn modelId="{9C59056B-1E7A-ED46-821B-5D0BBFA2D67F}" type="presParOf" srcId="{994200BF-EB97-BF49-9B5E-05A67D222109}" destId="{D4F7AA03-046E-DA4B-B158-35408D74AD6B}" srcOrd="1" destOrd="0" presId="urn:microsoft.com/office/officeart/2008/layout/LinedList"/>
    <dgm:cxn modelId="{A4D198D7-67D6-F042-95F8-6140A95EF763}" type="presParOf" srcId="{994200BF-EB97-BF49-9B5E-05A67D222109}" destId="{7B94B767-D264-BE46-8E39-B325DF259972}" srcOrd="2" destOrd="0" presId="urn:microsoft.com/office/officeart/2008/layout/LinedList"/>
    <dgm:cxn modelId="{D87E2A26-BFA1-0740-B165-181EBA4860A3}" type="presParOf" srcId="{5DCD2120-966C-F94A-83F8-769A1985D36B}" destId="{29DCE9AF-5E45-424F-8903-9771A7F023BC}" srcOrd="5" destOrd="0" presId="urn:microsoft.com/office/officeart/2008/layout/LinedList"/>
    <dgm:cxn modelId="{FAE858D4-C7CA-4D4F-B021-3A2229D375AC}" type="presParOf" srcId="{5DCD2120-966C-F94A-83F8-769A1985D36B}" destId="{45D3001A-FA31-CD49-9816-C47D34D31694}" srcOrd="6" destOrd="0" presId="urn:microsoft.com/office/officeart/2008/layout/LinedList"/>
    <dgm:cxn modelId="{57DC07A7-3D44-FD4D-BCFC-DF56A44DC0AF}" type="presParOf" srcId="{5581F508-A419-C645-9F40-4D85677CB8DF}" destId="{BAEB7C50-A678-9A4A-BC52-ACAC3B63A256}" srcOrd="6" destOrd="0" presId="urn:microsoft.com/office/officeart/2008/layout/LinedList"/>
    <dgm:cxn modelId="{53DE246A-F854-2B44-934F-D513E033BDDF}" type="presParOf" srcId="{5581F508-A419-C645-9F40-4D85677CB8DF}" destId="{DAEC3F2D-8CBF-414D-9463-A38C93139928}" srcOrd="7" destOrd="0" presId="urn:microsoft.com/office/officeart/2008/layout/LinedList"/>
    <dgm:cxn modelId="{3820AAE3-70FE-1C42-B4DD-D8312A061317}" type="presParOf" srcId="{DAEC3F2D-8CBF-414D-9463-A38C93139928}" destId="{7C401F62-CD3C-DF4A-AAD3-A716B8CED3C4}" srcOrd="0" destOrd="0" presId="urn:microsoft.com/office/officeart/2008/layout/LinedList"/>
    <dgm:cxn modelId="{7F5A45A6-9B86-9E40-A0DA-5FFBDA45FEAF}" type="presParOf" srcId="{DAEC3F2D-8CBF-414D-9463-A38C93139928}" destId="{E160AA35-5E92-F441-8223-47E0842719A7}" srcOrd="1" destOrd="0" presId="urn:microsoft.com/office/officeart/2008/layout/LinedList"/>
    <dgm:cxn modelId="{67433083-7D10-E949-802D-82BF8788128A}" type="presParOf" srcId="{E160AA35-5E92-F441-8223-47E0842719A7}" destId="{67180864-5666-674A-BDE8-33325CBBEE98}" srcOrd="0" destOrd="0" presId="urn:microsoft.com/office/officeart/2008/layout/LinedList"/>
    <dgm:cxn modelId="{406A7591-B23B-CB48-9AAF-05D754161727}" type="presParOf" srcId="{E160AA35-5E92-F441-8223-47E0842719A7}" destId="{CE806FEB-FD76-F841-944A-9AB772CAE173}" srcOrd="1" destOrd="0" presId="urn:microsoft.com/office/officeart/2008/layout/LinedList"/>
    <dgm:cxn modelId="{60ED5698-0F3C-8D44-AFA6-14D8D5DBD625}" type="presParOf" srcId="{CE806FEB-FD76-F841-944A-9AB772CAE173}" destId="{05CE9DD5-00AB-934B-A6FD-345D14EBB1B1}" srcOrd="0" destOrd="0" presId="urn:microsoft.com/office/officeart/2008/layout/LinedList"/>
    <dgm:cxn modelId="{35FBEE40-FF98-3742-8C80-FA9378A14E21}" type="presParOf" srcId="{CE806FEB-FD76-F841-944A-9AB772CAE173}" destId="{B6BB8B91-E7D5-8D4D-B7C5-6B97346B8054}" srcOrd="1" destOrd="0" presId="urn:microsoft.com/office/officeart/2008/layout/LinedList"/>
    <dgm:cxn modelId="{91538E1E-0EAB-9241-8A64-0E17485D5325}" type="presParOf" srcId="{CE806FEB-FD76-F841-944A-9AB772CAE173}" destId="{DF73A2DE-5DCF-684E-AC98-519FA466719A}" srcOrd="2" destOrd="0" presId="urn:microsoft.com/office/officeart/2008/layout/LinedList"/>
    <dgm:cxn modelId="{0C31727B-A034-8A4D-954B-245575DB7406}" type="presParOf" srcId="{E160AA35-5E92-F441-8223-47E0842719A7}" destId="{C25FF8A7-858B-0041-8C57-578BE4BFBDCB}" srcOrd="2" destOrd="0" presId="urn:microsoft.com/office/officeart/2008/layout/LinedList"/>
    <dgm:cxn modelId="{F99D8330-CD31-5D46-9F03-1DBAF27341DA}" type="presParOf" srcId="{E160AA35-5E92-F441-8223-47E0842719A7}" destId="{6F0B0CDD-6E8E-0A43-9C47-9CB055065331}" srcOrd="3" destOrd="0" presId="urn:microsoft.com/office/officeart/2008/layout/LinedList"/>
    <dgm:cxn modelId="{25F69DC3-6B25-0E47-9585-7C87DDD6F831}" type="presParOf" srcId="{E160AA35-5E92-F441-8223-47E0842719A7}" destId="{DFE399C6-5783-0047-BCF6-34B14C250936}" srcOrd="4" destOrd="0" presId="urn:microsoft.com/office/officeart/2008/layout/LinedList"/>
    <dgm:cxn modelId="{7A15B698-1ADA-C54C-95F5-9F50FC822BFB}" type="presParOf" srcId="{DFE399C6-5783-0047-BCF6-34B14C250936}" destId="{485157F0-852A-9043-AE09-8E9D4FD67F68}" srcOrd="0" destOrd="0" presId="urn:microsoft.com/office/officeart/2008/layout/LinedList"/>
    <dgm:cxn modelId="{3C8D5D6A-89F4-464C-BE56-C42E9DEB721F}" type="presParOf" srcId="{DFE399C6-5783-0047-BCF6-34B14C250936}" destId="{0A39D3BD-98EC-2B4F-B63E-875C8501FA09}" srcOrd="1" destOrd="0" presId="urn:microsoft.com/office/officeart/2008/layout/LinedList"/>
    <dgm:cxn modelId="{8ABB657F-7924-7A42-9D1D-DF5071A69EF5}" type="presParOf" srcId="{DFE399C6-5783-0047-BCF6-34B14C250936}" destId="{438EEE70-A04B-6D49-BAB7-29FF310DCC07}" srcOrd="2" destOrd="0" presId="urn:microsoft.com/office/officeart/2008/layout/LinedList"/>
    <dgm:cxn modelId="{F9D3A5C7-8181-644E-B81E-E80AB3B35640}" type="presParOf" srcId="{E160AA35-5E92-F441-8223-47E0842719A7}" destId="{6A017FF8-5541-DB45-BF92-1A1DA47D6996}" srcOrd="5" destOrd="0" presId="urn:microsoft.com/office/officeart/2008/layout/LinedList"/>
    <dgm:cxn modelId="{364EE75E-3FC3-8F4E-9027-7E9076E6DCAB}" type="presParOf" srcId="{E160AA35-5E92-F441-8223-47E0842719A7}" destId="{4B2FA14D-1876-B440-BDF6-38CBBE72C74B}" srcOrd="6"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1C200F-5432-EC4D-8F8F-05EC1EC2387D}">
      <dsp:nvSpPr>
        <dsp:cNvPr id="0" name=""/>
        <dsp:cNvSpPr/>
      </dsp:nvSpPr>
      <dsp:spPr>
        <a:xfrm>
          <a:off x="98011" y="5598"/>
          <a:ext cx="2047112" cy="2047112"/>
        </a:xfrm>
        <a:prstGeom prst="ellipse">
          <a:avLst/>
        </a:prstGeom>
        <a:solidFill>
          <a:schemeClr val="accent5">
            <a:lumMod val="7500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1"/>
              </a:solidFill>
            </a:rPr>
            <a:t>Legal Argument Mining</a:t>
          </a:r>
        </a:p>
      </dsp:txBody>
      <dsp:txXfrm>
        <a:off x="383869" y="246997"/>
        <a:ext cx="1180317" cy="1564315"/>
      </dsp:txXfrm>
    </dsp:sp>
    <dsp:sp modelId="{B4C82728-FA28-3545-B6D9-28D84C72024B}">
      <dsp:nvSpPr>
        <dsp:cNvPr id="0" name=""/>
        <dsp:cNvSpPr/>
      </dsp:nvSpPr>
      <dsp:spPr>
        <a:xfrm>
          <a:off x="1573407" y="5598"/>
          <a:ext cx="2047112" cy="2047112"/>
        </a:xfrm>
        <a:prstGeom prst="ellipse">
          <a:avLst/>
        </a:prstGeom>
        <a:solidFill>
          <a:srgbClr val="FFFF0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1"/>
              </a:solidFill>
            </a:rPr>
            <a:t>Extractive Question Answering</a:t>
          </a:r>
        </a:p>
      </dsp:txBody>
      <dsp:txXfrm>
        <a:off x="2154345" y="246997"/>
        <a:ext cx="1180317" cy="15643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1C200F-5432-EC4D-8F8F-05EC1EC2387D}">
      <dsp:nvSpPr>
        <dsp:cNvPr id="0" name=""/>
        <dsp:cNvSpPr/>
      </dsp:nvSpPr>
      <dsp:spPr>
        <a:xfrm>
          <a:off x="98011" y="5598"/>
          <a:ext cx="2047112" cy="2047112"/>
        </a:xfrm>
        <a:prstGeom prst="ellipse">
          <a:avLst/>
        </a:prstGeom>
        <a:solidFill>
          <a:schemeClr val="accent5">
            <a:lumMod val="7500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1"/>
              </a:solidFill>
            </a:rPr>
            <a:t>Legal Argument Mining</a:t>
          </a:r>
        </a:p>
      </dsp:txBody>
      <dsp:txXfrm>
        <a:off x="383869" y="246997"/>
        <a:ext cx="1180317" cy="1564315"/>
      </dsp:txXfrm>
    </dsp:sp>
    <dsp:sp modelId="{B4C82728-FA28-3545-B6D9-28D84C72024B}">
      <dsp:nvSpPr>
        <dsp:cNvPr id="0" name=""/>
        <dsp:cNvSpPr/>
      </dsp:nvSpPr>
      <dsp:spPr>
        <a:xfrm>
          <a:off x="1573407" y="5598"/>
          <a:ext cx="2047112" cy="2047112"/>
        </a:xfrm>
        <a:prstGeom prst="ellipse">
          <a:avLst/>
        </a:prstGeom>
        <a:solidFill>
          <a:srgbClr val="FFFF0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1"/>
              </a:solidFill>
            </a:rPr>
            <a:t>Extractive Question Answering</a:t>
          </a:r>
        </a:p>
      </dsp:txBody>
      <dsp:txXfrm>
        <a:off x="2154345" y="246997"/>
        <a:ext cx="1180317" cy="15643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1C200F-5432-EC4D-8F8F-05EC1EC2387D}">
      <dsp:nvSpPr>
        <dsp:cNvPr id="0" name=""/>
        <dsp:cNvSpPr/>
      </dsp:nvSpPr>
      <dsp:spPr>
        <a:xfrm>
          <a:off x="98011" y="5598"/>
          <a:ext cx="2047112" cy="2047112"/>
        </a:xfrm>
        <a:prstGeom prst="ellipse">
          <a:avLst/>
        </a:prstGeom>
        <a:solidFill>
          <a:schemeClr val="accent5">
            <a:lumMod val="7500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1"/>
              </a:solidFill>
            </a:rPr>
            <a:t>Legal Argument Mining</a:t>
          </a:r>
        </a:p>
      </dsp:txBody>
      <dsp:txXfrm>
        <a:off x="383869" y="246997"/>
        <a:ext cx="1180317" cy="1564315"/>
      </dsp:txXfrm>
    </dsp:sp>
    <dsp:sp modelId="{B4C82728-FA28-3545-B6D9-28D84C72024B}">
      <dsp:nvSpPr>
        <dsp:cNvPr id="0" name=""/>
        <dsp:cNvSpPr/>
      </dsp:nvSpPr>
      <dsp:spPr>
        <a:xfrm>
          <a:off x="1573407" y="5598"/>
          <a:ext cx="2047112" cy="2047112"/>
        </a:xfrm>
        <a:prstGeom prst="ellipse">
          <a:avLst/>
        </a:prstGeom>
        <a:solidFill>
          <a:srgbClr val="FFFF0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1"/>
              </a:solidFill>
            </a:rPr>
            <a:t>Extractive Question Answering</a:t>
          </a:r>
        </a:p>
      </dsp:txBody>
      <dsp:txXfrm>
        <a:off x="2154345" y="246997"/>
        <a:ext cx="1180317" cy="15643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1C200F-5432-EC4D-8F8F-05EC1EC2387D}">
      <dsp:nvSpPr>
        <dsp:cNvPr id="0" name=""/>
        <dsp:cNvSpPr/>
      </dsp:nvSpPr>
      <dsp:spPr>
        <a:xfrm>
          <a:off x="98011" y="5598"/>
          <a:ext cx="2047112" cy="2047112"/>
        </a:xfrm>
        <a:prstGeom prst="ellipse">
          <a:avLst/>
        </a:prstGeom>
        <a:solidFill>
          <a:schemeClr val="accent5">
            <a:lumMod val="7500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1"/>
              </a:solidFill>
            </a:rPr>
            <a:t>Legal Argument Mining</a:t>
          </a:r>
        </a:p>
      </dsp:txBody>
      <dsp:txXfrm>
        <a:off x="383869" y="246997"/>
        <a:ext cx="1180317" cy="1564315"/>
      </dsp:txXfrm>
    </dsp:sp>
    <dsp:sp modelId="{B4C82728-FA28-3545-B6D9-28D84C72024B}">
      <dsp:nvSpPr>
        <dsp:cNvPr id="0" name=""/>
        <dsp:cNvSpPr/>
      </dsp:nvSpPr>
      <dsp:spPr>
        <a:xfrm>
          <a:off x="1573407" y="5598"/>
          <a:ext cx="2047112" cy="2047112"/>
        </a:xfrm>
        <a:prstGeom prst="ellipse">
          <a:avLst/>
        </a:prstGeom>
        <a:solidFill>
          <a:srgbClr val="FFFF0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1"/>
              </a:solidFill>
            </a:rPr>
            <a:t>Extractive Question Answering</a:t>
          </a:r>
        </a:p>
      </dsp:txBody>
      <dsp:txXfrm>
        <a:off x="2154345" y="246997"/>
        <a:ext cx="1180317" cy="15643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90F73D-97C5-0B46-8813-7E4DF9634E05}">
      <dsp:nvSpPr>
        <dsp:cNvPr id="0" name=""/>
        <dsp:cNvSpPr/>
      </dsp:nvSpPr>
      <dsp:spPr>
        <a:xfrm>
          <a:off x="3393" y="810833"/>
          <a:ext cx="2018339" cy="2442333"/>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Data Collection: </a:t>
          </a:r>
        </a:p>
        <a:p>
          <a:pPr marL="0" lvl="0" indent="0" algn="ctr" defTabSz="666750">
            <a:lnSpc>
              <a:spcPct val="90000"/>
            </a:lnSpc>
            <a:spcBef>
              <a:spcPct val="0"/>
            </a:spcBef>
            <a:spcAft>
              <a:spcPct val="35000"/>
            </a:spcAft>
            <a:buNone/>
          </a:pPr>
          <a:r>
            <a:rPr lang="en-US" sz="1500" kern="1200" dirty="0"/>
            <a:t>We scraped all of the publicly available merger &amp; acquisition decisions from TCA’s website (4552 decisions)</a:t>
          </a:r>
        </a:p>
      </dsp:txBody>
      <dsp:txXfrm>
        <a:off x="62508" y="869948"/>
        <a:ext cx="1900109" cy="2324103"/>
      </dsp:txXfrm>
    </dsp:sp>
    <dsp:sp modelId="{8651280B-6502-844F-9A15-108A0A9BC69E}">
      <dsp:nvSpPr>
        <dsp:cNvPr id="0" name=""/>
        <dsp:cNvSpPr/>
      </dsp:nvSpPr>
      <dsp:spPr>
        <a:xfrm>
          <a:off x="2223566" y="1781725"/>
          <a:ext cx="427887" cy="50054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2223566" y="1881835"/>
        <a:ext cx="299521" cy="300328"/>
      </dsp:txXfrm>
    </dsp:sp>
    <dsp:sp modelId="{C55A7417-DB87-F74D-A82D-397DB91698DA}">
      <dsp:nvSpPr>
        <dsp:cNvPr id="0" name=""/>
        <dsp:cNvSpPr/>
      </dsp:nvSpPr>
      <dsp:spPr>
        <a:xfrm>
          <a:off x="2829068" y="810833"/>
          <a:ext cx="2352637" cy="2442333"/>
        </a:xfrm>
        <a:prstGeom prst="roundRect">
          <a:avLst>
            <a:gd name="adj" fmla="val 10000"/>
          </a:avLst>
        </a:prstGeom>
        <a:solidFill>
          <a:schemeClr val="accent4">
            <a:hueOff val="0"/>
            <a:satOff val="50000"/>
            <a:lumOff val="304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Keyword Filtering: </a:t>
          </a:r>
        </a:p>
        <a:p>
          <a:pPr marL="0" lvl="0" indent="0" algn="ctr" defTabSz="666750">
            <a:lnSpc>
              <a:spcPct val="90000"/>
            </a:lnSpc>
            <a:spcBef>
              <a:spcPct val="0"/>
            </a:spcBef>
            <a:spcAft>
              <a:spcPct val="35000"/>
            </a:spcAft>
            <a:buNone/>
          </a:pPr>
          <a:r>
            <a:rPr lang="en-US" sz="1500" b="0" kern="1200" dirty="0"/>
            <a:t>To isolate relevant cases, we filtered this collection to only include that contained the specific legal term “technology undertaking” (152 decisions)</a:t>
          </a:r>
        </a:p>
      </dsp:txBody>
      <dsp:txXfrm>
        <a:off x="2897974" y="879739"/>
        <a:ext cx="2214825" cy="2304521"/>
      </dsp:txXfrm>
    </dsp:sp>
    <dsp:sp modelId="{DB6321B4-BA29-C949-86C8-9DE85B47289B}">
      <dsp:nvSpPr>
        <dsp:cNvPr id="0" name=""/>
        <dsp:cNvSpPr/>
      </dsp:nvSpPr>
      <dsp:spPr>
        <a:xfrm>
          <a:off x="5383539" y="1781725"/>
          <a:ext cx="427887" cy="500548"/>
        </a:xfrm>
        <a:prstGeom prst="rightArrow">
          <a:avLst>
            <a:gd name="adj1" fmla="val 60000"/>
            <a:gd name="adj2" fmla="val 50000"/>
          </a:avLst>
        </a:prstGeom>
        <a:solidFill>
          <a:schemeClr val="accent4">
            <a:hueOff val="0"/>
            <a:satOff val="100000"/>
            <a:lumOff val="607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5383539" y="1881835"/>
        <a:ext cx="299521" cy="300328"/>
      </dsp:txXfrm>
    </dsp:sp>
    <dsp:sp modelId="{C0536F9C-6EDD-754D-A735-AD257ED1E9DB}">
      <dsp:nvSpPr>
        <dsp:cNvPr id="0" name=""/>
        <dsp:cNvSpPr/>
      </dsp:nvSpPr>
      <dsp:spPr>
        <a:xfrm>
          <a:off x="5989041" y="810833"/>
          <a:ext cx="2018339" cy="2442333"/>
        </a:xfrm>
        <a:prstGeom prst="roundRect">
          <a:avLst>
            <a:gd name="adj" fmla="val 10000"/>
          </a:avLst>
        </a:prstGeom>
        <a:solidFill>
          <a:schemeClr val="accent4">
            <a:hueOff val="0"/>
            <a:satOff val="100000"/>
            <a:lumOff val="60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Content Extraction:</a:t>
          </a:r>
        </a:p>
        <a:p>
          <a:pPr marL="0" lvl="0" indent="0" algn="ctr" defTabSz="666750">
            <a:lnSpc>
              <a:spcPct val="90000"/>
            </a:lnSpc>
            <a:spcBef>
              <a:spcPct val="0"/>
            </a:spcBef>
            <a:spcAft>
              <a:spcPct val="35000"/>
            </a:spcAft>
            <a:buNone/>
          </a:pPr>
          <a:r>
            <a:rPr lang="en-US" sz="1500" b="0" kern="1200" dirty="0"/>
            <a:t>From these 152 decisions, we extracted only the core analytical section known as the “Examination and Evaluation” section.</a:t>
          </a:r>
        </a:p>
      </dsp:txBody>
      <dsp:txXfrm>
        <a:off x="6048156" y="869948"/>
        <a:ext cx="1900109" cy="23241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968C77-E854-0D44-AC2D-C710FD37E50D}">
      <dsp:nvSpPr>
        <dsp:cNvPr id="0" name=""/>
        <dsp:cNvSpPr/>
      </dsp:nvSpPr>
      <dsp:spPr>
        <a:xfrm>
          <a:off x="0" y="404440"/>
          <a:ext cx="8369300" cy="10583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9551" tIns="249936" rIns="649551"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dirty="0"/>
            <a:t>Base Model:</a:t>
          </a:r>
          <a:r>
            <a:rPr lang="en-US" sz="1200" b="0" i="0" kern="1200" dirty="0"/>
            <a:t> </a:t>
          </a:r>
          <a:r>
            <a:rPr lang="en-US" sz="1200" b="0" i="0" kern="1200" dirty="0" err="1"/>
            <a:t>dbmdz</a:t>
          </a:r>
          <a:r>
            <a:rPr lang="en-US" sz="1200" b="0" i="0" kern="1200" dirty="0"/>
            <a:t>/</a:t>
          </a:r>
          <a:r>
            <a:rPr lang="en-US" sz="1200" b="0" i="0" kern="1200" dirty="0" err="1"/>
            <a:t>bert</a:t>
          </a:r>
          <a:r>
            <a:rPr lang="en-US" sz="1200" b="0" i="0" kern="1200" dirty="0"/>
            <a:t>-base-</a:t>
          </a:r>
          <a:r>
            <a:rPr lang="en-US" sz="1200" b="0" i="0" kern="1200" dirty="0" err="1"/>
            <a:t>turkish</a:t>
          </a:r>
          <a:r>
            <a:rPr lang="en-US" sz="1200" b="0" i="0" kern="1200" dirty="0"/>
            <a:t>-cased (BERT-base architecture).</a:t>
          </a: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t>Task Formulation:</a:t>
          </a:r>
          <a:r>
            <a:rPr lang="en-US" sz="1200" b="0" i="0" kern="1200"/>
            <a:t> Extractive Question Answering (SQuAD format).</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dirty="0"/>
            <a:t>The model predicts the start and end token indices of the answer span.</a:t>
          </a:r>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dirty="0"/>
            <a:t>Framework:</a:t>
          </a:r>
          <a:r>
            <a:rPr lang="en-US" sz="1200" b="0" i="0" kern="1200" dirty="0"/>
            <a:t> </a:t>
          </a:r>
          <a:r>
            <a:rPr lang="en-US" sz="1200" b="0" i="0" kern="1200" dirty="0" err="1"/>
            <a:t>HuggingFace</a:t>
          </a:r>
          <a:r>
            <a:rPr lang="en-US" sz="1200" b="0" i="0" kern="1200" dirty="0"/>
            <a:t> transformers and datasets libraries.</a:t>
          </a:r>
        </a:p>
      </dsp:txBody>
      <dsp:txXfrm>
        <a:off x="0" y="404440"/>
        <a:ext cx="8369300" cy="1058399"/>
      </dsp:txXfrm>
    </dsp:sp>
    <dsp:sp modelId="{F5964186-C30A-4A48-B7FD-8F7E335C56FE}">
      <dsp:nvSpPr>
        <dsp:cNvPr id="0" name=""/>
        <dsp:cNvSpPr/>
      </dsp:nvSpPr>
      <dsp:spPr>
        <a:xfrm>
          <a:off x="418465" y="227320"/>
          <a:ext cx="5858510" cy="354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1438" tIns="0" rIns="221438" bIns="0" numCol="1" spcCol="1270" anchor="ctr" anchorCtr="0">
          <a:noAutofit/>
        </a:bodyPr>
        <a:lstStyle/>
        <a:p>
          <a:pPr marL="0" lvl="0" indent="0" algn="l" defTabSz="533400">
            <a:lnSpc>
              <a:spcPct val="90000"/>
            </a:lnSpc>
            <a:spcBef>
              <a:spcPct val="0"/>
            </a:spcBef>
            <a:spcAft>
              <a:spcPct val="35000"/>
            </a:spcAft>
            <a:buNone/>
          </a:pPr>
          <a:r>
            <a:rPr lang="en-US" sz="1200" kern="1200" dirty="0"/>
            <a:t>Core Experimental Design</a:t>
          </a:r>
        </a:p>
      </dsp:txBody>
      <dsp:txXfrm>
        <a:off x="435758" y="244613"/>
        <a:ext cx="5823924" cy="319654"/>
      </dsp:txXfrm>
    </dsp:sp>
    <dsp:sp modelId="{FC90DECC-913D-0E47-A916-4FB8B5D76822}">
      <dsp:nvSpPr>
        <dsp:cNvPr id="0" name=""/>
        <dsp:cNvSpPr/>
      </dsp:nvSpPr>
      <dsp:spPr>
        <a:xfrm>
          <a:off x="0" y="1704760"/>
          <a:ext cx="8369300" cy="6803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9551" tIns="249936" rIns="649551"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dirty="0"/>
            <a:t>Hyperparameters (Optimized): </a:t>
          </a:r>
          <a:r>
            <a:rPr lang="en-US" sz="1200" b="0" i="1" kern="1200" dirty="0"/>
            <a:t>Learning Rate: </a:t>
          </a:r>
          <a:r>
            <a:rPr lang="en-US" sz="1200" b="0" i="0" kern="1200" dirty="0"/>
            <a:t>3e-5, </a:t>
          </a:r>
          <a:r>
            <a:rPr lang="en-US" sz="1200" b="0" i="1" kern="1200" dirty="0"/>
            <a:t>Batch Size</a:t>
          </a:r>
          <a:r>
            <a:rPr lang="en-US" sz="1200" b="0" i="0" kern="1200" dirty="0"/>
            <a:t>: 2, </a:t>
          </a:r>
          <a:r>
            <a:rPr lang="en-US" sz="1200" b="0" i="1" kern="1200" dirty="0"/>
            <a:t>Epochs</a:t>
          </a:r>
          <a:r>
            <a:rPr lang="en-US" sz="1200" b="0" i="0" kern="1200" dirty="0"/>
            <a:t>: 4,</a:t>
          </a:r>
          <a:r>
            <a:rPr lang="en-US" sz="1200" b="0" i="1" kern="1200" dirty="0"/>
            <a:t>Weight Decay</a:t>
          </a:r>
          <a:r>
            <a:rPr lang="en-US" sz="1200" b="0" i="0" kern="1200" dirty="0"/>
            <a:t>: 0.01</a:t>
          </a: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dirty="0"/>
            <a:t>Validation Strategy:</a:t>
          </a:r>
          <a:r>
            <a:rPr lang="en-US" sz="1200" b="0" i="0" kern="1200" dirty="0"/>
            <a:t> 5-Fold Cross-Validation</a:t>
          </a:r>
        </a:p>
      </dsp:txBody>
      <dsp:txXfrm>
        <a:off x="0" y="1704760"/>
        <a:ext cx="8369300" cy="680399"/>
      </dsp:txXfrm>
    </dsp:sp>
    <dsp:sp modelId="{67FA5825-139A-364D-8876-CBF6337FD0A8}">
      <dsp:nvSpPr>
        <dsp:cNvPr id="0" name=""/>
        <dsp:cNvSpPr/>
      </dsp:nvSpPr>
      <dsp:spPr>
        <a:xfrm>
          <a:off x="418465" y="1527640"/>
          <a:ext cx="5858510" cy="354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1438" tIns="0" rIns="221438" bIns="0" numCol="1" spcCol="1270" anchor="ctr" anchorCtr="0">
          <a:noAutofit/>
        </a:bodyPr>
        <a:lstStyle/>
        <a:p>
          <a:pPr marL="0" lvl="0" indent="0" algn="l" defTabSz="533400">
            <a:lnSpc>
              <a:spcPct val="90000"/>
            </a:lnSpc>
            <a:spcBef>
              <a:spcPct val="0"/>
            </a:spcBef>
            <a:spcAft>
              <a:spcPct val="35000"/>
            </a:spcAft>
            <a:buNone/>
          </a:pPr>
          <a:r>
            <a:rPr lang="en-US" sz="1200" kern="1200" dirty="0"/>
            <a:t>Fine-Tuning &amp; Validation</a:t>
          </a:r>
        </a:p>
      </dsp:txBody>
      <dsp:txXfrm>
        <a:off x="435758" y="1544933"/>
        <a:ext cx="5823924" cy="319654"/>
      </dsp:txXfrm>
    </dsp:sp>
    <dsp:sp modelId="{A50FEF31-4B2E-C24E-9D03-DE0BAB87AA78}">
      <dsp:nvSpPr>
        <dsp:cNvPr id="0" name=""/>
        <dsp:cNvSpPr/>
      </dsp:nvSpPr>
      <dsp:spPr>
        <a:xfrm>
          <a:off x="0" y="2627079"/>
          <a:ext cx="8369300" cy="12095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9551" tIns="249936" rIns="649551"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t>Objective:</a:t>
          </a:r>
          <a:r>
            <a:rPr lang="en-US" sz="1200" b="0" i="0" kern="1200"/>
            <a:t> To quantify the performance bottleneck caused by high signal-to-noise ratio in legal texts.</a:t>
          </a:r>
          <a:endParaRPr lang="en-US" sz="1200" b="0" i="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b="1" i="0" kern="1200"/>
            <a:t>Method:</a:t>
          </a:r>
          <a:r>
            <a:rPr lang="en-US" sz="1200" b="0" i="0" kern="1200"/>
            <a:t> A "Truncated-Span Context" dataset was generated using a heuristic.</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dirty="0"/>
            <a:t>For each document, context was programmatically reduced to the minimal substring spanning from the start of the earliest answer to the end of the latest answer.</a:t>
          </a:r>
        </a:p>
        <a:p>
          <a:pPr marL="228600" lvl="2" indent="-114300" algn="l" defTabSz="533400">
            <a:lnSpc>
              <a:spcPct val="90000"/>
            </a:lnSpc>
            <a:spcBef>
              <a:spcPct val="0"/>
            </a:spcBef>
            <a:spcAft>
              <a:spcPct val="15000"/>
            </a:spcAft>
            <a:buFont typeface="Arial" panose="020B0604020202020204" pitchFamily="34" charset="0"/>
            <a:buChar char="•"/>
          </a:pPr>
          <a:r>
            <a:rPr lang="en-US" sz="1200" b="0" i="0" kern="1200"/>
            <a:t>This isolates the impact of extraneous text on model accuracy.</a:t>
          </a:r>
        </a:p>
      </dsp:txBody>
      <dsp:txXfrm>
        <a:off x="0" y="2627079"/>
        <a:ext cx="8369300" cy="1209599"/>
      </dsp:txXfrm>
    </dsp:sp>
    <dsp:sp modelId="{680D7EF4-297E-CF4C-8CFE-55EF367C3787}">
      <dsp:nvSpPr>
        <dsp:cNvPr id="0" name=""/>
        <dsp:cNvSpPr/>
      </dsp:nvSpPr>
      <dsp:spPr>
        <a:xfrm>
          <a:off x="418465" y="2449960"/>
          <a:ext cx="5858510" cy="354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1438" tIns="0" rIns="221438" bIns="0" numCol="1" spcCol="1270" anchor="ctr"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0" i="0" kern="1200" dirty="0"/>
            <a:t>Ablation Study: Context Impact</a:t>
          </a:r>
        </a:p>
      </dsp:txBody>
      <dsp:txXfrm>
        <a:off x="435758" y="2467253"/>
        <a:ext cx="5823924" cy="3196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AE66F-F0F7-D440-B82D-AB277BA1FB3C}">
      <dsp:nvSpPr>
        <dsp:cNvPr id="0" name=""/>
        <dsp:cNvSpPr/>
      </dsp:nvSpPr>
      <dsp:spPr>
        <a:xfrm>
          <a:off x="0" y="0"/>
          <a:ext cx="7463484" cy="0"/>
        </a:xfrm>
        <a:prstGeom prst="lin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0B855B-DEFC-A145-87FD-D6B70D510200}">
      <dsp:nvSpPr>
        <dsp:cNvPr id="0" name=""/>
        <dsp:cNvSpPr/>
      </dsp:nvSpPr>
      <dsp:spPr>
        <a:xfrm>
          <a:off x="0" y="0"/>
          <a:ext cx="1492696" cy="865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solidFill>
              <a:latin typeface="Calibri" panose="020F0502020204030204" pitchFamily="34" charset="0"/>
              <a:cs typeface="Calibri" panose="020F0502020204030204" pitchFamily="34" charset="0"/>
            </a:rPr>
            <a:t>Positive and Monolingual Data</a:t>
          </a:r>
        </a:p>
      </dsp:txBody>
      <dsp:txXfrm>
        <a:off x="0" y="0"/>
        <a:ext cx="1492696" cy="865056"/>
      </dsp:txXfrm>
    </dsp:sp>
    <dsp:sp modelId="{DD165910-8474-4249-9160-990AB4BCB7E3}">
      <dsp:nvSpPr>
        <dsp:cNvPr id="0" name=""/>
        <dsp:cNvSpPr/>
      </dsp:nvSpPr>
      <dsp:spPr>
        <a:xfrm>
          <a:off x="1604649" y="20105"/>
          <a:ext cx="5858834" cy="402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Calibri" panose="020F0502020204030204" pitchFamily="34" charset="0"/>
              <a:cs typeface="Calibri" panose="020F0502020204030204" pitchFamily="34" charset="0"/>
            </a:rPr>
            <a:t>Turkish only</a:t>
          </a:r>
        </a:p>
      </dsp:txBody>
      <dsp:txXfrm>
        <a:off x="1604649" y="20105"/>
        <a:ext cx="5858834" cy="402115"/>
      </dsp:txXfrm>
    </dsp:sp>
    <dsp:sp modelId="{2B6287B2-BFD5-D546-A5B7-59BF961918D6}">
      <dsp:nvSpPr>
        <dsp:cNvPr id="0" name=""/>
        <dsp:cNvSpPr/>
      </dsp:nvSpPr>
      <dsp:spPr>
        <a:xfrm>
          <a:off x="1492696" y="422221"/>
          <a:ext cx="597078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1F9F83-2772-664D-B42E-E92C47AEC9B9}">
      <dsp:nvSpPr>
        <dsp:cNvPr id="0" name=""/>
        <dsp:cNvSpPr/>
      </dsp:nvSpPr>
      <dsp:spPr>
        <a:xfrm>
          <a:off x="1604649" y="442327"/>
          <a:ext cx="5858834" cy="402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Calibri" panose="020F0502020204030204" pitchFamily="34" charset="0"/>
              <a:cs typeface="Calibri" panose="020F0502020204030204" pitchFamily="34" charset="0"/>
            </a:rPr>
            <a:t>Lack of negative example</a:t>
          </a:r>
        </a:p>
      </dsp:txBody>
      <dsp:txXfrm>
        <a:off x="1604649" y="442327"/>
        <a:ext cx="5858834" cy="402115"/>
      </dsp:txXfrm>
    </dsp:sp>
    <dsp:sp modelId="{F153AFE1-25CA-AA47-B09C-2892659DF4AB}">
      <dsp:nvSpPr>
        <dsp:cNvPr id="0" name=""/>
        <dsp:cNvSpPr/>
      </dsp:nvSpPr>
      <dsp:spPr>
        <a:xfrm>
          <a:off x="1492696" y="844443"/>
          <a:ext cx="597078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3B5A763-DEDA-F645-B528-A6E894403418}">
      <dsp:nvSpPr>
        <dsp:cNvPr id="0" name=""/>
        <dsp:cNvSpPr/>
      </dsp:nvSpPr>
      <dsp:spPr>
        <a:xfrm>
          <a:off x="0" y="865056"/>
          <a:ext cx="7463484" cy="0"/>
        </a:xfrm>
        <a:prstGeom prst="lin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FB0729-2868-2547-ABB4-8A77298A7031}">
      <dsp:nvSpPr>
        <dsp:cNvPr id="0" name=""/>
        <dsp:cNvSpPr/>
      </dsp:nvSpPr>
      <dsp:spPr>
        <a:xfrm>
          <a:off x="0" y="865056"/>
          <a:ext cx="1492696" cy="865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solidFill>
              <a:latin typeface="Calibri" panose="020F0502020204030204" pitchFamily="34" charset="0"/>
              <a:cs typeface="Calibri" panose="020F0502020204030204" pitchFamily="34" charset="0"/>
            </a:rPr>
            <a:t>Context &amp; Noise Problem</a:t>
          </a:r>
        </a:p>
      </dsp:txBody>
      <dsp:txXfrm>
        <a:off x="0" y="865056"/>
        <a:ext cx="1492696" cy="865056"/>
      </dsp:txXfrm>
    </dsp:sp>
    <dsp:sp modelId="{27DE7F45-E70C-9742-B78E-4D897FAABAD9}">
      <dsp:nvSpPr>
        <dsp:cNvPr id="0" name=""/>
        <dsp:cNvSpPr/>
      </dsp:nvSpPr>
      <dsp:spPr>
        <a:xfrm>
          <a:off x="1604649" y="885162"/>
          <a:ext cx="5858834" cy="402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20000"/>
            </a:spcAft>
            <a:buNone/>
          </a:pPr>
          <a:r>
            <a:rPr lang="en-US" sz="1800" kern="1200" dirty="0">
              <a:solidFill>
                <a:schemeClr val="bg1"/>
              </a:solidFill>
              <a:latin typeface="Calibri" panose="020F0502020204030204" pitchFamily="34" charset="0"/>
              <a:ea typeface="+mn-ea"/>
              <a:cs typeface="Calibri" panose="020F0502020204030204" pitchFamily="34" charset="0"/>
            </a:rPr>
            <a:t>Ablation study</a:t>
          </a:r>
        </a:p>
      </dsp:txBody>
      <dsp:txXfrm>
        <a:off x="1604649" y="885162"/>
        <a:ext cx="5858834" cy="402115"/>
      </dsp:txXfrm>
    </dsp:sp>
    <dsp:sp modelId="{6FED0F2D-CEF2-F74C-9165-8E2A6E40A52C}">
      <dsp:nvSpPr>
        <dsp:cNvPr id="0" name=""/>
        <dsp:cNvSpPr/>
      </dsp:nvSpPr>
      <dsp:spPr>
        <a:xfrm>
          <a:off x="1492696" y="1287278"/>
          <a:ext cx="597078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542E46-FC8F-D743-BB25-3C8FD0B4B789}">
      <dsp:nvSpPr>
        <dsp:cNvPr id="0" name=""/>
        <dsp:cNvSpPr/>
      </dsp:nvSpPr>
      <dsp:spPr>
        <a:xfrm>
          <a:off x="1604649" y="1307383"/>
          <a:ext cx="5858834" cy="402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20000"/>
            </a:spcAft>
            <a:buNone/>
          </a:pPr>
          <a:r>
            <a:rPr lang="en-US" sz="1800" kern="1200" dirty="0">
              <a:solidFill>
                <a:schemeClr val="bg1"/>
              </a:solidFill>
              <a:latin typeface="Calibri" panose="020F0502020204030204" pitchFamily="34" charset="0"/>
              <a:ea typeface="+mn-ea"/>
              <a:cs typeface="Calibri" panose="020F0502020204030204" pitchFamily="34" charset="0"/>
            </a:rPr>
            <a:t>Need for a retriever stage</a:t>
          </a:r>
        </a:p>
      </dsp:txBody>
      <dsp:txXfrm>
        <a:off x="1604649" y="1307383"/>
        <a:ext cx="5858834" cy="402115"/>
      </dsp:txXfrm>
    </dsp:sp>
    <dsp:sp modelId="{53095649-73C0-924C-92FB-FD1EF967CB24}">
      <dsp:nvSpPr>
        <dsp:cNvPr id="0" name=""/>
        <dsp:cNvSpPr/>
      </dsp:nvSpPr>
      <dsp:spPr>
        <a:xfrm>
          <a:off x="1492696" y="1709499"/>
          <a:ext cx="597078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651A936-553D-5940-A777-AB1D0A8C505C}">
      <dsp:nvSpPr>
        <dsp:cNvPr id="0" name=""/>
        <dsp:cNvSpPr/>
      </dsp:nvSpPr>
      <dsp:spPr>
        <a:xfrm>
          <a:off x="0" y="1730112"/>
          <a:ext cx="7463484" cy="0"/>
        </a:xfrm>
        <a:prstGeom prst="lin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6C7F39-325F-774E-9E6E-773390B92FD6}">
      <dsp:nvSpPr>
        <dsp:cNvPr id="0" name=""/>
        <dsp:cNvSpPr/>
      </dsp:nvSpPr>
      <dsp:spPr>
        <a:xfrm>
          <a:off x="0" y="1730112"/>
          <a:ext cx="1492696" cy="865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solidFill>
              <a:latin typeface="Calibri" panose="020F0502020204030204" pitchFamily="34" charset="0"/>
              <a:cs typeface="Calibri" panose="020F0502020204030204" pitchFamily="34" charset="0"/>
            </a:rPr>
            <a:t>Single Best Answer Problem</a:t>
          </a:r>
        </a:p>
      </dsp:txBody>
      <dsp:txXfrm>
        <a:off x="0" y="1730112"/>
        <a:ext cx="1492696" cy="865056"/>
      </dsp:txXfrm>
    </dsp:sp>
    <dsp:sp modelId="{40DCA47E-C109-3941-A36E-3E23788DCF01}">
      <dsp:nvSpPr>
        <dsp:cNvPr id="0" name=""/>
        <dsp:cNvSpPr/>
      </dsp:nvSpPr>
      <dsp:spPr>
        <a:xfrm>
          <a:off x="1604649" y="1750218"/>
          <a:ext cx="5858834" cy="402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622300">
            <a:lnSpc>
              <a:spcPct val="90000"/>
            </a:lnSpc>
            <a:spcBef>
              <a:spcPct val="0"/>
            </a:spcBef>
            <a:spcAft>
              <a:spcPct val="20000"/>
            </a:spcAft>
            <a:buNone/>
          </a:pPr>
          <a:r>
            <a:rPr lang="en-US" sz="1600" kern="1200" dirty="0">
              <a:solidFill>
                <a:schemeClr val="bg1"/>
              </a:solidFill>
              <a:latin typeface="Calibri" panose="020F0502020204030204" pitchFamily="34" charset="0"/>
              <a:ea typeface="+mn-ea"/>
              <a:cs typeface="Calibri" panose="020F0502020204030204" pitchFamily="34" charset="0"/>
            </a:rPr>
            <a:t>Multiple sentences can be correct</a:t>
          </a:r>
        </a:p>
      </dsp:txBody>
      <dsp:txXfrm>
        <a:off x="1604649" y="1750218"/>
        <a:ext cx="5858834" cy="402115"/>
      </dsp:txXfrm>
    </dsp:sp>
    <dsp:sp modelId="{FE1E60B0-AC81-CA48-BEED-D49A5FC5C318}">
      <dsp:nvSpPr>
        <dsp:cNvPr id="0" name=""/>
        <dsp:cNvSpPr/>
      </dsp:nvSpPr>
      <dsp:spPr>
        <a:xfrm>
          <a:off x="1492696" y="2152334"/>
          <a:ext cx="597078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4F7AA03-046E-DA4B-B158-35408D74AD6B}">
      <dsp:nvSpPr>
        <dsp:cNvPr id="0" name=""/>
        <dsp:cNvSpPr/>
      </dsp:nvSpPr>
      <dsp:spPr>
        <a:xfrm>
          <a:off x="1604649" y="2172440"/>
          <a:ext cx="5858834" cy="402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622300">
            <a:lnSpc>
              <a:spcPct val="90000"/>
            </a:lnSpc>
            <a:spcBef>
              <a:spcPct val="0"/>
            </a:spcBef>
            <a:spcAft>
              <a:spcPct val="20000"/>
            </a:spcAft>
            <a:buNone/>
          </a:pPr>
          <a:r>
            <a:rPr lang="en-US" sz="1600" kern="1200" dirty="0">
              <a:solidFill>
                <a:schemeClr val="bg1"/>
              </a:solidFill>
              <a:latin typeface="Calibri" panose="020F0502020204030204" pitchFamily="34" charset="0"/>
              <a:ea typeface="+mn-ea"/>
              <a:cs typeface="Calibri" panose="020F0502020204030204" pitchFamily="34" charset="0"/>
            </a:rPr>
            <a:t>Multi-span annotation or preference-based frameworks</a:t>
          </a:r>
        </a:p>
      </dsp:txBody>
      <dsp:txXfrm>
        <a:off x="1604649" y="2172440"/>
        <a:ext cx="5858834" cy="402115"/>
      </dsp:txXfrm>
    </dsp:sp>
    <dsp:sp modelId="{29DCE9AF-5E45-424F-8903-9771A7F023BC}">
      <dsp:nvSpPr>
        <dsp:cNvPr id="0" name=""/>
        <dsp:cNvSpPr/>
      </dsp:nvSpPr>
      <dsp:spPr>
        <a:xfrm>
          <a:off x="1492696" y="2574556"/>
          <a:ext cx="597078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EB7C50-A678-9A4A-BC52-ACAC3B63A256}">
      <dsp:nvSpPr>
        <dsp:cNvPr id="0" name=""/>
        <dsp:cNvSpPr/>
      </dsp:nvSpPr>
      <dsp:spPr>
        <a:xfrm>
          <a:off x="0" y="2595168"/>
          <a:ext cx="7463484" cy="0"/>
        </a:xfrm>
        <a:prstGeom prst="lin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401F62-CD3C-DF4A-AAD3-A716B8CED3C4}">
      <dsp:nvSpPr>
        <dsp:cNvPr id="0" name=""/>
        <dsp:cNvSpPr/>
      </dsp:nvSpPr>
      <dsp:spPr>
        <a:xfrm>
          <a:off x="0" y="2595168"/>
          <a:ext cx="1492696" cy="865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bg1"/>
              </a:solidFill>
              <a:latin typeface="Calibri" panose="020F0502020204030204" pitchFamily="34" charset="0"/>
              <a:cs typeface="Calibri" panose="020F0502020204030204" pitchFamily="34" charset="0"/>
            </a:rPr>
            <a:t>Implicit v. Explicit Reasoning</a:t>
          </a:r>
        </a:p>
      </dsp:txBody>
      <dsp:txXfrm>
        <a:off x="0" y="2595168"/>
        <a:ext cx="1492696" cy="865056"/>
      </dsp:txXfrm>
    </dsp:sp>
    <dsp:sp modelId="{B6BB8B91-E7D5-8D4D-B7C5-6B97346B8054}">
      <dsp:nvSpPr>
        <dsp:cNvPr id="0" name=""/>
        <dsp:cNvSpPr/>
      </dsp:nvSpPr>
      <dsp:spPr>
        <a:xfrm>
          <a:off x="1604649" y="2615274"/>
          <a:ext cx="5858834" cy="402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622300">
            <a:lnSpc>
              <a:spcPct val="90000"/>
            </a:lnSpc>
            <a:spcBef>
              <a:spcPct val="0"/>
            </a:spcBef>
            <a:spcAft>
              <a:spcPct val="20000"/>
            </a:spcAft>
            <a:buNone/>
          </a:pPr>
          <a:r>
            <a:rPr lang="en-US" sz="1600" kern="1200" dirty="0">
              <a:solidFill>
                <a:schemeClr val="bg1"/>
              </a:solidFill>
              <a:latin typeface="Calibri" panose="020F0502020204030204" pitchFamily="34" charset="0"/>
              <a:ea typeface="+mn-ea"/>
              <a:cs typeface="Calibri" panose="020F0502020204030204" pitchFamily="34" charset="0"/>
            </a:rPr>
            <a:t>Formulaic questions (Q2, Q4) vs implicit questions (Q1, Q3)</a:t>
          </a:r>
        </a:p>
      </dsp:txBody>
      <dsp:txXfrm>
        <a:off x="1604649" y="2615274"/>
        <a:ext cx="5858834" cy="402115"/>
      </dsp:txXfrm>
    </dsp:sp>
    <dsp:sp modelId="{C25FF8A7-858B-0041-8C57-578BE4BFBDCB}">
      <dsp:nvSpPr>
        <dsp:cNvPr id="0" name=""/>
        <dsp:cNvSpPr/>
      </dsp:nvSpPr>
      <dsp:spPr>
        <a:xfrm>
          <a:off x="1492696" y="3017390"/>
          <a:ext cx="597078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A39D3BD-98EC-2B4F-B63E-875C8501FA09}">
      <dsp:nvSpPr>
        <dsp:cNvPr id="0" name=""/>
        <dsp:cNvSpPr/>
      </dsp:nvSpPr>
      <dsp:spPr>
        <a:xfrm>
          <a:off x="1604649" y="3037496"/>
          <a:ext cx="5858834" cy="402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622300">
            <a:lnSpc>
              <a:spcPct val="90000"/>
            </a:lnSpc>
            <a:spcBef>
              <a:spcPct val="0"/>
            </a:spcBef>
            <a:spcAft>
              <a:spcPct val="20000"/>
            </a:spcAft>
            <a:buNone/>
          </a:pPr>
          <a:r>
            <a:rPr lang="en-US" sz="1600" kern="1200" dirty="0">
              <a:solidFill>
                <a:schemeClr val="bg1"/>
              </a:solidFill>
              <a:latin typeface="Calibri" panose="020F0502020204030204" pitchFamily="34" charset="0"/>
              <a:ea typeface="+mn-ea"/>
              <a:cs typeface="Calibri" panose="020F0502020204030204" pitchFamily="34" charset="0"/>
            </a:rPr>
            <a:t>From pattern matching to legal reasoning with LLMs</a:t>
          </a:r>
        </a:p>
      </dsp:txBody>
      <dsp:txXfrm>
        <a:off x="1604649" y="3037496"/>
        <a:ext cx="5858834" cy="402115"/>
      </dsp:txXfrm>
    </dsp:sp>
    <dsp:sp modelId="{6A017FF8-5541-DB45-BF92-1A1DA47D6996}">
      <dsp:nvSpPr>
        <dsp:cNvPr id="0" name=""/>
        <dsp:cNvSpPr/>
      </dsp:nvSpPr>
      <dsp:spPr>
        <a:xfrm>
          <a:off x="1492696" y="3439612"/>
          <a:ext cx="597078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r>
              <a:rPr lang="en-US" sz="1800" dirty="0">
                <a:effectLst/>
                <a:latin typeface="Times New Roman" panose="02020603050405020304" pitchFamily="18" charset="0"/>
                <a:ea typeface="Times New Roman" panose="02020603050405020304" pitchFamily="18" charset="0"/>
              </a:rPr>
              <a:t>Hello everyone, I would like to start by giving thanks to chairs for putting this venue and hope many more editions will come in future</a:t>
            </a:r>
          </a:p>
          <a:p>
            <a:pPr algn="just"/>
            <a:endParaRPr lang="en-US" sz="1800" dirty="0">
              <a:effectLst/>
              <a:latin typeface="Times New Roman" panose="02020603050405020304" pitchFamily="18" charset="0"/>
              <a:ea typeface="Times New Roman" panose="02020603050405020304" pitchFamily="18" charset="0"/>
            </a:endParaRPr>
          </a:p>
          <a:p>
            <a:pPr algn="just"/>
            <a:r>
              <a:rPr lang="en-US" sz="1800" dirty="0">
                <a:effectLst/>
                <a:latin typeface="Times New Roman" panose="02020603050405020304" pitchFamily="18" charset="0"/>
                <a:ea typeface="Times New Roman" panose="02020603050405020304" pitchFamily="18" charset="0"/>
              </a:rPr>
              <a:t>A little about me, I am Mikail Demir, I am a 2</a:t>
            </a:r>
            <a:r>
              <a:rPr lang="en-US" sz="1800" baseline="30000" dirty="0">
                <a:effectLst/>
                <a:latin typeface="Times New Roman" panose="02020603050405020304" pitchFamily="18" charset="0"/>
                <a:ea typeface="Times New Roman" panose="02020603050405020304" pitchFamily="18" charset="0"/>
              </a:rPr>
              <a:t>nd</a:t>
            </a:r>
            <a:r>
              <a:rPr lang="en-US" sz="1800" dirty="0">
                <a:effectLst/>
                <a:latin typeface="Times New Roman" panose="02020603050405020304" pitchFamily="18" charset="0"/>
                <a:ea typeface="Times New Roman" panose="02020603050405020304" pitchFamily="18" charset="0"/>
              </a:rPr>
              <a:t> year PhD student at University at Albany SUNY, in Information Science program, before moving to the USA, I studied law and economics in Turkey, I admitted to Istanbul Bar Association and practiced as a lawyer in Turkey for 2 years, and this is actually my first conference experience so it is very exciting for me and I have put this work with my advisor Abdullah Canbaz so without further ado I want to start my presentation with motivation, why did we get into an effort to annotate some legal decisions and </a:t>
            </a:r>
            <a:endParaRPr lang="en-TR" sz="1800" dirty="0">
              <a:effectLst/>
              <a:latin typeface="Times New Roman" panose="02020603050405020304" pitchFamily="18" charset="0"/>
              <a:ea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9fe687516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r>
              <a:rPr lang="en-US" sz="1800" b="1" dirty="0"/>
              <a:t>Legal documents are everywhere, and they're incredibly hard to read and analyze.</a:t>
            </a:r>
          </a:p>
          <a:p>
            <a:pPr algn="just"/>
            <a:endParaRPr lang="en-US" sz="1800" b="1" dirty="0">
              <a:effectLst/>
              <a:latin typeface="Times New Roman" panose="02020603050405020304" pitchFamily="18" charset="0"/>
              <a:ea typeface="Times New Roman" panose="02020603050405020304" pitchFamily="18" charset="0"/>
            </a:endParaRPr>
          </a:p>
          <a:p>
            <a:pPr algn="just"/>
            <a:r>
              <a:rPr lang="en-US" sz="1800" dirty="0"/>
              <a:t>Think of all the </a:t>
            </a:r>
            <a:r>
              <a:rPr lang="en-US" sz="1800" b="1" dirty="0"/>
              <a:t>court decisions and laws</a:t>
            </a:r>
            <a:r>
              <a:rPr lang="en-US" sz="1800" dirty="0"/>
              <a:t> that governments and courts publish every day right so It's a </a:t>
            </a:r>
            <a:r>
              <a:rPr lang="en-US" sz="1800" b="1" dirty="0"/>
              <a:t>massive amount of complex text</a:t>
            </a:r>
            <a:r>
              <a:rPr lang="en-US" sz="1800" dirty="0"/>
              <a:t>.</a:t>
            </a:r>
          </a:p>
          <a:p>
            <a:pPr algn="just"/>
            <a:endParaRPr lang="en-US" sz="1800" dirty="0">
              <a:effectLst/>
              <a:latin typeface="Times New Roman" panose="02020603050405020304" pitchFamily="18" charset="0"/>
              <a:ea typeface="Times New Roman" panose="02020603050405020304" pitchFamily="18" charset="0"/>
            </a:endParaRPr>
          </a:p>
          <a:p>
            <a:pPr algn="just"/>
            <a:r>
              <a:rPr lang="en-US" sz="1800" dirty="0"/>
              <a:t>The key is that this information is almost always </a:t>
            </a:r>
            <a:r>
              <a:rPr lang="en-US" sz="1800" b="1" dirty="0"/>
              <a:t>unstructured, and does not give too much chances for prediction/analysis etc.</a:t>
            </a:r>
          </a:p>
          <a:p>
            <a:pPr algn="just"/>
            <a:endParaRPr lang="en-US" sz="1800" b="1" dirty="0">
              <a:effectLst/>
              <a:latin typeface="Times New Roman" panose="02020603050405020304" pitchFamily="18" charset="0"/>
              <a:ea typeface="Times New Roman" panose="02020603050405020304" pitchFamily="18" charset="0"/>
            </a:endParaRPr>
          </a:p>
          <a:p>
            <a:pPr algn="just"/>
            <a:r>
              <a:rPr lang="en-US" sz="1800" dirty="0"/>
              <a:t>it is important to know </a:t>
            </a:r>
            <a:r>
              <a:rPr lang="en-US" sz="1800" b="1" dirty="0"/>
              <a:t>how the law is actually being used in practice</a:t>
            </a:r>
            <a:r>
              <a:rPr lang="en-US" sz="1800" dirty="0"/>
              <a:t> over time. Lawyers need this to better serve to their clients, society needs this so that they can understand and argue in favor or against the rules that govern us.</a:t>
            </a:r>
          </a:p>
          <a:p>
            <a:pPr algn="just"/>
            <a:endParaRPr lang="en-US" sz="1800" dirty="0">
              <a:effectLst/>
              <a:latin typeface="Times New Roman" panose="02020603050405020304" pitchFamily="18" charset="0"/>
              <a:ea typeface="Times New Roman" panose="02020603050405020304" pitchFamily="18" charset="0"/>
            </a:endParaRPr>
          </a:p>
          <a:p>
            <a:pPr algn="just"/>
            <a:r>
              <a:rPr lang="en-US" sz="1800" dirty="0"/>
              <a:t>By tracking how judges and authorities apply the law, we can gather </a:t>
            </a:r>
            <a:r>
              <a:rPr lang="en-US" sz="1800" b="1" dirty="0"/>
              <a:t>real evidence</a:t>
            </a:r>
            <a:r>
              <a:rPr lang="en-US" sz="1800" dirty="0"/>
              <a:t> to argue for and create </a:t>
            </a:r>
            <a:r>
              <a:rPr lang="en-US" sz="1800" b="1" dirty="0"/>
              <a:t>better, smarter, and fairer new regulations</a:t>
            </a:r>
            <a:r>
              <a:rPr lang="en-US" sz="1800" dirty="0"/>
              <a:t> for the future.</a:t>
            </a:r>
          </a:p>
          <a:p>
            <a:pPr algn="just"/>
            <a:endParaRPr lang="en-US" sz="1800" dirty="0">
              <a:effectLst/>
              <a:latin typeface="Times New Roman" panose="02020603050405020304" pitchFamily="18" charset="0"/>
              <a:ea typeface="Times New Roman" panose="02020603050405020304" pitchFamily="18" charset="0"/>
            </a:endParaRPr>
          </a:p>
          <a:p>
            <a:pPr algn="just"/>
            <a:r>
              <a:rPr lang="en-US" sz="1800" dirty="0">
                <a:effectLst/>
                <a:latin typeface="Times New Roman" panose="02020603050405020304" pitchFamily="18" charset="0"/>
                <a:ea typeface="Times New Roman" panose="02020603050405020304" pitchFamily="18" charset="0"/>
              </a:rPr>
              <a:t>With this motivation, we tried to put existing argument mining and extractive question answering frameworks into test to see can we build a model that can effectively points us and enables monitoring where a rule is being applied.</a:t>
            </a:r>
            <a:endParaRPr lang="en-TR" sz="1800" dirty="0">
              <a:effectLst/>
              <a:latin typeface="Times New Roman" panose="02020603050405020304" pitchFamily="18" charset="0"/>
              <a:ea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07B29079-6D48-8FB6-85E6-2434B521AA5E}"/>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0B822FC2-300A-1A9E-79F2-0A09CC57B6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2F6AAF4C-9F7C-F95E-842E-2F99E82C89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800" dirty="0"/>
              <a:t>OK, so I want to start with related work on these fields, I will start with the legal argument mining </a:t>
            </a:r>
          </a:p>
          <a:p>
            <a:br>
              <a:rPr lang="en-US" sz="1800" dirty="0"/>
            </a:br>
            <a:endParaRPr lang="en-US" sz="1800" dirty="0"/>
          </a:p>
          <a:p>
            <a:r>
              <a:rPr lang="en-US" sz="1800" dirty="0"/>
              <a:t>"The </a:t>
            </a:r>
            <a:r>
              <a:rPr lang="en-US" sz="1800" b="1" dirty="0"/>
              <a:t>foundational work</a:t>
            </a:r>
            <a:r>
              <a:rPr lang="en-US" sz="1800" dirty="0"/>
              <a:t> in this area, by researchers like </a:t>
            </a:r>
            <a:r>
              <a:rPr lang="en-US" sz="1800" b="1" dirty="0" err="1"/>
              <a:t>Mochales</a:t>
            </a:r>
            <a:r>
              <a:rPr lang="en-US" sz="1800" b="1" dirty="0"/>
              <a:t> and Moens</a:t>
            </a:r>
            <a:r>
              <a:rPr lang="en-US" sz="1800" dirty="0"/>
              <a:t>, established the core task. Their approach, which was adopted by many, was to take a legal text, segment it (usually by sentence), and classify each segment into its basic argumentative components like </a:t>
            </a:r>
            <a:r>
              <a:rPr lang="en-US" sz="1800" b="1" dirty="0"/>
              <a:t>Premises</a:t>
            </a:r>
            <a:r>
              <a:rPr lang="en-US" sz="1800" dirty="0"/>
              <a:t> and </a:t>
            </a:r>
            <a:r>
              <a:rPr lang="en-US" sz="1800" b="1" dirty="0"/>
              <a:t>Conclusions</a:t>
            </a:r>
            <a:r>
              <a:rPr lang="en-US" sz="1800" dirty="0"/>
              <a:t>.</a:t>
            </a:r>
          </a:p>
          <a:p>
            <a:endParaRPr lang="en-US" sz="1800" dirty="0"/>
          </a:p>
          <a:p>
            <a:r>
              <a:rPr lang="en-US" sz="1800" dirty="0"/>
              <a:t>"This premise-conclusion model was often inspired by theoretical frameworks like Walton's argumentation schemes.</a:t>
            </a:r>
            <a:br>
              <a:rPr lang="en-US" sz="1800" dirty="0"/>
            </a:br>
            <a:endParaRPr lang="en-US" sz="1800" dirty="0"/>
          </a:p>
          <a:p>
            <a:r>
              <a:rPr lang="en-US" sz="1800" dirty="0"/>
              <a:t>"However, this classic model led to what the literature now calls the </a:t>
            </a:r>
            <a:r>
              <a:rPr lang="en-US" sz="1800" b="1" dirty="0"/>
              <a:t>'richness gap.’</a:t>
            </a:r>
          </a:p>
          <a:p>
            <a:endParaRPr lang="en-US" sz="1800" dirty="0"/>
          </a:p>
          <a:p>
            <a:r>
              <a:rPr lang="en-US" sz="1800" dirty="0"/>
              <a:t>"The </a:t>
            </a:r>
            <a:r>
              <a:rPr lang="en-US" sz="1800" b="1" dirty="0" err="1"/>
              <a:t>Habernal</a:t>
            </a:r>
            <a:r>
              <a:rPr lang="en-US" sz="1800" b="1" dirty="0"/>
              <a:t> et al. paper</a:t>
            </a:r>
            <a:r>
              <a:rPr lang="en-US" sz="1800" dirty="0"/>
              <a:t>, from 2023, is a key text here. They argue there's a </a:t>
            </a:r>
            <a:r>
              <a:rPr lang="en-US" sz="1800" b="1" dirty="0"/>
              <a:t>'major discrepancy'</a:t>
            </a:r>
            <a:r>
              <a:rPr lang="en-US" sz="1800" dirty="0"/>
              <a:t> between the simple premise-conclusion model that NLP researchers were using, and the </a:t>
            </a:r>
            <a:r>
              <a:rPr lang="en-US" sz="1800" b="1" dirty="0"/>
              <a:t>'rich typology'</a:t>
            </a:r>
            <a:r>
              <a:rPr lang="en-US" sz="1800" dirty="0"/>
              <a:t> of arguments that legal experts, scholars, and judges </a:t>
            </a:r>
            <a:r>
              <a:rPr lang="en-US" sz="1800" i="1" dirty="0"/>
              <a:t>actually</a:t>
            </a:r>
            <a:r>
              <a:rPr lang="en-US" sz="1800" dirty="0"/>
              <a:t> use in their reasoning.</a:t>
            </a:r>
          </a:p>
          <a:p>
            <a:endParaRPr lang="en-US" sz="1800" dirty="0"/>
          </a:p>
          <a:p>
            <a:r>
              <a:rPr lang="en-US" sz="1800" dirty="0"/>
              <a:t>"To fix this, </a:t>
            </a:r>
            <a:r>
              <a:rPr lang="en-US" sz="1800" dirty="0" err="1"/>
              <a:t>Habernal</a:t>
            </a:r>
            <a:r>
              <a:rPr lang="en-US" sz="1800" dirty="0"/>
              <a:t> and his team—a mix of NLP and legal scholars—created a new, massive dataset from the European Court of Human Rights. Instead of just 'premise,' they annotated </a:t>
            </a:r>
            <a:r>
              <a:rPr lang="en-US" sz="1800" b="1" dirty="0"/>
              <a:t>16 fine-grained, legally-grounded argument types</a:t>
            </a:r>
            <a:r>
              <a:rPr lang="en-US" sz="1800" dirty="0"/>
              <a:t>. </a:t>
            </a:r>
          </a:p>
          <a:p>
            <a:endParaRPr lang="en-US" sz="1800" dirty="0"/>
          </a:p>
          <a:p>
            <a:r>
              <a:rPr lang="en-US" sz="1800" dirty="0"/>
              <a:t>"So, this evolution from a simple model to a rich, complex one has highlighted </a:t>
            </a:r>
            <a:r>
              <a:rPr lang="en-US" sz="1800" b="1" dirty="0"/>
              <a:t>four key challenges</a:t>
            </a:r>
            <a:r>
              <a:rPr lang="en-US" sz="1800" dirty="0"/>
              <a:t> that define the field today.</a:t>
            </a:r>
          </a:p>
          <a:p>
            <a:endParaRPr lang="en-US" sz="1800" dirty="0"/>
          </a:p>
          <a:p>
            <a:r>
              <a:rPr lang="en-US" sz="1800" dirty="0"/>
              <a:t>"</a:t>
            </a:r>
            <a:r>
              <a:rPr lang="en-US" sz="1800" b="1" dirty="0"/>
              <a:t>First, Data Ambiguity.</a:t>
            </a:r>
            <a:r>
              <a:rPr lang="en-US" sz="1800" dirty="0"/>
              <a:t> This is the central finding from the Al </a:t>
            </a:r>
            <a:r>
              <a:rPr lang="en-US" sz="1800" dirty="0" err="1"/>
              <a:t>Zubaer</a:t>
            </a:r>
            <a:r>
              <a:rPr lang="en-US" sz="1800" dirty="0"/>
              <a:t> paper. Their GPT models failed, </a:t>
            </a:r>
            <a:r>
              <a:rPr lang="en-US" sz="1800" i="1" dirty="0"/>
              <a:t>not</a:t>
            </a:r>
            <a:r>
              <a:rPr lang="en-US" sz="1800" dirty="0"/>
              <a:t> because they couldn't reason, but because the </a:t>
            </a:r>
            <a:r>
              <a:rPr lang="en-US" sz="1800" b="1" dirty="0"/>
              <a:t>data itself is inherently ambiguous</a:t>
            </a:r>
            <a:r>
              <a:rPr lang="en-US" sz="1800" dirty="0"/>
              <a:t>. They found the </a:t>
            </a:r>
            <a:r>
              <a:rPr lang="en-US" sz="1800" i="1" dirty="0"/>
              <a:t>exact same legal clause</a:t>
            </a:r>
            <a:r>
              <a:rPr lang="en-US" sz="1800" dirty="0"/>
              <a:t> was correctly annotated as a 'premise' in one argument and a 'conclusion' in another. This isn't a data error; it's a </a:t>
            </a:r>
            <a:r>
              <a:rPr lang="en-US" sz="1800" b="1" dirty="0"/>
              <a:t>fundamental property of legal text</a:t>
            </a:r>
            <a:r>
              <a:rPr lang="en-US" sz="1800" dirty="0"/>
              <a:t> that the classic binary classification model struggles with.</a:t>
            </a:r>
          </a:p>
          <a:p>
            <a:endParaRPr lang="en-US" sz="1800" dirty="0"/>
          </a:p>
          <a:p>
            <a:r>
              <a:rPr lang="en-US" sz="1800" dirty="0"/>
              <a:t>"</a:t>
            </a:r>
            <a:r>
              <a:rPr lang="en-US" sz="1800" b="1" dirty="0"/>
              <a:t>Second, the Need for Context.</a:t>
            </a:r>
            <a:r>
              <a:rPr lang="en-US" sz="1800" dirty="0"/>
              <a:t> Their model often made mistakes that the human legal experts on their team could </a:t>
            </a:r>
            <a:r>
              <a:rPr lang="en-US" sz="1800" i="1" dirty="0"/>
              <a:t>only</a:t>
            </a:r>
            <a:r>
              <a:rPr lang="en-US" sz="1800" dirty="0"/>
              <a:t> resolve by reading the </a:t>
            </a:r>
            <a:r>
              <a:rPr lang="en-US" sz="1800" b="1" dirty="0"/>
              <a:t>entire document</a:t>
            </a:r>
            <a:r>
              <a:rPr lang="en-US" sz="1800" dirty="0"/>
              <a:t>. The model, which was limited to single paragraphs, was failing because it didn't have the full context.</a:t>
            </a:r>
          </a:p>
          <a:p>
            <a:endParaRPr lang="en-US" sz="1800" dirty="0"/>
          </a:p>
          <a:p>
            <a:r>
              <a:rPr lang="en-US" sz="1800" dirty="0"/>
              <a:t>"</a:t>
            </a:r>
            <a:r>
              <a:rPr lang="en-US" sz="1800" b="1" dirty="0"/>
              <a:t>Third, Data Imbalance.</a:t>
            </a:r>
            <a:r>
              <a:rPr lang="en-US" sz="1800" dirty="0"/>
              <a:t> This is a practical but critical problem. The Al </a:t>
            </a:r>
            <a:r>
              <a:rPr lang="en-US" sz="1800" dirty="0" err="1"/>
              <a:t>Zubaer</a:t>
            </a:r>
            <a:r>
              <a:rPr lang="en-US" sz="1800" dirty="0"/>
              <a:t> paper notes their dataset is </a:t>
            </a:r>
            <a:r>
              <a:rPr lang="en-US" sz="1800" b="1" dirty="0"/>
              <a:t>'heavily imbalanced'</a:t>
            </a:r>
            <a:r>
              <a:rPr lang="en-US" sz="1800" dirty="0"/>
              <a:t> with far more premises than conclusions. The </a:t>
            </a:r>
            <a:r>
              <a:rPr lang="en-US" sz="1800" dirty="0" err="1"/>
              <a:t>Habernal</a:t>
            </a:r>
            <a:r>
              <a:rPr lang="en-US" sz="1800" dirty="0"/>
              <a:t> dataset is even more extreme.</a:t>
            </a:r>
          </a:p>
          <a:p>
            <a:endParaRPr lang="en-US" sz="1800" dirty="0"/>
          </a:p>
          <a:p>
            <a:r>
              <a:rPr lang="en-US" sz="1800" dirty="0"/>
              <a:t>"</a:t>
            </a:r>
            <a:r>
              <a:rPr lang="en-US" sz="1800" b="1" dirty="0"/>
              <a:t>And finally, Implicit Reasoning.</a:t>
            </a:r>
            <a:r>
              <a:rPr lang="en-US" sz="1800" dirty="0"/>
              <a:t> This is a challenge we investigate deeply in </a:t>
            </a:r>
            <a:r>
              <a:rPr lang="en-US" sz="1800" i="1" dirty="0"/>
              <a:t>our</a:t>
            </a:r>
            <a:r>
              <a:rPr lang="en-US" sz="1800" dirty="0"/>
              <a:t> paper. Often, the reasoning is subtle. In the </a:t>
            </a:r>
            <a:r>
              <a:rPr lang="en-US" sz="1800" dirty="0" err="1"/>
              <a:t>Habernal</a:t>
            </a:r>
            <a:r>
              <a:rPr lang="en-US" sz="1800" dirty="0"/>
              <a:t> study, they found many errors were in these highly ambiguous, context-dependent cases.</a:t>
            </a: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28010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502AE3A1-1F47-B24A-5D7C-B30B0567FC19}"/>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38AC2FC1-16B6-2E76-BC92-A3DB7A836C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11A51AEC-6520-EFD4-EC64-95C495F2CA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800" b="1" dirty="0"/>
              <a:t>Detailed Talking Notes for Your Presentation</a:t>
            </a:r>
          </a:p>
          <a:p>
            <a:r>
              <a:rPr lang="en-US" sz="1800" dirty="0"/>
              <a:t>I now want to switch to the second, parallel field that our work builds on: </a:t>
            </a:r>
            <a:r>
              <a:rPr lang="en-US" sz="1800" b="1" dirty="0"/>
              <a:t>Extractive Question Answering</a:t>
            </a:r>
            <a:r>
              <a:rPr lang="en-US" sz="1800" dirty="0"/>
              <a:t>, or EQA. This field provides the </a:t>
            </a:r>
            <a:r>
              <a:rPr lang="en-US" sz="1800" i="1" dirty="0"/>
              <a:t>methodology</a:t>
            </a:r>
            <a:r>
              <a:rPr lang="en-US" sz="1800" dirty="0"/>
              <a:t> for </a:t>
            </a:r>
            <a:r>
              <a:rPr lang="en-US" sz="1800" i="1" dirty="0"/>
              <a:t>how</a:t>
            </a:r>
            <a:r>
              <a:rPr lang="en-US" sz="1800" dirty="0"/>
              <a:t> we find those arguments.</a:t>
            </a:r>
          </a:p>
          <a:p>
            <a:br>
              <a:rPr lang="en-US" sz="1800" dirty="0"/>
            </a:br>
            <a:endParaRPr lang="en-US" sz="1800" dirty="0"/>
          </a:p>
          <a:p>
            <a:r>
              <a:rPr lang="en-US" sz="1800" dirty="0"/>
              <a:t>"At its core, EQA is a form of </a:t>
            </a:r>
            <a:r>
              <a:rPr lang="en-US" sz="1800" b="1" dirty="0"/>
              <a:t>Reading Comprehension</a:t>
            </a:r>
            <a:r>
              <a:rPr lang="en-US" sz="1800" dirty="0"/>
              <a:t>. The task is simple to define: you give a model a 'context'—a piece of text—and a 'question.' The model’s job is to read the context and extract the literal </a:t>
            </a:r>
            <a:r>
              <a:rPr lang="en-US" sz="1800" i="1" dirty="0"/>
              <a:t>span of text</a:t>
            </a:r>
            <a:r>
              <a:rPr lang="en-US" sz="1800" dirty="0"/>
              <a:t> that contains the answer.</a:t>
            </a:r>
          </a:p>
          <a:p>
            <a:endParaRPr lang="en-US" sz="1800" dirty="0"/>
          </a:p>
          <a:p>
            <a:r>
              <a:rPr lang="en-US" sz="1800" dirty="0"/>
              <a:t>"This entire field was essentially standardized by the </a:t>
            </a:r>
            <a:r>
              <a:rPr lang="en-US" sz="1800" b="1" dirty="0" err="1"/>
              <a:t>SQuAD</a:t>
            </a:r>
            <a:r>
              <a:rPr lang="en-US" sz="1800" b="1" dirty="0"/>
              <a:t>, the Stanford Question Answering Dataset</a:t>
            </a:r>
            <a:r>
              <a:rPr lang="en-US" sz="1800" dirty="0"/>
              <a:t>. </a:t>
            </a:r>
            <a:r>
              <a:rPr lang="en-US" sz="1800" dirty="0" err="1"/>
              <a:t>SQuAD</a:t>
            </a:r>
            <a:r>
              <a:rPr lang="en-US" sz="1800" dirty="0"/>
              <a:t> introduced the </a:t>
            </a:r>
            <a:r>
              <a:rPr lang="en-US" sz="1100" b="0" i="0" u="none" strike="noStrike" cap="none" dirty="0">
                <a:solidFill>
                  <a:srgbClr val="000000"/>
                </a:solidFill>
                <a:latin typeface="Arial"/>
                <a:ea typeface="Arial"/>
                <a:cs typeface="Arial"/>
                <a:sym typeface="Arial"/>
              </a:rPr>
              <a:t>(Context, Question, Answer-Span)</a:t>
            </a:r>
            <a:r>
              <a:rPr lang="en-US" sz="1800" dirty="0"/>
              <a:t> triplet. It became the </a:t>
            </a:r>
            <a:r>
              <a:rPr lang="en-US" sz="1800" i="1" dirty="0"/>
              <a:t>de facto</a:t>
            </a:r>
            <a:r>
              <a:rPr lang="en-US" sz="1800" dirty="0"/>
              <a:t> benchmark for this kind of task.</a:t>
            </a:r>
          </a:p>
          <a:p>
            <a:br>
              <a:rPr lang="en-US" sz="1800" dirty="0"/>
            </a:br>
            <a:endParaRPr lang="en-US" sz="1800" dirty="0"/>
          </a:p>
          <a:p>
            <a:r>
              <a:rPr lang="en-US" sz="1800" dirty="0"/>
              <a:t>"This EQA framework is a very </a:t>
            </a:r>
            <a:r>
              <a:rPr lang="en-US" sz="1800" b="1" dirty="0"/>
              <a:t>natural fit for the legal domain</a:t>
            </a:r>
            <a:r>
              <a:rPr lang="en-US" sz="1800" dirty="0"/>
              <a:t>. A core part of legal work isn't always creative writing; it's precision retrieval. It's about finding the </a:t>
            </a:r>
            <a:r>
              <a:rPr lang="en-US" sz="1800" i="1" dirty="0"/>
              <a:t>exact</a:t>
            </a:r>
            <a:r>
              <a:rPr lang="en-US" sz="1800" dirty="0"/>
              <a:t> clause in a 100-page contract, the </a:t>
            </a:r>
            <a:r>
              <a:rPr lang="en-US" sz="1800" i="1" dirty="0"/>
              <a:t>specific fact</a:t>
            </a:r>
            <a:r>
              <a:rPr lang="en-US" sz="1800" dirty="0"/>
              <a:t> in a case file, or the </a:t>
            </a:r>
            <a:r>
              <a:rPr lang="en-US" sz="1800" i="1" dirty="0"/>
              <a:t>key sentence</a:t>
            </a:r>
            <a:r>
              <a:rPr lang="en-US" sz="1800" dirty="0"/>
              <a:t> of a judge's reasoning.</a:t>
            </a:r>
          </a:p>
          <a:p>
            <a:r>
              <a:rPr lang="en-US" sz="1800" dirty="0"/>
              <a:t>"By framing a complex legal analysis as a series of targeted questions, the EQA framework allows us to deconstruct a massive, unstructured document into its core, structured components.</a:t>
            </a:r>
          </a:p>
          <a:p>
            <a:br>
              <a:rPr lang="en-US" sz="1800" dirty="0"/>
            </a:br>
            <a:endParaRPr lang="en-US" sz="1800" dirty="0"/>
          </a:p>
          <a:p>
            <a:r>
              <a:rPr lang="en-US" sz="1800" dirty="0"/>
              <a:t>"And we've seen this methodology validated across the legal NLP literature. There has been a recent surge in datasets that apply this 'reading comprehension' model to legal texts.</a:t>
            </a:r>
          </a:p>
          <a:p>
            <a:r>
              <a:rPr lang="en-US" sz="1800" dirty="0"/>
              <a:t>"For example, the </a:t>
            </a:r>
            <a:r>
              <a:rPr lang="en-US" sz="1800" b="1" dirty="0"/>
              <a:t>MAUD dataset</a:t>
            </a:r>
            <a:r>
              <a:rPr lang="en-US" sz="1800" dirty="0"/>
              <a:t> is a key benchmark here. It's a large-scale, </a:t>
            </a:r>
            <a:r>
              <a:rPr lang="en-US" sz="1800" i="1" dirty="0"/>
              <a:t>expert-annotated</a:t>
            </a:r>
            <a:r>
              <a:rPr lang="en-US" sz="1800" dirty="0"/>
              <a:t> dataset with over 47,000 questions about English-language merger agreements.</a:t>
            </a:r>
          </a:p>
          <a:p>
            <a:r>
              <a:rPr lang="en-US" sz="1800" dirty="0"/>
              <a:t>"But it's not the only one. We have </a:t>
            </a:r>
            <a:r>
              <a:rPr lang="en-US" sz="1800" b="1" dirty="0" err="1"/>
              <a:t>Koreeda</a:t>
            </a:r>
            <a:r>
              <a:rPr lang="en-US" sz="1800" b="1" dirty="0"/>
              <a:t> &amp; Manning (2021)</a:t>
            </a:r>
            <a:r>
              <a:rPr lang="en-US" sz="1800" dirty="0"/>
              <a:t>, who applied this to nondisclosure agreements. We have </a:t>
            </a:r>
            <a:r>
              <a:rPr lang="en-US" sz="1800" b="1" dirty="0"/>
              <a:t>Zheng et al. (2021)</a:t>
            </a:r>
            <a:r>
              <a:rPr lang="en-US" sz="1800" dirty="0"/>
              <a:t>, who created a massive multiple-choice dataset from US case law citations. And in other languages, </a:t>
            </a:r>
            <a:r>
              <a:rPr lang="en-US" sz="1800" b="1" dirty="0"/>
              <a:t>Duan et al. (2019)</a:t>
            </a:r>
            <a:r>
              <a:rPr lang="en-US" sz="1800" dirty="0"/>
              <a:t> created a 50,000-question, expert-annotated dataset for Chinese judicial rulings called CRJC.</a:t>
            </a:r>
          </a:p>
          <a:p>
            <a:r>
              <a:rPr lang="en-US" sz="1800" dirty="0"/>
              <a:t>"So, the literature clearly shows that EQA is a robust, validated, and state-of-the-art method for handling complex legal texts.</a:t>
            </a: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49521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D49001DB-E131-45EC-BAD2-186F10442B54}"/>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23BE3B07-E3B6-0EBC-5374-496D71D9D3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BC44EDCE-AD98-3C0C-DA6E-60E7AE5D8B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800" b="1" dirty="0"/>
              <a:t>Detailed Talking Notes for Your Presentation</a:t>
            </a:r>
          </a:p>
          <a:p>
            <a:r>
              <a:rPr lang="en-US" sz="1800" dirty="0"/>
              <a:t>I now want to switch to the second, parallel field that our work builds on: </a:t>
            </a:r>
            <a:r>
              <a:rPr lang="en-US" sz="1800" b="1" dirty="0"/>
              <a:t>Extractive Question Answering</a:t>
            </a:r>
            <a:r>
              <a:rPr lang="en-US" sz="1800" dirty="0"/>
              <a:t>, or EQA. This field provides the </a:t>
            </a:r>
            <a:r>
              <a:rPr lang="en-US" sz="1800" i="1" dirty="0"/>
              <a:t>methodology</a:t>
            </a:r>
            <a:r>
              <a:rPr lang="en-US" sz="1800" dirty="0"/>
              <a:t> for </a:t>
            </a:r>
            <a:r>
              <a:rPr lang="en-US" sz="1800" i="1" dirty="0"/>
              <a:t>how</a:t>
            </a:r>
            <a:r>
              <a:rPr lang="en-US" sz="1800" dirty="0"/>
              <a:t> we find those arguments.</a:t>
            </a:r>
          </a:p>
          <a:p>
            <a:br>
              <a:rPr lang="en-US" sz="1800" dirty="0"/>
            </a:br>
            <a:endParaRPr lang="en-US" sz="1800" dirty="0"/>
          </a:p>
          <a:p>
            <a:r>
              <a:rPr lang="en-US" sz="1800" dirty="0"/>
              <a:t>"At its core, EQA is a form of </a:t>
            </a:r>
            <a:r>
              <a:rPr lang="en-US" sz="1800" b="1" dirty="0"/>
              <a:t>Reading Comprehension</a:t>
            </a:r>
            <a:r>
              <a:rPr lang="en-US" sz="1800" dirty="0"/>
              <a:t>. The task is simple to define: you give a model a 'context'—a piece of text—and a 'question.' The model’s job is to read the context and extract the literal </a:t>
            </a:r>
            <a:r>
              <a:rPr lang="en-US" sz="1800" i="1" dirty="0"/>
              <a:t>span of text</a:t>
            </a:r>
            <a:r>
              <a:rPr lang="en-US" sz="1800" dirty="0"/>
              <a:t> that contains the answer.</a:t>
            </a:r>
          </a:p>
          <a:p>
            <a:endParaRPr lang="en-US" sz="1800" dirty="0"/>
          </a:p>
          <a:p>
            <a:r>
              <a:rPr lang="en-US" sz="1800" dirty="0"/>
              <a:t>"This entire field was essentially standardized by the </a:t>
            </a:r>
            <a:r>
              <a:rPr lang="en-US" sz="1800" b="1" dirty="0" err="1"/>
              <a:t>SQuAD</a:t>
            </a:r>
            <a:r>
              <a:rPr lang="en-US" sz="1800" b="1" dirty="0"/>
              <a:t>, the Stanford Question Answering Dataset</a:t>
            </a:r>
            <a:r>
              <a:rPr lang="en-US" sz="1800" dirty="0"/>
              <a:t>. </a:t>
            </a:r>
            <a:r>
              <a:rPr lang="en-US" sz="1800" dirty="0" err="1"/>
              <a:t>SQuAD</a:t>
            </a:r>
            <a:r>
              <a:rPr lang="en-US" sz="1800" dirty="0"/>
              <a:t> introduced the </a:t>
            </a:r>
            <a:r>
              <a:rPr lang="en-US" sz="1100" b="0" i="0" u="none" strike="noStrike" cap="none" dirty="0">
                <a:solidFill>
                  <a:srgbClr val="000000"/>
                </a:solidFill>
                <a:latin typeface="Arial"/>
                <a:ea typeface="Arial"/>
                <a:cs typeface="Arial"/>
                <a:sym typeface="Arial"/>
              </a:rPr>
              <a:t>(Context, Question, Answer-Span)</a:t>
            </a:r>
            <a:r>
              <a:rPr lang="en-US" sz="1800" dirty="0"/>
              <a:t> triplet. It became the </a:t>
            </a:r>
            <a:r>
              <a:rPr lang="en-US" sz="1800" i="1" dirty="0"/>
              <a:t>de facto</a:t>
            </a:r>
            <a:r>
              <a:rPr lang="en-US" sz="1800" dirty="0"/>
              <a:t> benchmark for this kind of task.</a:t>
            </a:r>
          </a:p>
          <a:p>
            <a:br>
              <a:rPr lang="en-US" sz="1800" dirty="0"/>
            </a:br>
            <a:endParaRPr lang="en-US" sz="1800" dirty="0"/>
          </a:p>
          <a:p>
            <a:r>
              <a:rPr lang="en-US" sz="1800" dirty="0"/>
              <a:t>"This EQA framework is a very </a:t>
            </a:r>
            <a:r>
              <a:rPr lang="en-US" sz="1800" b="1" dirty="0"/>
              <a:t>natural fit for the legal domain</a:t>
            </a:r>
            <a:r>
              <a:rPr lang="en-US" sz="1800" dirty="0"/>
              <a:t>. A core part of legal work isn't always creative writing; it's precision retrieval. It's about finding the </a:t>
            </a:r>
            <a:r>
              <a:rPr lang="en-US" sz="1800" i="1" dirty="0"/>
              <a:t>exact</a:t>
            </a:r>
            <a:r>
              <a:rPr lang="en-US" sz="1800" dirty="0"/>
              <a:t> clause in a 100-page contract, the </a:t>
            </a:r>
            <a:r>
              <a:rPr lang="en-US" sz="1800" i="1" dirty="0"/>
              <a:t>specific fact</a:t>
            </a:r>
            <a:r>
              <a:rPr lang="en-US" sz="1800" dirty="0"/>
              <a:t> in a case file, or the </a:t>
            </a:r>
            <a:r>
              <a:rPr lang="en-US" sz="1800" i="1" dirty="0"/>
              <a:t>key sentence</a:t>
            </a:r>
            <a:r>
              <a:rPr lang="en-US" sz="1800" dirty="0"/>
              <a:t> of a judge's reasoning.</a:t>
            </a:r>
          </a:p>
          <a:p>
            <a:r>
              <a:rPr lang="en-US" sz="1800" dirty="0"/>
              <a:t>"By framing a complex legal analysis as a series of targeted questions, the EQA framework allows us to deconstruct a massive, unstructured document into its core, structured components.</a:t>
            </a:r>
          </a:p>
          <a:p>
            <a:br>
              <a:rPr lang="en-US" sz="1800" dirty="0"/>
            </a:br>
            <a:endParaRPr lang="en-US" sz="1800" dirty="0"/>
          </a:p>
          <a:p>
            <a:r>
              <a:rPr lang="en-US" sz="1800" dirty="0"/>
              <a:t>"And we've seen this methodology validated across the legal NLP literature. There has been a recent surge in datasets that apply this 'reading comprehension' model to legal texts.</a:t>
            </a:r>
          </a:p>
          <a:p>
            <a:r>
              <a:rPr lang="en-US" sz="1800" dirty="0"/>
              <a:t>"For example, the </a:t>
            </a:r>
            <a:r>
              <a:rPr lang="en-US" sz="1800" b="1" dirty="0"/>
              <a:t>MAUD dataset</a:t>
            </a:r>
            <a:r>
              <a:rPr lang="en-US" sz="1800" dirty="0"/>
              <a:t> is a key benchmark here. It's a large-scale, </a:t>
            </a:r>
            <a:r>
              <a:rPr lang="en-US" sz="1800" i="1" dirty="0"/>
              <a:t>expert-annotated</a:t>
            </a:r>
            <a:r>
              <a:rPr lang="en-US" sz="1800" dirty="0"/>
              <a:t> dataset with over 47,000 questions about English-language merger agreements.</a:t>
            </a:r>
          </a:p>
          <a:p>
            <a:r>
              <a:rPr lang="en-US" sz="1800" dirty="0"/>
              <a:t>"But it's not the only one. We have </a:t>
            </a:r>
            <a:r>
              <a:rPr lang="en-US" sz="1800" b="1" dirty="0" err="1"/>
              <a:t>Koreeda</a:t>
            </a:r>
            <a:r>
              <a:rPr lang="en-US" sz="1800" b="1" dirty="0"/>
              <a:t> &amp; Manning (2021)</a:t>
            </a:r>
            <a:r>
              <a:rPr lang="en-US" sz="1800" dirty="0"/>
              <a:t>, who applied this to nondisclosure agreements. We have </a:t>
            </a:r>
            <a:r>
              <a:rPr lang="en-US" sz="1800" b="1" dirty="0"/>
              <a:t>Zheng et al. (2021)</a:t>
            </a:r>
            <a:r>
              <a:rPr lang="en-US" sz="1800" dirty="0"/>
              <a:t>, who created a massive multiple-choice dataset from US case law citations. And in other languages, </a:t>
            </a:r>
            <a:r>
              <a:rPr lang="en-US" sz="1800" b="1" dirty="0"/>
              <a:t>Duan et al. (2019)</a:t>
            </a:r>
            <a:r>
              <a:rPr lang="en-US" sz="1800" dirty="0"/>
              <a:t> created a 50,000-question, expert-annotated dataset for Chinese judicial rulings called CRJC.</a:t>
            </a:r>
            <a:br>
              <a:rPr lang="en-US" sz="1800" dirty="0"/>
            </a:br>
            <a:br>
              <a:rPr lang="en-US" sz="1800" dirty="0"/>
            </a:br>
            <a:r>
              <a:rPr lang="en-US" sz="1800" dirty="0"/>
              <a:t>For example this is a figure from the MENG et al paper which uses CRJC dataset, they have also used BERT</a:t>
            </a: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48497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B6F09A26-F4B7-4D08-A5FE-279C48567EC2}"/>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2390DABA-C0D4-16D0-6729-7E637351DE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0F602CD9-2DAE-E29E-1516-ABC04249A9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r>
              <a:rPr lang="en-US" sz="1800" dirty="0"/>
              <a:t>So, this slide brings it all together and shows exactly where our study fits in this landscape. Our work is built at the </a:t>
            </a:r>
            <a:r>
              <a:rPr lang="en-US" sz="1800" b="1" dirty="0"/>
              <a:t>intersection of Legal Argument Mining and Extractive Question Answering.</a:t>
            </a:r>
          </a:p>
          <a:p>
            <a:pPr algn="just"/>
            <a:endParaRPr lang="en-US" sz="1800" b="1" dirty="0">
              <a:effectLst/>
              <a:latin typeface="Times New Roman" panose="02020603050405020304" pitchFamily="18" charset="0"/>
              <a:ea typeface="Times New Roman" panose="02020603050405020304" pitchFamily="18" charset="0"/>
            </a:endParaRPr>
          </a:p>
          <a:p>
            <a:endParaRPr lang="en-US" sz="1800" dirty="0"/>
          </a:p>
          <a:p>
            <a:r>
              <a:rPr lang="en-US" sz="1800" dirty="0"/>
              <a:t>"This is where </a:t>
            </a:r>
            <a:r>
              <a:rPr lang="en-US" sz="1800" b="1" dirty="0"/>
              <a:t>Question Answering (QA)</a:t>
            </a:r>
            <a:r>
              <a:rPr lang="en-US" sz="1800" dirty="0"/>
              <a:t> and reading comprehension have become an established framework for performing targeted NLP tasks. A typical reading comprehension test consists of some context and many different questions that targets different sections of the context, here we inquire by operationalizing the application of legal rule and creating a set of questions that reveals the underlying reasoning, and then using this fixed questions on different legal judgments to verify whether can we see the answers to this fixed questions.</a:t>
            </a:r>
          </a:p>
          <a:p>
            <a:endParaRPr lang="en-US" sz="1800" dirty="0"/>
          </a:p>
          <a:p>
            <a:endParaRPr lang="en-US" sz="1800" dirty="0"/>
          </a:p>
          <a:p>
            <a:r>
              <a:rPr lang="en-US" sz="1800" dirty="0"/>
              <a:t>It gives us a precise tool. Instead of just classifying </a:t>
            </a:r>
            <a:r>
              <a:rPr lang="en-US" sz="1800" i="1" dirty="0"/>
              <a:t>every sentence</a:t>
            </a:r>
            <a:r>
              <a:rPr lang="en-US" sz="1800" dirty="0"/>
              <a:t> and hoping for the best, a QA framework allows us to ask a </a:t>
            </a:r>
            <a:r>
              <a:rPr lang="en-US" sz="1800" i="1" dirty="0"/>
              <a:t>specific, targeted question</a:t>
            </a:r>
            <a:r>
              <a:rPr lang="en-US" sz="1800" dirty="0"/>
              <a:t> to find a </a:t>
            </a:r>
            <a:r>
              <a:rPr lang="en-US" sz="1800" i="1" dirty="0"/>
              <a:t>specific component</a:t>
            </a:r>
            <a:r>
              <a:rPr lang="en-US" sz="1800" dirty="0"/>
              <a:t> of reasoning.</a:t>
            </a:r>
          </a:p>
          <a:p>
            <a:endParaRPr lang="en-US" sz="1800" dirty="0"/>
          </a:p>
          <a:p>
            <a:r>
              <a:rPr lang="en-US" sz="1800" dirty="0"/>
              <a:t>"And </a:t>
            </a:r>
            <a:r>
              <a:rPr lang="en-US" sz="1800" b="1" dirty="0"/>
              <a:t>for that reason</a:t>
            </a:r>
            <a:r>
              <a:rPr lang="en-US" sz="1800" dirty="0"/>
              <a:t>, we integrated a QA-style annotation scheme for our own legal argument extraction task.</a:t>
            </a: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00964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3D3A0441-F957-E52B-2A99-E64849B42927}"/>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597C1771-5A4B-960D-FBB9-D238856517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2BF53F0E-CA09-8A55-8BE9-4C787A00BC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800" b="1" dirty="0"/>
              <a:t>(Slide Opens: "Background – Technology Undertaking Exception Rule")</a:t>
            </a:r>
            <a:endParaRPr lang="en-US" sz="1800" dirty="0"/>
          </a:p>
          <a:p>
            <a:r>
              <a:rPr lang="en-US" sz="1800" dirty="0"/>
              <a:t>"Okay, so to understand our project, we first need to understand the real-world legal problem we're solving. It’s about this new rule from the </a:t>
            </a:r>
            <a:r>
              <a:rPr lang="en-US" sz="1800" b="1" dirty="0"/>
              <a:t>Turkish Competition Authority</a:t>
            </a:r>
            <a:r>
              <a:rPr lang="en-US" sz="1800" dirty="0"/>
              <a:t>, or </a:t>
            </a:r>
            <a:r>
              <a:rPr lang="en-US" sz="1800" b="1" dirty="0"/>
              <a:t>TCA</a:t>
            </a:r>
            <a:r>
              <a:rPr lang="en-US" sz="1800" dirty="0"/>
              <a:t>.</a:t>
            </a:r>
          </a:p>
          <a:p>
            <a:br>
              <a:rPr lang="en-US" sz="1800" dirty="0"/>
            </a:br>
            <a:endParaRPr lang="en-US" sz="1800" dirty="0"/>
          </a:p>
          <a:p>
            <a:r>
              <a:rPr lang="en-US" sz="1800" b="1" dirty="0"/>
              <a:t>(Click to: 'Introduced by the Turkish Competition Authority...')</a:t>
            </a:r>
            <a:endParaRPr lang="en-US" sz="1800" dirty="0"/>
          </a:p>
          <a:p>
            <a:r>
              <a:rPr lang="en-US" sz="1800" dirty="0"/>
              <a:t>"The TCA is Turkey's main market regulator. Their job is to make sure competition is fair, similar to the FTC or DOJ here in the U.S. In March 2022, they introduced this new rule.</a:t>
            </a:r>
          </a:p>
          <a:p>
            <a:br>
              <a:rPr lang="en-US" sz="1800" dirty="0"/>
            </a:br>
            <a:endParaRPr lang="en-US" sz="1800" dirty="0"/>
          </a:p>
          <a:p>
            <a:r>
              <a:rPr lang="en-US" sz="1800" dirty="0"/>
              <a:t>"This rule is part of their </a:t>
            </a:r>
            <a:r>
              <a:rPr lang="en-US" sz="1800" b="1" dirty="0"/>
              <a:t>'merger control'</a:t>
            </a:r>
            <a:r>
              <a:rPr lang="en-US" sz="1800" dirty="0"/>
              <a:t> regime. The whole </a:t>
            </a:r>
            <a:r>
              <a:rPr lang="en-US" sz="1800" i="1" dirty="0"/>
              <a:t>purpose</a:t>
            </a:r>
            <a:r>
              <a:rPr lang="en-US" sz="1800" dirty="0"/>
              <a:t> of merger control is to prevent monopolies. Regulators want to review large business deals—mergers or acquisitions—to stop one or two companies from getting so big that they can control an entire market and harm consumers.</a:t>
            </a:r>
          </a:p>
          <a:p>
            <a:endParaRPr lang="en-US" sz="1800" dirty="0"/>
          </a:p>
          <a:p>
            <a:r>
              <a:rPr lang="en-US" sz="1800" dirty="0"/>
              <a:t>"But this creates a </a:t>
            </a:r>
            <a:r>
              <a:rPr lang="en-US" sz="1800" b="1" dirty="0"/>
              <a:t>trade-off</a:t>
            </a:r>
            <a:r>
              <a:rPr lang="en-US" sz="1800" dirty="0"/>
              <a:t>: it's simply not logical review </a:t>
            </a:r>
            <a:r>
              <a:rPr lang="en-US" sz="1800" i="1" dirty="0"/>
              <a:t>every</a:t>
            </a:r>
            <a:r>
              <a:rPr lang="en-US" sz="1800" dirty="0"/>
              <a:t> single transaction so there is a revenue threshold, if the companies in the deal make less than a certain amount of money, they do not have to let TCA know about that. The deal is too small to worry about.</a:t>
            </a:r>
          </a:p>
          <a:p>
            <a:br>
              <a:rPr lang="en-US" sz="1800" dirty="0"/>
            </a:br>
            <a:endParaRPr lang="en-US" sz="1800" dirty="0"/>
          </a:p>
          <a:p>
            <a:r>
              <a:rPr lang="en-US" sz="1800" dirty="0"/>
              <a:t>"The problem is </a:t>
            </a:r>
            <a:r>
              <a:rPr lang="en-US" sz="1800" b="1" dirty="0"/>
              <a:t>tech startups</a:t>
            </a:r>
            <a:r>
              <a:rPr lang="en-US" sz="1800" dirty="0"/>
              <a:t>. A startup can have a revolutionary product, millions of users, and a billion-dollar valuation, but almost </a:t>
            </a:r>
            <a:r>
              <a:rPr lang="en-US" sz="1800" i="0" u="none" dirty="0"/>
              <a:t>zero revenue</a:t>
            </a:r>
            <a:r>
              <a:rPr lang="en-US" sz="1800" dirty="0"/>
              <a:t>.</a:t>
            </a:r>
          </a:p>
          <a:p>
            <a:r>
              <a:rPr lang="en-US" sz="1800" dirty="0"/>
              <a:t>"Under the old rules, a huge company could buy—and shut down—a small, innovative competitor and the deal would be </a:t>
            </a:r>
            <a:r>
              <a:rPr lang="en-US" sz="1800" i="1" dirty="0"/>
              <a:t>under</a:t>
            </a:r>
            <a:r>
              <a:rPr lang="en-US" sz="1800" dirty="0"/>
              <a:t> the revenue threshold. The TCA couldn't legally review it.</a:t>
            </a:r>
          </a:p>
          <a:p>
            <a:endParaRPr lang="en-US" sz="1800" dirty="0"/>
          </a:p>
          <a:p>
            <a:r>
              <a:rPr lang="en-US" sz="1800" dirty="0"/>
              <a:t>"This new rule is the fix. It says: if the company you are buying is a </a:t>
            </a:r>
            <a:r>
              <a:rPr lang="en-US" sz="1800" b="1" dirty="0"/>
              <a:t>'technology undertaking,'</a:t>
            </a:r>
            <a:r>
              <a:rPr lang="en-US" sz="1800" dirty="0"/>
              <a:t> the old </a:t>
            </a:r>
            <a:r>
              <a:rPr lang="en-US" sz="1800" b="1" dirty="0"/>
              <a:t>local revenue thresholds for the target company are no longer applied</a:t>
            </a:r>
            <a:r>
              <a:rPr lang="en-US" sz="1800" dirty="0"/>
              <a:t>. This effectively </a:t>
            </a:r>
            <a:r>
              <a:rPr lang="en-US" sz="1800" i="1" dirty="0"/>
              <a:t>relaxes</a:t>
            </a:r>
            <a:r>
              <a:rPr lang="en-US" sz="1800" dirty="0"/>
              <a:t> the criteria, </a:t>
            </a:r>
            <a:r>
              <a:rPr lang="en-US" sz="1800" i="1" dirty="0"/>
              <a:t>expanding</a:t>
            </a:r>
            <a:r>
              <a:rPr lang="en-US" sz="1800" dirty="0"/>
              <a:t> the TCA's jurisdiction so it now has the power to review these deals. We do not have to deal with the numbers because it is unnecessary for this task, but </a:t>
            </a:r>
          </a:p>
          <a:p>
            <a:endParaRPr lang="en-US" sz="1800" dirty="0"/>
          </a:p>
          <a:p>
            <a:endParaRPr lang="en-US" sz="1800" dirty="0"/>
          </a:p>
          <a:p>
            <a:r>
              <a:rPr lang="en-US" sz="1800" dirty="0"/>
              <a:t>"This is the core of our research problem. The rule is simple, but its </a:t>
            </a:r>
            <a:r>
              <a:rPr lang="en-US" sz="1800" i="1" dirty="0"/>
              <a:t>application</a:t>
            </a:r>
            <a:r>
              <a:rPr lang="en-US" sz="1800" dirty="0"/>
              <a:t> is not. It has created a massive </a:t>
            </a:r>
            <a:r>
              <a:rPr lang="en-US" sz="1800" b="1" dirty="0"/>
              <a:t>'gray area'</a:t>
            </a:r>
            <a:r>
              <a:rPr lang="en-US" sz="1800" dirty="0"/>
              <a:t>. What </a:t>
            </a:r>
            <a:r>
              <a:rPr lang="en-US" sz="1800" i="1" dirty="0"/>
              <a:t>is</a:t>
            </a:r>
            <a:r>
              <a:rPr lang="en-US" sz="1800" dirty="0"/>
              <a:t> a 'technology undertaking’? For example lets say the target company, company you want to buy is a roofing company in the DC area, they are basically contractors, but lets say these folks use a mobile application to better connect with their customers, is this a technology undertaking? questions are endless so while the rule is simple, since it is too simple it creates a lot of questions</a:t>
            </a:r>
            <a:br>
              <a:rPr lang="en-US" sz="1800" dirty="0"/>
            </a:br>
            <a:br>
              <a:rPr lang="en-US" sz="1800" dirty="0"/>
            </a:br>
            <a:r>
              <a:rPr lang="en-US" sz="1800" dirty="0"/>
              <a:t>"The only way to find answers is to see how the TCA decides in its first cases. This has led to a flood of analysis from law firms, all trying to dissect these new decisions to find a pattern: </a:t>
            </a:r>
            <a:r>
              <a:rPr lang="en-US" sz="1800" i="1" dirty="0"/>
              <a:t>which companies</a:t>
            </a:r>
            <a:r>
              <a:rPr lang="en-US" sz="1800" dirty="0"/>
              <a:t> are being considered 'technology undertakings,' and </a:t>
            </a:r>
            <a:r>
              <a:rPr lang="en-US" sz="1800" i="1" dirty="0"/>
              <a:t>what</a:t>
            </a:r>
            <a:r>
              <a:rPr lang="en-US" sz="1800" dirty="0"/>
              <a:t> counts as a 'market nexus’?</a:t>
            </a:r>
          </a:p>
          <a:p>
            <a:br>
              <a:rPr lang="en-US" sz="1800" dirty="0"/>
            </a:br>
            <a:r>
              <a:rPr lang="en-US" sz="1800" dirty="0"/>
              <a:t>"It is </a:t>
            </a:r>
            <a:r>
              <a:rPr lang="en-US" sz="1800" i="1" dirty="0"/>
              <a:t>this</a:t>
            </a:r>
            <a:r>
              <a:rPr lang="en-US" sz="1800" dirty="0"/>
              <a:t> exact, high-stakes, manual analysis—reading decisions to find the TCA's hidden reasoning—that we are modeling as an automated extraction problem."</a:t>
            </a: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81556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5726E640-B50F-8908-EE1F-621D07992C59}"/>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211EABFE-A743-419A-C42A-F85A816705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858A208B-475F-3D3B-E917-D468A65A2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endParaRPr lang="en-US" sz="1800" dirty="0">
              <a:effectLst/>
              <a:latin typeface="Times New Roman" panose="02020603050405020304" pitchFamily="18" charset="0"/>
              <a:ea typeface="Times New Roman" panose="02020603050405020304" pitchFamily="18" charset="0"/>
            </a:endParaRPr>
          </a:p>
          <a:p>
            <a:r>
              <a:rPr lang="en-US" sz="1800" dirty="0"/>
              <a:t>"So, how does this new rule actually work? This flowchart visualizes the </a:t>
            </a:r>
            <a:r>
              <a:rPr lang="en-US" sz="1800" b="1" dirty="0"/>
              <a:t>core analytical task</a:t>
            </a:r>
            <a:r>
              <a:rPr lang="en-US" sz="1800" dirty="0"/>
              <a:t> that the Turkish Competition Authority and any legal practitioner must now perform.</a:t>
            </a:r>
          </a:p>
          <a:p>
            <a:r>
              <a:rPr lang="en-US" sz="1800" dirty="0"/>
              <a:t>"This is the </a:t>
            </a:r>
            <a:r>
              <a:rPr lang="en-US" sz="1800" b="1" dirty="0"/>
              <a:t>two-part test</a:t>
            </a:r>
            <a:r>
              <a:rPr lang="en-US" sz="1800" dirty="0"/>
              <a:t> that the TCA itself established to determine if the new exception applies.</a:t>
            </a:r>
          </a:p>
          <a:p>
            <a:br>
              <a:rPr lang="en-US" sz="1800" dirty="0"/>
            </a:br>
            <a:endParaRPr lang="en-US" sz="1800" dirty="0"/>
          </a:p>
          <a:p>
            <a:r>
              <a:rPr lang="en-US" sz="1800" b="1" dirty="0"/>
              <a:t>(Point to the Blue Oval)</a:t>
            </a:r>
            <a:endParaRPr lang="en-US" sz="1800" dirty="0"/>
          </a:p>
          <a:p>
            <a:r>
              <a:rPr lang="en-US" sz="1800" dirty="0"/>
              <a:t>"Everything starts with a </a:t>
            </a:r>
            <a:r>
              <a:rPr lang="en-US" sz="1800" b="1" dirty="0"/>
              <a:t>'Merger or Acquisition Transaction.'</a:t>
            </a:r>
            <a:endParaRPr lang="en-US" sz="1800" dirty="0"/>
          </a:p>
          <a:p>
            <a:br>
              <a:rPr lang="en-US" sz="1800" dirty="0"/>
            </a:br>
            <a:endParaRPr lang="en-US" sz="1800" dirty="0"/>
          </a:p>
          <a:p>
            <a:r>
              <a:rPr lang="en-US" sz="1800" dirty="0"/>
              <a:t>"The </a:t>
            </a:r>
            <a:r>
              <a:rPr lang="en-US" sz="1800" b="1" dirty="0"/>
              <a:t>first test is the 'what'</a:t>
            </a:r>
            <a:r>
              <a:rPr lang="en-US" sz="1800" dirty="0"/>
              <a:t>: The TCA must determine if the target company is a </a:t>
            </a:r>
            <a:r>
              <a:rPr lang="en-US" sz="1800" b="1" dirty="0"/>
              <a:t>'technology undertaking'</a:t>
            </a:r>
            <a:r>
              <a:rPr lang="en-US" sz="1800" dirty="0"/>
              <a:t>.</a:t>
            </a:r>
          </a:p>
          <a:p>
            <a:r>
              <a:rPr lang="en-US" sz="1800" dirty="0"/>
              <a:t>"As the definition box on the left shows, this is a broad, substantive definition. The law, defines these as undertakings operating in fields like </a:t>
            </a:r>
            <a:r>
              <a:rPr lang="en-US" sz="1800" b="1" dirty="0"/>
              <a:t>'digital platforms, software or gaming software, financial technologies, biotechnology, pharmacology,'</a:t>
            </a:r>
            <a:r>
              <a:rPr lang="en-US" sz="1800" dirty="0"/>
              <a:t> and so on.</a:t>
            </a:r>
          </a:p>
          <a:p>
            <a:r>
              <a:rPr lang="en-US" sz="1800" dirty="0"/>
              <a:t>"If the answer is </a:t>
            </a:r>
            <a:r>
              <a:rPr lang="en-US" sz="1800" b="1" dirty="0"/>
              <a:t>'No'</a:t>
            </a:r>
            <a:r>
              <a:rPr lang="en-US" sz="1800" dirty="0"/>
              <a:t>—for example, the target is a cement company—this exception is irrelevant. The TCA simply moves on and </a:t>
            </a:r>
            <a:r>
              <a:rPr lang="en-US" sz="1800" b="1" dirty="0"/>
              <a:t>'Applies the standard thresholds'</a:t>
            </a:r>
            <a:r>
              <a:rPr lang="en-US" sz="1800" dirty="0"/>
              <a:t>, and the analysis for this rule ends.</a:t>
            </a:r>
          </a:p>
          <a:p>
            <a:br>
              <a:rPr lang="en-US" sz="1800" dirty="0"/>
            </a:br>
            <a:endParaRPr lang="en-US" sz="1800" dirty="0"/>
          </a:p>
          <a:p>
            <a:r>
              <a:rPr lang="en-US" sz="1800" dirty="0"/>
              <a:t>"But, if the answer is </a:t>
            </a:r>
            <a:r>
              <a:rPr lang="en-US" sz="1800" b="1" dirty="0"/>
              <a:t>'Yes'</a:t>
            </a:r>
            <a:r>
              <a:rPr lang="en-US" sz="1800" dirty="0"/>
              <a:t>, the analysis continues. Just </a:t>
            </a:r>
            <a:r>
              <a:rPr lang="en-US" sz="1800" i="1" dirty="0"/>
              <a:t>being</a:t>
            </a:r>
            <a:r>
              <a:rPr lang="en-US" sz="1800" dirty="0"/>
              <a:t> a tech company isn't enough.</a:t>
            </a:r>
          </a:p>
          <a:p>
            <a:r>
              <a:rPr lang="en-US" sz="1800" dirty="0"/>
              <a:t>"This brings us to the </a:t>
            </a:r>
            <a:r>
              <a:rPr lang="en-US" sz="1800" b="1" dirty="0"/>
              <a:t>second test, the 'where'</a:t>
            </a:r>
            <a:r>
              <a:rPr lang="en-US" sz="1800" dirty="0"/>
              <a:t>: The TCA must ask if the target company has a </a:t>
            </a:r>
            <a:r>
              <a:rPr lang="en-US" sz="1800" b="1" dirty="0"/>
              <a:t>'nexus in Turkey’</a:t>
            </a:r>
            <a:r>
              <a:rPr lang="en-US" sz="1800" dirty="0"/>
              <a:t>.</a:t>
            </a:r>
          </a:p>
          <a:p>
            <a:br>
              <a:rPr lang="en-US" sz="1800" dirty="0"/>
            </a:br>
            <a:r>
              <a:rPr lang="en-US" sz="1800" dirty="0"/>
              <a:t>"The law is also specific about this. The nexus is established if the company </a:t>
            </a:r>
            <a:r>
              <a:rPr lang="en-US" sz="1800" b="1" dirty="0"/>
              <a:t>'operate[s] or have[s] R&amp;D activities in the geographical market of Turkey or... provide[s] services to users in Turkey'</a:t>
            </a:r>
            <a:r>
              <a:rPr lang="en-US" sz="1800" dirty="0"/>
              <a:t>.</a:t>
            </a:r>
          </a:p>
          <a:p>
            <a:r>
              <a:rPr lang="en-US" sz="1800" dirty="0"/>
              <a:t>"If the answer here is </a:t>
            </a:r>
            <a:r>
              <a:rPr lang="en-US" sz="1800" b="1" dirty="0"/>
              <a:t>'No'</a:t>
            </a:r>
            <a:r>
              <a:rPr lang="en-US" sz="1800" dirty="0"/>
              <a:t>—say, it's a small German biotech firm with no R&amp;D, operations, or users in Turkey—the rule again does not apply, and you revert to the </a:t>
            </a:r>
            <a:r>
              <a:rPr lang="en-US" sz="1800" b="1" dirty="0"/>
              <a:t>'standard thresholds.'</a:t>
            </a:r>
            <a:endParaRPr lang="en-US" sz="1800" dirty="0"/>
          </a:p>
          <a:p>
            <a:br>
              <a:rPr lang="en-US" sz="1800" dirty="0"/>
            </a:br>
            <a:endParaRPr lang="en-US" sz="1800" dirty="0"/>
          </a:p>
          <a:p>
            <a:r>
              <a:rPr lang="en-US" sz="1800" b="1" dirty="0"/>
              <a:t>(Trace the final 'Yes' arrow to the Green Box)</a:t>
            </a:r>
            <a:endParaRPr lang="en-US" sz="1800" dirty="0"/>
          </a:p>
          <a:p>
            <a:r>
              <a:rPr lang="en-US" sz="1800" dirty="0"/>
              <a:t>"However, if the answer to </a:t>
            </a:r>
            <a:r>
              <a:rPr lang="en-US" sz="1800" i="1" dirty="0"/>
              <a:t>both</a:t>
            </a:r>
            <a:r>
              <a:rPr lang="en-US" sz="1800" dirty="0"/>
              <a:t> of these questions is </a:t>
            </a:r>
            <a:r>
              <a:rPr lang="en-US" sz="1800" b="1" dirty="0"/>
              <a:t>'Yes'</a:t>
            </a:r>
            <a:r>
              <a:rPr lang="en-US" sz="1800" dirty="0"/>
              <a:t>...</a:t>
            </a:r>
          </a:p>
          <a:p>
            <a:r>
              <a:rPr lang="en-US" sz="1800" dirty="0"/>
              <a:t>It </a:t>
            </a:r>
            <a:r>
              <a:rPr lang="en-US" sz="1800" i="1" dirty="0"/>
              <a:t>is</a:t>
            </a:r>
            <a:r>
              <a:rPr lang="en-US" sz="1800" dirty="0"/>
              <a:t> a technology undertaking, AND</a:t>
            </a:r>
          </a:p>
          <a:p>
            <a:r>
              <a:rPr lang="en-US" sz="1800" dirty="0"/>
              <a:t>It </a:t>
            </a:r>
            <a:r>
              <a:rPr lang="en-US" sz="1800" i="1" dirty="0"/>
              <a:t>does</a:t>
            </a:r>
            <a:r>
              <a:rPr lang="en-US" sz="1800" dirty="0"/>
              <a:t> have a nexus in Turkey...</a:t>
            </a:r>
          </a:p>
          <a:p>
            <a:r>
              <a:rPr lang="en-US" sz="1800" dirty="0"/>
              <a:t>"...</a:t>
            </a:r>
            <a:r>
              <a:rPr lang="en-US" sz="1800" i="1" dirty="0"/>
              <a:t>then</a:t>
            </a:r>
            <a:r>
              <a:rPr lang="en-US" sz="1800" dirty="0"/>
              <a:t> the exception is triggered, and the TCA will </a:t>
            </a:r>
            <a:r>
              <a:rPr lang="en-US" sz="1800" b="1" dirty="0"/>
              <a:t>'Apply relaxed thresholds.'</a:t>
            </a:r>
            <a:endParaRPr lang="en-US" sz="1800" dirty="0"/>
          </a:p>
          <a:p>
            <a:r>
              <a:rPr lang="en-US" sz="1800" dirty="0"/>
              <a:t>"This is the crucial outcome. As the Communiqué states, this means the standard 'two hundred and fifty million TL thresholds... </a:t>
            </a:r>
            <a:r>
              <a:rPr lang="en-US" sz="1800" b="1" dirty="0"/>
              <a:t>shall not apply'</a:t>
            </a:r>
            <a:r>
              <a:rPr lang="en-US" sz="1800" dirty="0"/>
              <a:t>. This action </a:t>
            </a:r>
            <a:r>
              <a:rPr lang="en-US" sz="1800" i="1" dirty="0"/>
              <a:t>expands</a:t>
            </a:r>
            <a:r>
              <a:rPr lang="en-US" sz="1800" dirty="0"/>
              <a:t> the TCA's jurisdiction, allowing it to review a transaction that otherwise would have been too small to be notifiable.</a:t>
            </a:r>
          </a:p>
          <a:p>
            <a:br>
              <a:rPr lang="en-US" sz="1800" dirty="0"/>
            </a:br>
            <a:endParaRPr lang="en-US" sz="1800" dirty="0"/>
          </a:p>
          <a:p>
            <a:r>
              <a:rPr lang="en-US" sz="1800" b="1" dirty="0"/>
              <a:t>(Final Summary - Connecting to your paper)</a:t>
            </a:r>
            <a:endParaRPr lang="en-US" sz="1800" dirty="0"/>
          </a:p>
          <a:p>
            <a:r>
              <a:rPr lang="en-US" sz="1800" dirty="0"/>
              <a:t>"This two-part, four-step logical process </a:t>
            </a:r>
            <a:r>
              <a:rPr lang="en-US" sz="1800" i="1" dirty="0"/>
              <a:t>is</a:t>
            </a:r>
            <a:r>
              <a:rPr lang="en-US" sz="1800" dirty="0"/>
              <a:t> the 'semantically complex' rule we're talking about.</a:t>
            </a:r>
          </a:p>
          <a:p>
            <a:r>
              <a:rPr lang="en-US" sz="1800" dirty="0"/>
              <a:t>"And this is precisely what our paper models. This flowchart </a:t>
            </a:r>
            <a:r>
              <a:rPr lang="en-US" sz="1800" i="1" dirty="0"/>
              <a:t>is</a:t>
            </a:r>
            <a:r>
              <a:rPr lang="en-US" sz="1800" dirty="0"/>
              <a:t> our annotation schema. Our </a:t>
            </a:r>
            <a:r>
              <a:rPr lang="en-US" sz="1800" b="1" dirty="0"/>
              <a:t>four annotation questions</a:t>
            </a:r>
            <a:r>
              <a:rPr lang="en-US" sz="1800" dirty="0"/>
              <a:t> are designed to extract the </a:t>
            </a:r>
            <a:r>
              <a:rPr lang="en-US" sz="1800" i="1" dirty="0"/>
              <a:t>exact sentences</a:t>
            </a:r>
            <a:r>
              <a:rPr lang="en-US" sz="1800" dirty="0"/>
              <a:t> from the TCA's decisions that correspond to each step of this diagram :</a:t>
            </a:r>
          </a:p>
          <a:p>
            <a:r>
              <a:rPr lang="en-US" sz="1800" b="1" dirty="0"/>
              <a:t>Q1 (Business Description)</a:t>
            </a:r>
            <a:r>
              <a:rPr lang="en-US" sz="1800" dirty="0"/>
              <a:t> and </a:t>
            </a:r>
            <a:r>
              <a:rPr lang="en-US" sz="1800" b="1" dirty="0"/>
              <a:t>Q2 (Legal Classification)</a:t>
            </a:r>
            <a:r>
              <a:rPr lang="en-US" sz="1800" dirty="0"/>
              <a:t> map to this first diamond.</a:t>
            </a:r>
          </a:p>
          <a:p>
            <a:r>
              <a:rPr lang="en-US" sz="1800" b="1" dirty="0"/>
              <a:t>Q3 (Market Nexus)</a:t>
            </a:r>
            <a:r>
              <a:rPr lang="en-US" sz="1800" dirty="0"/>
              <a:t> maps to this second diamond.</a:t>
            </a:r>
          </a:p>
          <a:p>
            <a:r>
              <a:rPr lang="en-US" sz="1800" dirty="0"/>
              <a:t>And </a:t>
            </a:r>
            <a:r>
              <a:rPr lang="en-US" sz="1800" b="1" dirty="0"/>
              <a:t>Q4 (Threshold Application)</a:t>
            </a:r>
            <a:r>
              <a:rPr lang="en-US" sz="1800" dirty="0"/>
              <a:t> maps to the final outcome—whether the TCA landed in the orange box or the green one.</a:t>
            </a:r>
          </a:p>
          <a:p>
            <a:r>
              <a:rPr lang="en-US" sz="1800" dirty="0"/>
              <a:t>"What we have done is take this complex legal workflow and operationalize it as an extractive NLP task."</a:t>
            </a: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55480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DD5E9438-BFCE-79B3-EDF6-9B67F11C7DEC}"/>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FB65B75C-730E-FA16-309C-4E3B6A03D9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1127FE99-EB71-E213-944F-9C6466BBD6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800" b="1" dirty="0"/>
              <a:t>[Click to RQ1]</a:t>
            </a:r>
            <a:r>
              <a:rPr lang="en-US" sz="1800" dirty="0"/>
              <a:t> "Our first question, RQ1, establishes the baseline: </a:t>
            </a:r>
            <a:r>
              <a:rPr lang="en-US" sz="1800" b="1" dirty="0"/>
              <a:t>To what extent can a fine-tuned BERT model, framed within an extractive QA task, effectively and accurately extract the components of a complex legal argument from specialized, non-English legal documents?</a:t>
            </a:r>
            <a:r>
              <a:rPr lang="en-US" sz="1800" dirty="0"/>
              <a:t> </a:t>
            </a:r>
          </a:p>
          <a:p>
            <a:endParaRPr lang="en-US" sz="1800" dirty="0"/>
          </a:p>
          <a:p>
            <a:r>
              <a:rPr lang="en-US" sz="1800" b="1" dirty="0"/>
              <a:t>[Click to RQ2]</a:t>
            </a:r>
            <a:r>
              <a:rPr lang="en-US" sz="1800" dirty="0"/>
              <a:t> "Our second question, RQ2, digs deeper into the performance: </a:t>
            </a:r>
            <a:r>
              <a:rPr lang="en-US" sz="1800" b="1" dirty="0"/>
              <a:t>How does the model's performance differ across various types of argumentative components, and what does this variation reveal about the nature of the legal text itself?</a:t>
            </a:r>
            <a:r>
              <a:rPr lang="en-US" sz="1800" dirty="0"/>
              <a:t> </a:t>
            </a:r>
          </a:p>
          <a:p>
            <a:endParaRPr lang="en-US" sz="1800" dirty="0"/>
          </a:p>
          <a:p>
            <a:r>
              <a:rPr lang="en-US" sz="1800" b="1" dirty="0"/>
              <a:t>[Click to RQ3]</a:t>
            </a:r>
            <a:r>
              <a:rPr lang="en-US" sz="1800" dirty="0"/>
              <a:t> "And our third question, RQ3, tests our main hypothesis about the key challenge: </a:t>
            </a:r>
            <a:r>
              <a:rPr lang="en-US" sz="1800" b="1" dirty="0"/>
              <a:t>What is the role of context length in the model's performance on this legal QA task, particularly for identifying implicit reasoning?</a:t>
            </a:r>
            <a:r>
              <a:rPr lang="en-US" sz="1800" dirty="0"/>
              <a:t>" </a:t>
            </a: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4086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3B39D6F8-B075-FFBA-193B-01CD0C56187C}"/>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60F65759-5E5B-6BDF-C448-AAC991BD7C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629AAC89-DF21-F63B-65DE-9E74CBE96E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sz="1100" b="0" i="0" u="none" strike="noStrike" cap="none" dirty="0">
              <a:solidFill>
                <a:srgbClr val="000000"/>
              </a:solidFill>
              <a:effectLst/>
              <a:latin typeface="Arial"/>
              <a:ea typeface="Arial"/>
              <a:cs typeface="Arial"/>
              <a:sym typeface="Arial"/>
            </a:endParaRPr>
          </a:p>
          <a:p>
            <a:pPr algn="just"/>
            <a:r>
              <a:rPr lang="en-US" sz="1800" dirty="0"/>
              <a:t>Thank you. So, having established our research questions, let's dive into the methodology. This slide shows Table I from our paper, which is the absolute core of our contribution</a:t>
            </a:r>
          </a:p>
          <a:p>
            <a:endParaRPr lang="en-US" sz="1800" dirty="0"/>
          </a:p>
          <a:p>
            <a:r>
              <a:rPr lang="en-US" sz="1800" dirty="0"/>
              <a:t>"To build our dataset, we worked with a domain expert—a qualified Turkish competition law attorney. </a:t>
            </a:r>
            <a:br>
              <a:rPr lang="en-US" sz="1800" dirty="0"/>
            </a:br>
            <a:br>
              <a:rPr lang="en-US" sz="1800" dirty="0"/>
            </a:br>
            <a:r>
              <a:rPr lang="en-US" sz="1800" dirty="0"/>
              <a:t>Together, we deconstructed the 'Technology Undertaking Exception' into its essential reasoning components. This analytical workflow is what resulted in these four specific questions.</a:t>
            </a:r>
            <a:br>
              <a:rPr lang="en-US" sz="1800" dirty="0"/>
            </a:br>
            <a:endParaRPr lang="en-US" sz="1800" dirty="0"/>
          </a:p>
          <a:p>
            <a:r>
              <a:rPr lang="en-US" sz="1800" dirty="0"/>
              <a:t>"Let's quickly map them back to the flowchart:</a:t>
            </a:r>
          </a:p>
          <a:p>
            <a:r>
              <a:rPr lang="en-US" sz="1800" b="1" dirty="0"/>
              <a:t>Q1 (Business Description)</a:t>
            </a:r>
            <a:r>
              <a:rPr lang="en-US" sz="1800" dirty="0"/>
              <a:t> and </a:t>
            </a:r>
            <a:r>
              <a:rPr lang="en-US" sz="1800" b="1" dirty="0"/>
              <a:t>Q2 (Legal Classification)</a:t>
            </a:r>
            <a:r>
              <a:rPr lang="en-US" sz="1800" dirty="0"/>
              <a:t> are the two steps for the </a:t>
            </a:r>
            <a:r>
              <a:rPr lang="en-US" sz="1800" i="1" dirty="0"/>
              <a:t>first</a:t>
            </a:r>
            <a:r>
              <a:rPr lang="en-US" sz="1800" dirty="0"/>
              <a:t> diamond: 'Is this a technology undertaking?' Q1 finds the </a:t>
            </a:r>
            <a:r>
              <a:rPr lang="en-US" sz="1800" i="1" dirty="0"/>
              <a:t>factual basis</a:t>
            </a:r>
            <a:r>
              <a:rPr lang="en-US" sz="1800" dirty="0"/>
              <a:t> for the claim, and Q2 finds the </a:t>
            </a:r>
            <a:r>
              <a:rPr lang="en-US" sz="1800" i="1" dirty="0"/>
              <a:t>explicit legal link</a:t>
            </a:r>
            <a:r>
              <a:rPr lang="en-US" sz="1800" dirty="0"/>
              <a:t> the TCA makes .</a:t>
            </a:r>
          </a:p>
          <a:p>
            <a:r>
              <a:rPr lang="en-US" sz="1800" b="1" dirty="0"/>
              <a:t>Q3 (Market Nexus)</a:t>
            </a:r>
            <a:r>
              <a:rPr lang="en-US" sz="1800" dirty="0"/>
              <a:t> maps directly to the </a:t>
            </a:r>
            <a:r>
              <a:rPr lang="en-US" sz="1800" i="1" dirty="0"/>
              <a:t>second</a:t>
            </a:r>
            <a:r>
              <a:rPr lang="en-US" sz="1800" dirty="0"/>
              <a:t> diamond: 'Does it have a nexus in Turkey?' .</a:t>
            </a:r>
          </a:p>
          <a:p>
            <a:r>
              <a:rPr lang="en-US" sz="1800" dirty="0"/>
              <a:t>And </a:t>
            </a:r>
            <a:r>
              <a:rPr lang="en-US" sz="1800" b="1" dirty="0"/>
              <a:t>Q4 (Threshold Application)</a:t>
            </a:r>
            <a:r>
              <a:rPr lang="en-US" sz="1800" dirty="0"/>
              <a:t> maps to the </a:t>
            </a:r>
            <a:r>
              <a:rPr lang="en-US" sz="1800" i="1" dirty="0"/>
              <a:t>final outcome</a:t>
            </a:r>
            <a:r>
              <a:rPr lang="en-US" sz="1800" dirty="0"/>
              <a:t>: the sentence where the TCA discusses whether the standard thresholds apply or are relaxed .</a:t>
            </a:r>
          </a:p>
          <a:p>
            <a:r>
              <a:rPr lang="en-US" sz="1800" dirty="0"/>
              <a:t>"So, this is a </a:t>
            </a:r>
            <a:r>
              <a:rPr lang="en-US" sz="1800" b="1" dirty="0"/>
              <a:t>domain-expert-driven schema</a:t>
            </a:r>
            <a:r>
              <a:rPr lang="en-US" sz="1800" dirty="0"/>
              <a:t> designed to mirror the </a:t>
            </a:r>
            <a:r>
              <a:rPr lang="en-US" sz="1800" i="1" dirty="0"/>
              <a:t>exact</a:t>
            </a:r>
            <a:r>
              <a:rPr lang="en-US" sz="1800" dirty="0"/>
              <a:t> reasoning process of the legal authority we are modeling.</a:t>
            </a:r>
          </a:p>
          <a:p>
            <a:endParaRPr lang="en-US" sz="1800" dirty="0"/>
          </a:p>
          <a:p>
            <a:r>
              <a:rPr lang="en-US" sz="1800" dirty="0"/>
              <a:t>"In our </a:t>
            </a:r>
            <a:r>
              <a:rPr lang="en-US" sz="1800" dirty="0" err="1"/>
              <a:t>SQuAD</a:t>
            </a:r>
            <a:r>
              <a:rPr lang="en-US" sz="1800" dirty="0"/>
              <a:t>-style framework, these four questions serve as the fixed 'Question' in our </a:t>
            </a:r>
            <a:r>
              <a:rPr lang="en-US" sz="1100" b="0" i="0" u="none" strike="noStrike" cap="none" dirty="0">
                <a:solidFill>
                  <a:srgbClr val="000000"/>
                </a:solidFill>
                <a:latin typeface="Arial"/>
                <a:ea typeface="Arial"/>
                <a:cs typeface="Arial"/>
                <a:sym typeface="Arial"/>
              </a:rPr>
              <a:t>(Context, Question, Answer)</a:t>
            </a:r>
            <a:r>
              <a:rPr lang="en-US" sz="1800" dirty="0"/>
              <a:t> triplets, which the model is trained to answer by extracting a text span."</a:t>
            </a:r>
          </a:p>
          <a:p>
            <a:endParaRPr lang="en-US" sz="1800" dirty="0"/>
          </a:p>
          <a:p>
            <a:endParaRPr lang="en-US" sz="1800" dirty="0"/>
          </a:p>
          <a:p>
            <a:pPr algn="just"/>
            <a:endParaRPr lang="en-US" sz="1800" dirty="0"/>
          </a:p>
          <a:p>
            <a:pPr algn="just"/>
            <a:endParaRPr lang="en-US" sz="1800" dirty="0">
              <a:effectLst/>
              <a:latin typeface="Times New Roman" panose="02020603050405020304" pitchFamily="18" charset="0"/>
              <a:ea typeface="Times New Roman" panose="02020603050405020304" pitchFamily="18" charset="0"/>
            </a:endParaRP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44973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92B9A4E8-00DF-3AFF-4C5E-3E20E57DF9BA}"/>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2D9279E6-592A-A579-1A0C-4E94D8E8C9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CF60CA2D-F5DD-867F-9216-66DD73494F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sz="1100" b="0" i="0" u="none" strike="noStrike" cap="none" dirty="0">
              <a:solidFill>
                <a:srgbClr val="000000"/>
              </a:solidFill>
              <a:effectLst/>
              <a:latin typeface="Arial"/>
              <a:ea typeface="Arial"/>
              <a:cs typeface="Arial"/>
              <a:sym typeface="Arial"/>
            </a:endParaRPr>
          </a:p>
          <a:p>
            <a:r>
              <a:rPr lang="en-US" sz="1800" dirty="0"/>
              <a:t>So, this is how we built our dataset. It was a three-step process designed to create a small, dense, and highly relevant corpus.</a:t>
            </a:r>
          </a:p>
          <a:p>
            <a:r>
              <a:rPr lang="en-US" sz="1800" dirty="0"/>
              <a:t>"First, </a:t>
            </a:r>
            <a:r>
              <a:rPr lang="en-US" sz="1800" b="1" dirty="0"/>
              <a:t>Data Collection</a:t>
            </a:r>
            <a:r>
              <a:rPr lang="en-US" sz="1800" dirty="0"/>
              <a:t>. We started by programmatically scraping all publicly available merger and acquisition decisions from the Turkish Competition Authority's website. This gave us a large, raw corpus of </a:t>
            </a:r>
            <a:r>
              <a:rPr lang="en-US" sz="1800" b="1" dirty="0"/>
              <a:t>4,552 unique decisions</a:t>
            </a:r>
            <a:r>
              <a:rPr lang="en-US" sz="1800" dirty="0"/>
              <a:t>.</a:t>
            </a:r>
          </a:p>
          <a:p>
            <a:endParaRPr lang="en-US" sz="1800" b="1" dirty="0"/>
          </a:p>
          <a:p>
            <a:endParaRPr lang="en-US" sz="1800" b="1" dirty="0"/>
          </a:p>
          <a:p>
            <a:r>
              <a:rPr lang="en-US" sz="1800" dirty="0"/>
              <a:t>"Second, </a:t>
            </a:r>
            <a:r>
              <a:rPr lang="en-US" sz="1800" b="1" dirty="0"/>
              <a:t>Keyword Filtering</a:t>
            </a:r>
            <a:r>
              <a:rPr lang="en-US" sz="1800" dirty="0"/>
              <a:t>. This large corpus contains all sorts of decisions, but we were only interested in our specific legal problem. So, we filtered this entire collection to find </a:t>
            </a:r>
            <a:r>
              <a:rPr lang="en-US" sz="1800" i="1" dirty="0"/>
              <a:t>only</a:t>
            </a:r>
            <a:r>
              <a:rPr lang="en-US" sz="1800" dirty="0"/>
              <a:t> the documents that contained the exact legal term '</a:t>
            </a:r>
            <a:r>
              <a:rPr lang="en-US" sz="1800" dirty="0" err="1"/>
              <a:t>teknoloji</a:t>
            </a:r>
            <a:r>
              <a:rPr lang="en-US" sz="1800" dirty="0"/>
              <a:t> </a:t>
            </a:r>
            <a:r>
              <a:rPr lang="en-US" sz="1800" dirty="0" err="1"/>
              <a:t>teşebbüsü</a:t>
            </a:r>
            <a:r>
              <a:rPr lang="en-US" sz="1800" dirty="0"/>
              <a:t>,' which means 'technology undertaking'. This yielded </a:t>
            </a:r>
            <a:r>
              <a:rPr lang="en-US" sz="1800" b="1" dirty="0"/>
              <a:t>152 relevant decisions</a:t>
            </a:r>
            <a:r>
              <a:rPr lang="en-US" sz="1800" dirty="0"/>
              <a:t>.</a:t>
            </a:r>
          </a:p>
          <a:p>
            <a:endParaRPr lang="en-US" sz="1800" dirty="0"/>
          </a:p>
          <a:p>
            <a:endParaRPr lang="en-US" sz="1800" dirty="0"/>
          </a:p>
          <a:p>
            <a:r>
              <a:rPr lang="en-US" sz="1800" dirty="0"/>
              <a:t>"Third, </a:t>
            </a:r>
            <a:r>
              <a:rPr lang="en-US" sz="1800" b="1" dirty="0"/>
              <a:t>Content Extraction</a:t>
            </a:r>
            <a:r>
              <a:rPr lang="en-US" sz="1800" dirty="0"/>
              <a:t>. This is a critical step, which, as you'll see, relates directly to our third research question on context length. A single legal decision is full of procedural details and boilerplate text, so we first had to isolate the core reasoning.</a:t>
            </a:r>
            <a:br>
              <a:rPr lang="en-US" sz="1800" dirty="0"/>
            </a:br>
            <a:endParaRPr lang="en-US" sz="1800" dirty="0"/>
          </a:p>
          <a:p>
            <a:r>
              <a:rPr lang="en-US" sz="1800" dirty="0"/>
              <a:t>"TCA decisions follow a semi-standard structure, so we used a regular expression to automatically extract </a:t>
            </a:r>
            <a:r>
              <a:rPr lang="en-US" sz="1800" i="1" dirty="0"/>
              <a:t>only</a:t>
            </a:r>
            <a:r>
              <a:rPr lang="en-US" sz="1800" dirty="0"/>
              <a:t> the core analytical section, which is known as the 'İNCELEME VE DEĞERLENDİRME' or </a:t>
            </a:r>
            <a:r>
              <a:rPr lang="en-US" sz="1800" b="1" dirty="0"/>
              <a:t>'Examination and Evaluation'</a:t>
            </a:r>
            <a:r>
              <a:rPr lang="en-US" sz="1800" dirty="0"/>
              <a:t> section . </a:t>
            </a:r>
            <a:br>
              <a:rPr lang="en-US" sz="1800" dirty="0"/>
            </a:br>
            <a:r>
              <a:rPr lang="en-US" sz="1800" dirty="0"/>
              <a:t>This gave us our final 152 focused 'context' documents.</a:t>
            </a: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997204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61DD13E6-673C-CE1E-EA2B-404499BBB4FE}"/>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6C428E95-A0F2-CBB1-1F81-AB40B88E9B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C66B1785-E9B0-17DF-1542-4E7ED1CE45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"This three-step process resulted in the final corpus, and this table shows its statistical breakdown.</a:t>
            </a:r>
          </a:p>
          <a:p>
            <a:endParaRPr lang="en-US" dirty="0"/>
          </a:p>
          <a:p>
            <a:r>
              <a:rPr lang="en-US" dirty="0"/>
              <a:t>"As you can see, our </a:t>
            </a:r>
            <a:r>
              <a:rPr lang="en-US" b="1" dirty="0"/>
              <a:t>152 decisions</a:t>
            </a:r>
            <a:r>
              <a:rPr lang="en-US" dirty="0"/>
              <a:t> (or 'Contexts') yielded a total of </a:t>
            </a:r>
            <a:r>
              <a:rPr lang="en-US" b="1" dirty="0"/>
              <a:t>581 Question-Answer pairs</a:t>
            </a:r>
            <a:r>
              <a:rPr lang="en-US" dirty="0"/>
              <a:t>. This gives us an average of about </a:t>
            </a:r>
            <a:r>
              <a:rPr lang="en-US" b="1" dirty="0"/>
              <a:t>3.8 QA pairs per decision</a:t>
            </a:r>
            <a:r>
              <a:rPr lang="en-US" dirty="0"/>
              <a:t>. so some questions does not have answer according to our annotation.</a:t>
            </a:r>
          </a:p>
          <a:p>
            <a:endParaRPr lang="en-US" dirty="0"/>
          </a:p>
          <a:p>
            <a:r>
              <a:rPr lang="en-US" dirty="0"/>
              <a:t>"Now, the most important part of this table is the </a:t>
            </a:r>
            <a:r>
              <a:rPr lang="en-US" b="1" dirty="0"/>
              <a:t>'Breakdown by Question Type'</a:t>
            </a:r>
            <a:r>
              <a:rPr lang="en-US" dirty="0"/>
              <a:t>. You'll immediately notice that the numbers are not equal. We have an answer for Q1 (Business Description) and Q2 (Legal Classification) in nearly every single document.</a:t>
            </a:r>
          </a:p>
          <a:p>
            <a:endParaRPr lang="en-US" dirty="0"/>
          </a:p>
          <a:p>
            <a:r>
              <a:rPr lang="en-US" dirty="0"/>
              <a:t>"But Q3 (Market Nexus) and Q4 (Threshold Application) are less frequent, with only 136 and 142 examples, respectively.</a:t>
            </a:r>
          </a:p>
          <a:p>
            <a:endParaRPr lang="en-US" dirty="0"/>
          </a:p>
          <a:p>
            <a:r>
              <a:rPr lang="en-US" dirty="0"/>
              <a:t>"This is </a:t>
            </a:r>
            <a:r>
              <a:rPr lang="en-US" b="1" dirty="0"/>
              <a:t>not</a:t>
            </a:r>
            <a:r>
              <a:rPr lang="en-US" dirty="0"/>
              <a:t> a data collection error; this is a </a:t>
            </a:r>
            <a:r>
              <a:rPr lang="en-US" b="1" dirty="0"/>
              <a:t>key finding of our paper</a:t>
            </a:r>
            <a:r>
              <a:rPr lang="en-US" dirty="0"/>
              <a:t>. It's an expected outcome, as we state, because the TCA's reasoning and explicit statements can vary.</a:t>
            </a:r>
            <a:br>
              <a:rPr lang="en-US" dirty="0"/>
            </a:br>
            <a:endParaRPr lang="en-US" dirty="0"/>
          </a:p>
          <a:p>
            <a:r>
              <a:rPr lang="en-US" dirty="0"/>
              <a:t>"Finally, you can see the </a:t>
            </a:r>
            <a:r>
              <a:rPr lang="en-US" b="1" dirty="0"/>
              <a:t>Answer Span Statistics</a:t>
            </a:r>
            <a:r>
              <a:rPr lang="en-US" dirty="0"/>
              <a:t>. We were annotating full sentences, so the average length is about 48 tokens, with a wide range from 8 to 160 tokens."</a:t>
            </a:r>
          </a:p>
        </p:txBody>
      </p:sp>
    </p:spTree>
    <p:extLst>
      <p:ext uri="{BB962C8B-B14F-4D97-AF65-F5344CB8AC3E}">
        <p14:creationId xmlns:p14="http://schemas.microsoft.com/office/powerpoint/2010/main" val="443205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AE34037D-4165-7B0C-A267-F60248D1E0CC}"/>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E6A068FE-0BDE-650F-9FE3-1F8F9E28DA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24380294-3DD6-0BC8-647B-100756F9F7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800" b="1" dirty="0"/>
              <a:t>(Point to: 'Core Experimental Design')</a:t>
            </a:r>
            <a:endParaRPr lang="en-US" sz="1800" dirty="0"/>
          </a:p>
          <a:p>
            <a:r>
              <a:rPr lang="en-US" sz="1800" dirty="0"/>
              <a:t>"First, the </a:t>
            </a:r>
            <a:r>
              <a:rPr lang="en-US" sz="1800" b="1" dirty="0"/>
              <a:t>Core Experimental Design</a:t>
            </a:r>
            <a:r>
              <a:rPr lang="en-US" sz="1800" dirty="0"/>
              <a:t>.</a:t>
            </a:r>
          </a:p>
          <a:p>
            <a:r>
              <a:rPr lang="en-US" sz="1800" dirty="0"/>
              <a:t>"For our </a:t>
            </a:r>
            <a:r>
              <a:rPr lang="en-US" sz="1800" b="1" dirty="0"/>
              <a:t>Base Model</a:t>
            </a:r>
            <a:r>
              <a:rPr lang="en-US" sz="1800" dirty="0"/>
              <a:t>, we selected the </a:t>
            </a:r>
            <a:r>
              <a:rPr lang="en-US" sz="1100" b="0" i="0" u="none" strike="noStrike" cap="none" dirty="0" err="1">
                <a:solidFill>
                  <a:srgbClr val="000000"/>
                </a:solidFill>
                <a:latin typeface="Arial"/>
                <a:ea typeface="Arial"/>
                <a:cs typeface="Arial"/>
                <a:sym typeface="Arial"/>
              </a:rPr>
              <a:t>dbmdz</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bert</a:t>
            </a:r>
            <a:r>
              <a:rPr lang="en-US" sz="1100" b="0" i="0" u="none" strike="noStrike" cap="none" dirty="0">
                <a:solidFill>
                  <a:srgbClr val="000000"/>
                </a:solidFill>
                <a:latin typeface="Arial"/>
                <a:ea typeface="Arial"/>
                <a:cs typeface="Arial"/>
                <a:sym typeface="Arial"/>
              </a:rPr>
              <a:t>-base-</a:t>
            </a:r>
            <a:r>
              <a:rPr lang="en-US" sz="1100" b="0" i="0" u="none" strike="noStrike" cap="none" dirty="0" err="1">
                <a:solidFill>
                  <a:srgbClr val="000000"/>
                </a:solidFill>
                <a:latin typeface="Arial"/>
                <a:ea typeface="Arial"/>
                <a:cs typeface="Arial"/>
                <a:sym typeface="Arial"/>
              </a:rPr>
              <a:t>turkish</a:t>
            </a:r>
            <a:r>
              <a:rPr lang="en-US" sz="1100" b="0" i="0" u="none" strike="noStrike" cap="none" dirty="0">
                <a:solidFill>
                  <a:srgbClr val="000000"/>
                </a:solidFill>
                <a:latin typeface="Arial"/>
                <a:ea typeface="Arial"/>
                <a:cs typeface="Arial"/>
                <a:sym typeface="Arial"/>
              </a:rPr>
              <a:t>-cased</a:t>
            </a:r>
            <a:r>
              <a:rPr lang="en-US" sz="1800" dirty="0"/>
              <a:t> model. This was a deliberate choice: it's a BERT-base architecture specifically pre-trained on a large, cased corpus of Turkish text, and it has demonstrated strong performance on other downstream Turkish NLP tasks.</a:t>
            </a:r>
          </a:p>
          <a:p>
            <a:r>
              <a:rPr lang="en-US" sz="1800" dirty="0"/>
              <a:t>"As we've discussed, our </a:t>
            </a:r>
            <a:r>
              <a:rPr lang="en-US" sz="1800" b="1" dirty="0"/>
              <a:t>Task Formulation</a:t>
            </a:r>
            <a:r>
              <a:rPr lang="en-US" sz="1800" dirty="0"/>
              <a:t> is Extractive Question Answering. We converted our entire 581 QA-pair dataset into the </a:t>
            </a:r>
            <a:r>
              <a:rPr lang="en-US" sz="1800" b="1" dirty="0" err="1"/>
              <a:t>SQuAD</a:t>
            </a:r>
            <a:r>
              <a:rPr lang="en-US" sz="1800" b="1" dirty="0"/>
              <a:t> format</a:t>
            </a:r>
            <a:r>
              <a:rPr lang="en-US" sz="1800" dirty="0"/>
              <a:t> .</a:t>
            </a:r>
          </a:p>
          <a:p>
            <a:r>
              <a:rPr lang="en-US" sz="1800" dirty="0"/>
              <a:t>"This means the model is </a:t>
            </a:r>
            <a:r>
              <a:rPr lang="en-US" sz="1800" i="1" dirty="0"/>
              <a:t>not</a:t>
            </a:r>
            <a:r>
              <a:rPr lang="en-US" sz="1800" dirty="0"/>
              <a:t> generating text; it is a classification task. It's trained to predict two things: the </a:t>
            </a:r>
            <a:r>
              <a:rPr lang="en-US" sz="1800" b="1" dirty="0"/>
              <a:t>start and end token indices</a:t>
            </a:r>
            <a:r>
              <a:rPr lang="en-US" sz="1800" dirty="0"/>
              <a:t> of the answer span within the given context.</a:t>
            </a:r>
          </a:p>
          <a:p>
            <a:r>
              <a:rPr lang="en-US" sz="1800" dirty="0"/>
              <a:t>"All of this was implemented using the standard </a:t>
            </a:r>
            <a:r>
              <a:rPr lang="en-US" sz="1800" b="1" dirty="0" err="1"/>
              <a:t>HuggingFace</a:t>
            </a:r>
            <a:r>
              <a:rPr lang="en-US" sz="1800" b="1" dirty="0"/>
              <a:t> transformers and datasets libraries</a:t>
            </a:r>
            <a:r>
              <a:rPr lang="en-US" sz="1800" dirty="0"/>
              <a:t>, which allows for easy replication.</a:t>
            </a:r>
          </a:p>
          <a:p>
            <a:br>
              <a:rPr lang="en-US" sz="1800" dirty="0"/>
            </a:br>
            <a:endParaRPr lang="en-US" sz="1800" dirty="0"/>
          </a:p>
          <a:p>
            <a:r>
              <a:rPr lang="en-US" sz="1800" b="1" dirty="0"/>
              <a:t>(Point to: 'Fine-Tuning &amp; Validation')</a:t>
            </a:r>
            <a:endParaRPr lang="en-US" sz="1800" dirty="0"/>
          </a:p>
          <a:p>
            <a:r>
              <a:rPr lang="en-US" sz="1800" dirty="0"/>
              <a:t>"Second, our </a:t>
            </a:r>
            <a:r>
              <a:rPr lang="en-US" sz="1800" b="1" dirty="0"/>
              <a:t>Fine-Tuning and Validation</a:t>
            </a:r>
            <a:r>
              <a:rPr lang="en-US" sz="1800" dirty="0"/>
              <a:t> strategy.</a:t>
            </a:r>
          </a:p>
          <a:p>
            <a:r>
              <a:rPr lang="en-US" sz="1800" dirty="0"/>
              <a:t>"The </a:t>
            </a:r>
            <a:r>
              <a:rPr lang="en-US" sz="1800" b="1" dirty="0"/>
              <a:t>Hyperparameters</a:t>
            </a:r>
            <a:r>
              <a:rPr lang="en-US" sz="1800" dirty="0"/>
              <a:t> you see here were selected after a systematic hyperparameter search. The final configuration gave us the most consistent performance </a:t>
            </a:r>
            <a:br>
              <a:rPr lang="en-US" sz="1800" dirty="0"/>
            </a:br>
            <a:br>
              <a:rPr lang="en-US" sz="1800" dirty="0"/>
            </a:br>
            <a:r>
              <a:rPr lang="en-US" sz="1800" dirty="0"/>
              <a:t>"We used a </a:t>
            </a:r>
            <a:r>
              <a:rPr lang="en-US" sz="1800" b="1" dirty="0"/>
              <a:t>5-Fold Cross-Validation</a:t>
            </a:r>
            <a:r>
              <a:rPr lang="en-US" sz="1800" dirty="0"/>
              <a:t> strategy. This mitigates the risk of an unrepresentative test set.</a:t>
            </a:r>
            <a:br>
              <a:rPr lang="en-US" sz="1800" dirty="0"/>
            </a:br>
            <a:endParaRPr lang="en-US" sz="1800" dirty="0"/>
          </a:p>
          <a:p>
            <a:r>
              <a:rPr lang="en-US" sz="1800" b="1" dirty="0"/>
              <a:t>(Point to: 'Ablation Study: Context Impact’)</a:t>
            </a:r>
            <a:br>
              <a:rPr lang="en-US" sz="1800" b="1" dirty="0"/>
            </a:br>
            <a:endParaRPr lang="en-US" sz="1800" dirty="0"/>
          </a:p>
          <a:p>
            <a:r>
              <a:rPr lang="en-US" sz="1800" dirty="0"/>
              <a:t>"Finally, our </a:t>
            </a:r>
            <a:r>
              <a:rPr lang="en-US" sz="1800" b="1" dirty="0"/>
              <a:t>Ablation Study</a:t>
            </a:r>
            <a:r>
              <a:rPr lang="en-US" sz="1800" dirty="0"/>
              <a:t>. This was designed to directly answer our third research question: What is the role of context length? </a:t>
            </a:r>
          </a:p>
          <a:p>
            <a:r>
              <a:rPr lang="en-US" sz="1800" dirty="0"/>
              <a:t>"The </a:t>
            </a:r>
            <a:r>
              <a:rPr lang="en-US" sz="1800" b="1" dirty="0"/>
              <a:t>Objective</a:t>
            </a:r>
            <a:r>
              <a:rPr lang="en-US" sz="1800" dirty="0"/>
              <a:t> was to empirically quantify the performance bottleneck caused by the high </a:t>
            </a:r>
            <a:r>
              <a:rPr lang="en-US" sz="1800" b="1" dirty="0"/>
              <a:t>signal-to-noise ratio</a:t>
            </a:r>
            <a:r>
              <a:rPr lang="en-US" sz="1800" dirty="0"/>
              <a:t> that we know is present in legal texts.</a:t>
            </a:r>
          </a:p>
          <a:p>
            <a:r>
              <a:rPr lang="en-US" sz="1800" dirty="0"/>
              <a:t>"To do this, we created a second, parallel dataset called the </a:t>
            </a:r>
            <a:r>
              <a:rPr lang="en-US" sz="1800" b="1" dirty="0"/>
              <a:t>'Truncated-Span Context'</a:t>
            </a:r>
            <a:r>
              <a:rPr lang="en-US" sz="1800" dirty="0"/>
              <a:t> dataset.</a:t>
            </a:r>
            <a:br>
              <a:rPr lang="en-US" sz="1800" dirty="0"/>
            </a:br>
            <a:endParaRPr lang="en-US" sz="1800" dirty="0"/>
          </a:p>
          <a:p>
            <a:r>
              <a:rPr lang="en-US" sz="1800" dirty="0"/>
              <a:t>"The </a:t>
            </a:r>
            <a:r>
              <a:rPr lang="en-US" sz="1800" b="1" dirty="0"/>
              <a:t>Method</a:t>
            </a:r>
            <a:r>
              <a:rPr lang="en-US" sz="1800" dirty="0"/>
              <a:t> was a heuristic: For each document, we programmatically created a </a:t>
            </a:r>
            <a:r>
              <a:rPr lang="en-US" sz="1800" i="1" dirty="0"/>
              <a:t>minimal</a:t>
            </a:r>
            <a:r>
              <a:rPr lang="en-US" sz="1800" dirty="0"/>
              <a:t> text window. We defined this as the substring starting at the character index of the </a:t>
            </a:r>
            <a:r>
              <a:rPr lang="en-US" sz="1800" b="1" dirty="0"/>
              <a:t>earliest answer</a:t>
            </a:r>
            <a:r>
              <a:rPr lang="en-US" sz="1800" dirty="0"/>
              <a:t> and ending at the character index of the </a:t>
            </a:r>
            <a:r>
              <a:rPr lang="en-US" sz="1800" b="1" dirty="0"/>
              <a:t>latest answer</a:t>
            </a:r>
            <a:r>
              <a:rPr lang="en-US" sz="1800" dirty="0"/>
              <a:t> for that document. This effectively created a 'perfect,' dense context with no extraneous text.</a:t>
            </a:r>
            <a:br>
              <a:rPr lang="en-US" sz="1800" dirty="0"/>
            </a:br>
            <a:endParaRPr lang="en-US" sz="1800" dirty="0"/>
          </a:p>
          <a:p>
            <a:r>
              <a:rPr lang="en-US" sz="1800" dirty="0"/>
              <a:t>"I want to be clear, as we state in the paper, this is </a:t>
            </a:r>
            <a:r>
              <a:rPr lang="en-US" sz="1800" b="1" dirty="0"/>
              <a:t>not a practical pre-processing technique</a:t>
            </a:r>
            <a:r>
              <a:rPr lang="en-US" sz="1800" dirty="0"/>
              <a:t>; it's a true ablation that relies on knowing the answers' locations in advance. Its purpose is to </a:t>
            </a:r>
            <a:r>
              <a:rPr lang="en-US" sz="1800" b="1" dirty="0"/>
              <a:t>isolate the impact of that extraneous text</a:t>
            </a:r>
            <a:r>
              <a:rPr lang="en-US" sz="1800" dirty="0"/>
              <a:t> and give us a benchmark for how much performance is being lost to noise ."</a:t>
            </a: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659103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FDADB141-265E-1A63-61CC-2DE3F94E2B80}"/>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3DFE6D82-8F39-8730-6BB8-64D45B6B5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7B9D1271-5890-0548-B651-24F328C46B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"So, to make the methodology for our ablation study even clearer, this figure from our paper visually illustrates the 'Truncated-Span Context' process.</a:t>
            </a:r>
          </a:p>
          <a:p>
            <a:endParaRPr lang="en-US" dirty="0"/>
          </a:p>
          <a:p>
            <a:r>
              <a:rPr lang="en-US" dirty="0"/>
              <a:t>"On the top left, in image </a:t>
            </a:r>
            <a:r>
              <a:rPr lang="en-US" b="1" dirty="0"/>
              <a:t>(1)</a:t>
            </a:r>
            <a:r>
              <a:rPr lang="en-US" dirty="0"/>
              <a:t>, we have our starting point. This represents the </a:t>
            </a:r>
            <a:r>
              <a:rPr lang="en-US" b="1" dirty="0"/>
              <a:t>full 'Examination and Evaluation' section</a:t>
            </a:r>
            <a:r>
              <a:rPr lang="en-US" dirty="0"/>
              <a:t> of a decision. As you can see, the four answer spans—Q1, Q2, Q3, and Q4—are present, but they are surrounded by a lot of other text, which is the 'noise' we want to measure.</a:t>
            </a:r>
          </a:p>
          <a:p>
            <a:r>
              <a:rPr lang="en-US" dirty="0"/>
              <a:t>"Image </a:t>
            </a:r>
            <a:r>
              <a:rPr lang="en-US" b="1" dirty="0"/>
              <a:t>(2)</a:t>
            </a:r>
            <a:r>
              <a:rPr lang="en-US" dirty="0"/>
              <a:t> represents the heuristic we applied. We programmatically find the character start index of the </a:t>
            </a:r>
            <a:r>
              <a:rPr lang="en-US" b="1" dirty="0"/>
              <a:t>earliest answer</a:t>
            </a:r>
            <a:r>
              <a:rPr lang="en-US" dirty="0"/>
              <a:t>—in this case, Q1—and the character end index of the </a:t>
            </a:r>
            <a:r>
              <a:rPr lang="en-US" b="1" dirty="0"/>
              <a:t>latest answer</a:t>
            </a:r>
            <a:r>
              <a:rPr lang="en-US" dirty="0"/>
              <a:t>—in this case, Q4.</a:t>
            </a:r>
          </a:p>
          <a:p>
            <a:r>
              <a:rPr lang="en-US" b="1" dirty="0"/>
              <a:t>(Point to image (3) - Truncated Context)</a:t>
            </a:r>
          </a:p>
          <a:p>
            <a:endParaRPr lang="en-US" dirty="0"/>
          </a:p>
          <a:p>
            <a:r>
              <a:rPr lang="en-US" dirty="0"/>
              <a:t>"The model then 'cuts' the document at these two points, removing all the extraneous text before the first answer and after the last answer.</a:t>
            </a:r>
          </a:p>
          <a:p>
            <a:endParaRPr lang="en-US" dirty="0"/>
          </a:p>
          <a:p>
            <a:r>
              <a:rPr lang="en-US" dirty="0"/>
              <a:t>"The result, shown in image </a:t>
            </a:r>
            <a:r>
              <a:rPr lang="en-US" b="1" dirty="0"/>
              <a:t>(3)</a:t>
            </a:r>
            <a:r>
              <a:rPr lang="en-US" dirty="0"/>
              <a:t>, is our </a:t>
            </a:r>
            <a:r>
              <a:rPr lang="en-US" b="1" dirty="0"/>
              <a:t>'Truncated-Span Context'</a:t>
            </a:r>
            <a:r>
              <a:rPr lang="en-US" dirty="0"/>
              <a:t>. This new, minimal context is all the model sees in the ablation experiment. It's a 'perfect' context that is dense with answers and has almost zero noise.</a:t>
            </a:r>
          </a:p>
          <a:p>
            <a:endParaRPr lang="en-US" dirty="0"/>
          </a:p>
          <a:p>
            <a:r>
              <a:rPr lang="en-US" dirty="0"/>
              <a:t>"Again, this isn't a practical pre-processing step, but an experimental control. By training and testing a model on this truncated dataset and comparing its performance to our primary model, we can </a:t>
            </a:r>
            <a:r>
              <a:rPr lang="en-US" b="1" dirty="0"/>
              <a:t>empirically measure the exact performance drop</a:t>
            </a:r>
            <a:r>
              <a:rPr lang="en-US" dirty="0"/>
              <a:t> caused by the surrounding text, which directly answers our third research question."</a:t>
            </a:r>
          </a:p>
        </p:txBody>
      </p:sp>
    </p:spTree>
    <p:extLst>
      <p:ext uri="{BB962C8B-B14F-4D97-AF65-F5344CB8AC3E}">
        <p14:creationId xmlns:p14="http://schemas.microsoft.com/office/powerpoint/2010/main" val="354141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53017CD4-CEC8-4E61-8784-7CCED4863A21}"/>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9356487B-B3A7-88BC-6F34-FB835B13D8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AE19DA1B-D814-D62A-227F-3CA3A3CFFE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"Alright, let's dive into the performance of our model. We evaluated it using 5-fold cross-validation, and the results reveal a fascinating split in performance that tells us a lot about the legal text itself.”</a:t>
            </a:r>
          </a:p>
          <a:p>
            <a:br>
              <a:rPr lang="en-US" sz="1800" dirty="0"/>
            </a:br>
            <a:r>
              <a:rPr lang="en-US" sz="1100" b="1" i="0" u="none" strike="noStrike" cap="none" dirty="0">
                <a:solidFill>
                  <a:srgbClr val="000000"/>
                </a:solidFill>
                <a:effectLst/>
                <a:latin typeface="Arial"/>
                <a:ea typeface="Arial"/>
                <a:cs typeface="Arial"/>
                <a:sym typeface="Arial"/>
              </a:rPr>
              <a:t>1. Overall Performance: A Strong Baseline</a:t>
            </a:r>
          </a:p>
          <a:p>
            <a:pPr lvl="1"/>
            <a:r>
              <a:rPr lang="en-US" sz="1100" b="0" i="0" u="none" strike="noStrike" cap="none" dirty="0">
                <a:solidFill>
                  <a:srgbClr val="000000"/>
                </a:solidFill>
                <a:effectLst/>
                <a:latin typeface="Arial"/>
                <a:ea typeface="Arial"/>
                <a:cs typeface="Arial"/>
                <a:sym typeface="Arial"/>
              </a:rPr>
              <a:t>Our primary model achieved a solid overall </a:t>
            </a:r>
            <a:r>
              <a:rPr lang="en-US" sz="1100" b="1" i="0" u="none" strike="noStrike" cap="none" dirty="0">
                <a:solidFill>
                  <a:srgbClr val="000000"/>
                </a:solidFill>
                <a:effectLst/>
                <a:latin typeface="Arial"/>
                <a:ea typeface="Arial"/>
                <a:cs typeface="Arial"/>
                <a:sym typeface="Arial"/>
              </a:rPr>
              <a:t>F1-score of 71.10%</a:t>
            </a:r>
            <a:r>
              <a:rPr lang="en-US" sz="1100" b="0" i="0" u="none" strike="noStrike" cap="none" dirty="0">
                <a:solidFill>
                  <a:srgbClr val="000000"/>
                </a:solidFill>
                <a:effectLst/>
                <a:latin typeface="Arial"/>
                <a:ea typeface="Arial"/>
                <a:cs typeface="Arial"/>
                <a:sym typeface="Arial"/>
              </a:rPr>
              <a:t>. This confirms that the Extractive QA approach is a viable and effective framework for this legal argument mining task.</a:t>
            </a:r>
            <a:br>
              <a:rPr lang="en-US" sz="1800" dirty="0"/>
            </a:br>
            <a:endParaRPr lang="en-US" sz="1800" dirty="0"/>
          </a:p>
          <a:p>
            <a:r>
              <a:rPr lang="en-US" sz="1100" b="1" i="0" u="none" strike="noStrike" cap="none" dirty="0">
                <a:solidFill>
                  <a:srgbClr val="000000"/>
                </a:solidFill>
                <a:effectLst/>
                <a:latin typeface="Arial"/>
                <a:ea typeface="Arial"/>
                <a:cs typeface="Arial"/>
                <a:sym typeface="Arial"/>
              </a:rPr>
              <a:t>2. Per-Question Analysis: The Performance Divide</a:t>
            </a:r>
          </a:p>
          <a:p>
            <a:pPr lvl="1"/>
            <a:r>
              <a:rPr lang="en-US" sz="1100" b="0" i="0" u="none" strike="noStrike" cap="none" dirty="0">
                <a:solidFill>
                  <a:srgbClr val="000000"/>
                </a:solidFill>
                <a:effectLst/>
                <a:latin typeface="Arial"/>
                <a:ea typeface="Arial"/>
                <a:cs typeface="Arial"/>
                <a:sym typeface="Arial"/>
              </a:rPr>
              <a:t>"But when we break this down by question type, a clear pattern emerges. The model's performance is directly correlated with the </a:t>
            </a:r>
            <a:r>
              <a:rPr lang="en-US" sz="1100" b="0" i="1" u="none" strike="noStrike" cap="none" dirty="0">
                <a:solidFill>
                  <a:srgbClr val="000000"/>
                </a:solidFill>
                <a:effectLst/>
                <a:latin typeface="Arial"/>
                <a:ea typeface="Arial"/>
                <a:cs typeface="Arial"/>
                <a:sym typeface="Arial"/>
              </a:rPr>
              <a:t>explicitness</a:t>
            </a:r>
            <a:r>
              <a:rPr lang="en-US" sz="1100" b="0" i="0" u="none" strike="noStrike" cap="none" dirty="0">
                <a:solidFill>
                  <a:srgbClr val="000000"/>
                </a:solidFill>
                <a:effectLst/>
                <a:latin typeface="Arial"/>
                <a:ea typeface="Arial"/>
                <a:cs typeface="Arial"/>
                <a:sym typeface="Arial"/>
              </a:rPr>
              <a:t> of the legal language it's trying to find."</a:t>
            </a:r>
          </a:p>
          <a:p>
            <a:pPr lvl="1"/>
            <a:endParaRPr lang="en-US" sz="1100" b="1"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High Performance on Formulaic Statements (Q2 &amp; Q4)</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The model excelled on tasks requiring the extraction of clear, standardized legal conclusions.</a:t>
            </a:r>
          </a:p>
          <a:p>
            <a:pPr lvl="1"/>
            <a:r>
              <a:rPr lang="en-US" sz="1100" b="1" i="0" u="none" strike="noStrike" cap="none" dirty="0">
                <a:solidFill>
                  <a:srgbClr val="000000"/>
                </a:solidFill>
                <a:effectLst/>
                <a:latin typeface="Arial"/>
                <a:ea typeface="Arial"/>
                <a:cs typeface="Arial"/>
                <a:sym typeface="Arial"/>
              </a:rPr>
              <a:t>Q2 (Legal Classification)</a:t>
            </a:r>
            <a:r>
              <a:rPr lang="en-US" sz="1100" b="0" i="0" u="none" strike="noStrike" cap="none" dirty="0">
                <a:solidFill>
                  <a:srgbClr val="000000"/>
                </a:solidFill>
                <a:effectLst/>
                <a:latin typeface="Arial"/>
                <a:ea typeface="Arial"/>
                <a:cs typeface="Arial"/>
                <a:sym typeface="Arial"/>
              </a:rPr>
              <a:t> and </a:t>
            </a:r>
            <a:r>
              <a:rPr lang="en-US" sz="1100" b="1" i="0" u="none" strike="noStrike" cap="none" dirty="0">
                <a:solidFill>
                  <a:srgbClr val="000000"/>
                </a:solidFill>
                <a:effectLst/>
                <a:latin typeface="Arial"/>
                <a:ea typeface="Arial"/>
                <a:cs typeface="Arial"/>
                <a:sym typeface="Arial"/>
              </a:rPr>
              <a:t>Q4 (Threshold Application)</a:t>
            </a:r>
            <a:r>
              <a:rPr lang="en-US" sz="1100" b="0" i="0" u="none" strike="noStrike" cap="none" dirty="0">
                <a:solidFill>
                  <a:srgbClr val="000000"/>
                </a:solidFill>
                <a:effectLst/>
                <a:latin typeface="Arial"/>
                <a:ea typeface="Arial"/>
                <a:cs typeface="Arial"/>
                <a:sym typeface="Arial"/>
              </a:rPr>
              <a:t> achieved very high F1-scores of approximately </a:t>
            </a:r>
            <a:r>
              <a:rPr lang="en-US" sz="1100" b="1" i="0" u="none" strike="noStrike" cap="none" dirty="0">
                <a:solidFill>
                  <a:srgbClr val="000000"/>
                </a:solidFill>
                <a:effectLst/>
                <a:latin typeface="Arial"/>
                <a:ea typeface="Arial"/>
                <a:cs typeface="Arial"/>
                <a:sym typeface="Arial"/>
              </a:rPr>
              <a:t>89%</a:t>
            </a:r>
            <a:r>
              <a:rPr lang="en-US" sz="1100" b="0" i="0" u="none" strike="noStrike" cap="none" dirty="0">
                <a:solidFill>
                  <a:srgbClr val="000000"/>
                </a:solidFill>
                <a:effectLst/>
                <a:latin typeface="Arial"/>
                <a:ea typeface="Arial"/>
                <a:cs typeface="Arial"/>
                <a:sym typeface="Arial"/>
              </a:rPr>
              <a:t>.</a:t>
            </a:r>
          </a:p>
          <a:p>
            <a:pPr lvl="1"/>
            <a:r>
              <a:rPr lang="en-US" sz="1100" b="1" i="0" u="none" strike="noStrike" cap="none" dirty="0">
                <a:solidFill>
                  <a:srgbClr val="000000"/>
                </a:solidFill>
                <a:effectLst/>
                <a:latin typeface="Arial"/>
                <a:ea typeface="Arial"/>
                <a:cs typeface="Arial"/>
                <a:sym typeface="Arial"/>
              </a:rPr>
              <a:t>Interpretation:</a:t>
            </a:r>
            <a:r>
              <a:rPr lang="en-US" sz="1100" b="0" i="0" u="none" strike="noStrike" cap="none" dirty="0">
                <a:solidFill>
                  <a:srgbClr val="000000"/>
                </a:solidFill>
                <a:effectLst/>
                <a:latin typeface="Arial"/>
                <a:ea typeface="Arial"/>
                <a:cs typeface="Arial"/>
                <a:sym typeface="Arial"/>
              </a:rPr>
              <a:t> These parts of the legal argument are often written in formulaic, explicit language, making them easy for the model to identify.</a:t>
            </a:r>
          </a:p>
          <a:p>
            <a:endParaRPr lang="en-US" sz="1100" b="1"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Low Performance on Substantive Reasoning (Q1 &amp; Q3)</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Conversely, the model struggled significantly with tasks that required understanding nuanced, implicit reasoning.</a:t>
            </a:r>
          </a:p>
          <a:p>
            <a:pPr lvl="1"/>
            <a:r>
              <a:rPr lang="en-US" sz="1100" b="1" i="0" u="none" strike="noStrike" cap="none" dirty="0">
                <a:solidFill>
                  <a:srgbClr val="000000"/>
                </a:solidFill>
                <a:effectLst/>
                <a:latin typeface="Arial"/>
                <a:ea typeface="Arial"/>
                <a:cs typeface="Arial"/>
                <a:sym typeface="Arial"/>
              </a:rPr>
              <a:t>Q1 (Business Description)</a:t>
            </a:r>
            <a:r>
              <a:rPr lang="en-US" sz="1100" b="0" i="0" u="none" strike="noStrike" cap="none" dirty="0">
                <a:solidFill>
                  <a:srgbClr val="000000"/>
                </a:solidFill>
                <a:effectLst/>
                <a:latin typeface="Arial"/>
                <a:ea typeface="Arial"/>
                <a:cs typeface="Arial"/>
                <a:sym typeface="Arial"/>
              </a:rPr>
              <a:t> was more modest at </a:t>
            </a:r>
            <a:r>
              <a:rPr lang="en-US" sz="1100" b="1" i="0" u="none" strike="noStrike" cap="none" dirty="0">
                <a:solidFill>
                  <a:srgbClr val="000000"/>
                </a:solidFill>
                <a:effectLst/>
                <a:latin typeface="Arial"/>
                <a:ea typeface="Arial"/>
                <a:cs typeface="Arial"/>
                <a:sym typeface="Arial"/>
              </a:rPr>
              <a:t>~64% F1</a:t>
            </a:r>
            <a:r>
              <a:rPr lang="en-US" sz="1100" b="0" i="0" u="none" strike="noStrike" cap="none" dirty="0">
                <a:solidFill>
                  <a:srgbClr val="000000"/>
                </a:solidFill>
                <a:effectLst/>
                <a:latin typeface="Arial"/>
                <a:ea typeface="Arial"/>
                <a:cs typeface="Arial"/>
                <a:sym typeface="Arial"/>
              </a:rPr>
              <a:t>.</a:t>
            </a:r>
          </a:p>
          <a:p>
            <a:pPr lvl="1"/>
            <a:r>
              <a:rPr lang="en-US" sz="1100" b="1" i="0" u="none" strike="noStrike" cap="none" dirty="0">
                <a:solidFill>
                  <a:srgbClr val="000000"/>
                </a:solidFill>
                <a:effectLst/>
                <a:latin typeface="Arial"/>
                <a:ea typeface="Arial"/>
                <a:cs typeface="Arial"/>
                <a:sym typeface="Arial"/>
              </a:rPr>
              <a:t>Q3 (Market Nexus)</a:t>
            </a:r>
            <a:r>
              <a:rPr lang="en-US" sz="1100" b="0" i="0" u="none" strike="noStrike" cap="none" dirty="0">
                <a:solidFill>
                  <a:srgbClr val="000000"/>
                </a:solidFill>
                <a:effectLst/>
                <a:latin typeface="Arial"/>
                <a:ea typeface="Arial"/>
                <a:cs typeface="Arial"/>
                <a:sym typeface="Arial"/>
              </a:rPr>
              <a:t> was the most challenging task by far, with a very low </a:t>
            </a:r>
            <a:r>
              <a:rPr lang="en-US" sz="1100" b="1" i="0" u="none" strike="noStrike" cap="none" dirty="0">
                <a:solidFill>
                  <a:srgbClr val="000000"/>
                </a:solidFill>
                <a:effectLst/>
                <a:latin typeface="Arial"/>
                <a:ea typeface="Arial"/>
                <a:cs typeface="Arial"/>
                <a:sym typeface="Arial"/>
              </a:rPr>
              <a:t>F1-score of only ~41%</a:t>
            </a:r>
            <a:r>
              <a:rPr lang="en-US" sz="1100" b="0" i="0" u="none" strike="noStrike" cap="none" dirty="0">
                <a:solidFill>
                  <a:srgbClr val="000000"/>
                </a:solidFill>
                <a:effectLst/>
                <a:latin typeface="Arial"/>
                <a:ea typeface="Arial"/>
                <a:cs typeface="Arial"/>
                <a:sym typeface="Arial"/>
              </a:rPr>
              <a:t>.</a:t>
            </a:r>
          </a:p>
          <a:p>
            <a:pPr lvl="1"/>
            <a:r>
              <a:rPr lang="en-US" sz="1100" b="1" i="0" u="none" strike="noStrike" cap="none" dirty="0">
                <a:solidFill>
                  <a:srgbClr val="000000"/>
                </a:solidFill>
                <a:effectLst/>
                <a:latin typeface="Arial"/>
                <a:ea typeface="Arial"/>
                <a:cs typeface="Arial"/>
                <a:sym typeface="Arial"/>
              </a:rPr>
              <a:t>Interpretation:</a:t>
            </a:r>
            <a:r>
              <a:rPr lang="en-US" sz="1100" b="0" i="0" u="none" strike="noStrike" cap="none" dirty="0">
                <a:solidFill>
                  <a:srgbClr val="000000"/>
                </a:solidFill>
                <a:effectLst/>
                <a:latin typeface="Arial"/>
                <a:ea typeface="Arial"/>
                <a:cs typeface="Arial"/>
                <a:sym typeface="Arial"/>
              </a:rPr>
              <a:t> This suggests the reasoning for Market Nexus is often implicit, stylistically variable, or buried in dense text, making it difficult to extract as a single, clear sentence.</a:t>
            </a:r>
          </a:p>
          <a:p>
            <a:br>
              <a:rPr lang="en-US" sz="1800" dirty="0"/>
            </a:br>
            <a:endParaRPr lang="en-US" sz="1800" dirty="0"/>
          </a:p>
          <a:p>
            <a:r>
              <a:rPr lang="en-US" sz="1100" b="1" i="0" u="none" strike="noStrike" cap="none" dirty="0">
                <a:solidFill>
                  <a:srgbClr val="000000"/>
                </a:solidFill>
                <a:effectLst/>
                <a:latin typeface="Arial"/>
                <a:ea typeface="Arial"/>
                <a:cs typeface="Arial"/>
                <a:sym typeface="Arial"/>
              </a:rPr>
              <a:t>3. The Ablation Study: Proving Context is the Bottleneck</a:t>
            </a:r>
          </a:p>
          <a:p>
            <a:r>
              <a:rPr lang="en-US" sz="1100" b="0" i="0" u="none" strike="noStrike" cap="none" dirty="0">
                <a:solidFill>
                  <a:srgbClr val="000000"/>
                </a:solidFill>
                <a:effectLst/>
                <a:latin typeface="Arial"/>
                <a:ea typeface="Arial"/>
                <a:cs typeface="Arial"/>
                <a:sym typeface="Arial"/>
              </a:rPr>
              <a:t>"So, why did the model struggle so much with Q3? Our ablation study gives us a clear answer: the problem isn't that the answer is missing; it's that it's being obscured by noise."</a:t>
            </a:r>
          </a:p>
          <a:p>
            <a:pPr lvl="1"/>
            <a:r>
              <a:rPr lang="en-US" sz="1100" b="0" i="0" u="none" strike="noStrike" cap="none" dirty="0">
                <a:solidFill>
                  <a:srgbClr val="000000"/>
                </a:solidFill>
                <a:effectLst/>
                <a:latin typeface="Arial"/>
                <a:ea typeface="Arial"/>
                <a:cs typeface="Arial"/>
                <a:sym typeface="Arial"/>
              </a:rPr>
              <a:t>By radically reducing the context to only the most relevant sentences, the overall F1-score jumped nearly </a:t>
            </a:r>
            <a:r>
              <a:rPr lang="en-US" sz="1100" b="1" i="0" u="none" strike="noStrike" cap="none" dirty="0">
                <a:solidFill>
                  <a:srgbClr val="000000"/>
                </a:solidFill>
                <a:effectLst/>
                <a:latin typeface="Arial"/>
                <a:ea typeface="Arial"/>
                <a:cs typeface="Arial"/>
                <a:sym typeface="Arial"/>
              </a:rPr>
              <a:t>13 points to 83.99%</a:t>
            </a:r>
            <a:r>
              <a:rPr lang="en-US" sz="1100" b="0" i="0" u="none" strike="noStrike" cap="none" dirty="0">
                <a:solidFill>
                  <a:srgbClr val="000000"/>
                </a:solidFill>
                <a:effectLst/>
                <a:latin typeface="Arial"/>
                <a:ea typeface="Arial"/>
                <a:cs typeface="Arial"/>
                <a:sym typeface="Arial"/>
              </a:rPr>
              <a:t>.</a:t>
            </a:r>
          </a:p>
          <a:p>
            <a:pPr lvl="1"/>
            <a:r>
              <a:rPr lang="en-US" sz="1100" b="0" i="0" u="none" strike="noStrike" cap="none" dirty="0">
                <a:solidFill>
                  <a:srgbClr val="000000"/>
                </a:solidFill>
                <a:effectLst/>
                <a:latin typeface="Arial"/>
                <a:ea typeface="Arial"/>
                <a:cs typeface="Arial"/>
                <a:sym typeface="Arial"/>
              </a:rPr>
              <a:t>The most dramatic result was for our most difficult task, </a:t>
            </a:r>
            <a:r>
              <a:rPr lang="en-US" sz="1100" b="1" i="0" u="none" strike="noStrike" cap="none" dirty="0">
                <a:solidFill>
                  <a:srgbClr val="000000"/>
                </a:solidFill>
                <a:effectLst/>
                <a:latin typeface="Arial"/>
                <a:ea typeface="Arial"/>
                <a:cs typeface="Arial"/>
                <a:sym typeface="Arial"/>
              </a:rPr>
              <a:t>Q3 (Market Nexus)</a:t>
            </a:r>
            <a:r>
              <a:rPr lang="en-US" sz="1100" b="0" i="0" u="none" strike="noStrike" cap="none" dirty="0">
                <a:solidFill>
                  <a:srgbClr val="000000"/>
                </a:solidFill>
                <a:effectLst/>
                <a:latin typeface="Arial"/>
                <a:ea typeface="Arial"/>
                <a:cs typeface="Arial"/>
                <a:sym typeface="Arial"/>
              </a:rPr>
              <a:t>. Its F1-score skyrocketed from </a:t>
            </a:r>
            <a:r>
              <a:rPr lang="en-US" sz="1100" b="1" i="0" u="none" strike="noStrike" cap="none" dirty="0">
                <a:solidFill>
                  <a:srgbClr val="000000"/>
                </a:solidFill>
                <a:effectLst/>
                <a:latin typeface="Arial"/>
                <a:ea typeface="Arial"/>
                <a:cs typeface="Arial"/>
                <a:sym typeface="Arial"/>
              </a:rPr>
              <a:t>40.64% to 86.40%</a:t>
            </a:r>
            <a:r>
              <a:rPr lang="en-US" sz="1100" b="0" i="0" u="none" strike="noStrike" cap="none" dirty="0">
                <a:solidFill>
                  <a:srgbClr val="000000"/>
                </a:solidFill>
                <a:effectLst/>
                <a:latin typeface="Arial"/>
                <a:ea typeface="Arial"/>
                <a:cs typeface="Arial"/>
                <a:sym typeface="Arial"/>
              </a:rPr>
              <a:t>—an improvement of over </a:t>
            </a:r>
            <a:r>
              <a:rPr lang="en-US" sz="1100" b="1" i="0" u="none" strike="noStrike" cap="none" dirty="0">
                <a:solidFill>
                  <a:srgbClr val="000000"/>
                </a:solidFill>
                <a:effectLst/>
                <a:latin typeface="Arial"/>
                <a:ea typeface="Arial"/>
                <a:cs typeface="Arial"/>
                <a:sym typeface="Arial"/>
              </a:rPr>
              <a:t>45 points</a:t>
            </a:r>
            <a:r>
              <a:rPr lang="en-US" sz="1100" b="0" i="0" u="none" strike="noStrike" cap="none" dirty="0">
                <a:solidFill>
                  <a:srgbClr val="000000"/>
                </a:solidFill>
                <a:effectLst/>
                <a:latin typeface="Arial"/>
                <a:ea typeface="Arial"/>
                <a:cs typeface="Arial"/>
                <a:sym typeface="Arial"/>
              </a:rPr>
              <a:t>.</a:t>
            </a:r>
          </a:p>
          <a:p>
            <a:pPr lvl="1"/>
            <a:r>
              <a:rPr lang="en-US" sz="1100" b="1" i="0" u="none" strike="noStrike" cap="none" dirty="0">
                <a:solidFill>
                  <a:srgbClr val="000000"/>
                </a:solidFill>
                <a:effectLst/>
                <a:latin typeface="Arial"/>
                <a:ea typeface="Arial"/>
                <a:cs typeface="Arial"/>
                <a:sym typeface="Arial"/>
              </a:rPr>
              <a:t>Key Takeaway:</a:t>
            </a:r>
            <a:r>
              <a:rPr lang="en-US" sz="1100" b="0" i="0" u="none" strike="noStrike" cap="none" dirty="0">
                <a:solidFill>
                  <a:srgbClr val="000000"/>
                </a:solidFill>
                <a:effectLst/>
                <a:latin typeface="Arial"/>
                <a:ea typeface="Arial"/>
                <a:cs typeface="Arial"/>
                <a:sym typeface="Arial"/>
              </a:rPr>
              <a:t> This demonstrates that context length is the primary performance bottleneck. The correct answers for even the most implicit reasoning are present in the text, and unlocking higher performance will require more advanced context retrieval and noise reduction techniques.</a:t>
            </a:r>
          </a:p>
          <a:p>
            <a:pPr algn="just"/>
            <a:endParaRPr lang="en-T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882384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8F0A7C19-1693-BEF8-3568-E4300E9FD2E8}"/>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E8C2B004-7E2F-EB45-6CF1-3E9514B093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0B871D89-0909-A501-B9F6-517EDDC9A9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800" dirty="0"/>
              <a:t>"Okay, before we look at the numbers in Table III, it's critical to discuss </a:t>
            </a:r>
            <a:r>
              <a:rPr lang="en-US" sz="1800" i="1" dirty="0"/>
              <a:t>how</a:t>
            </a:r>
            <a:r>
              <a:rPr lang="en-US" sz="1800" dirty="0"/>
              <a:t> we're evaluating performance and some of the important nuances of the metrics we chose.</a:t>
            </a:r>
          </a:p>
          <a:p>
            <a:br>
              <a:rPr lang="en-US" sz="1800" dirty="0"/>
            </a:br>
            <a:endParaRPr lang="en-US" sz="1800" dirty="0"/>
          </a:p>
          <a:p>
            <a:r>
              <a:rPr lang="en-US" sz="1800" b="1" dirty="0"/>
              <a:t>(Point to: 'Exact Match (EM)')</a:t>
            </a:r>
            <a:endParaRPr lang="en-US" sz="1800" dirty="0"/>
          </a:p>
          <a:p>
            <a:r>
              <a:rPr lang="en-US" sz="1800" dirty="0"/>
              <a:t>"Our primary metric is </a:t>
            </a:r>
            <a:r>
              <a:rPr lang="en-US" sz="1800" b="1" dirty="0"/>
              <a:t>Exact Match (EM)</a:t>
            </a:r>
            <a:r>
              <a:rPr lang="en-US" sz="1800" dirty="0"/>
              <a:t>. As the slide says, this is a very strict, all-or-nothing score. The predicted text span </a:t>
            </a:r>
            <a:r>
              <a:rPr lang="en-US" sz="1800" i="1" dirty="0"/>
              <a:t>must be 100% identical</a:t>
            </a:r>
            <a:r>
              <a:rPr lang="en-US" sz="1800" dirty="0"/>
              <a:t> to the expert-annotated ground-truth answer to get any credit.</a:t>
            </a:r>
          </a:p>
          <a:p>
            <a:br>
              <a:rPr lang="en-US" sz="1800" dirty="0"/>
            </a:br>
            <a:endParaRPr lang="en-US" sz="1800" dirty="0"/>
          </a:p>
          <a:p>
            <a:r>
              <a:rPr lang="en-US" sz="1800" dirty="0"/>
              <a:t>"This metric is also challenged by the nature of legal text itself. "For example, the TCA might state the 'Market Nexus' in two different, equally valid sentences. Our dataset labels one of them as the ground truth. If our model correctly extracts the </a:t>
            </a:r>
            <a:r>
              <a:rPr lang="en-US" sz="1800" i="1" dirty="0"/>
              <a:t>other</a:t>
            </a:r>
            <a:r>
              <a:rPr lang="en-US" sz="1800" dirty="0"/>
              <a:t> valid sentence, a strict EM score marks it as a zero. It's a failure, even though the model's extraction was correct. Even a simple difference in </a:t>
            </a:r>
            <a:r>
              <a:rPr lang="en-US" sz="1800" b="1" dirty="0"/>
              <a:t>punctuation</a:t>
            </a:r>
            <a:r>
              <a:rPr lang="en-US" sz="1800" dirty="0"/>
              <a:t> can cause the model to fail this metric.</a:t>
            </a:r>
          </a:p>
          <a:p>
            <a:br>
              <a:rPr lang="en-US" sz="1800" dirty="0"/>
            </a:br>
            <a:endParaRPr lang="en-US" sz="1800" dirty="0"/>
          </a:p>
          <a:p>
            <a:r>
              <a:rPr lang="en-US" sz="1800" dirty="0"/>
              <a:t>"Finally, we have to consider the </a:t>
            </a:r>
            <a:r>
              <a:rPr lang="en-US" sz="1800" b="1" dirty="0"/>
              <a:t>influence of answer length on performance</a:t>
            </a:r>
            <a:r>
              <a:rPr lang="en-US" sz="1800" dirty="0"/>
              <a:t>. This is a well-documented phenomenon in EQA.</a:t>
            </a:r>
          </a:p>
          <a:p>
            <a:endParaRPr lang="en-US" sz="1800" dirty="0"/>
          </a:p>
          <a:p>
            <a:r>
              <a:rPr lang="en-US" sz="1800" dirty="0"/>
              <a:t>"The key takeaway from the literature is that </a:t>
            </a:r>
            <a:r>
              <a:rPr lang="en-US" sz="1800" b="1" dirty="0"/>
              <a:t>answer length is negatively correlated with performance</a:t>
            </a:r>
            <a:r>
              <a:rPr lang="en-US" sz="1800" dirty="0"/>
              <a:t>. Longer answers are harder for models to get exactly right.</a:t>
            </a:r>
          </a:p>
          <a:p>
            <a:endParaRPr lang="en-US" sz="1800" dirty="0"/>
          </a:p>
          <a:p>
            <a:r>
              <a:rPr lang="en-US" sz="1800" dirty="0"/>
              <a:t>"This is described as a </a:t>
            </a:r>
            <a:r>
              <a:rPr lang="en-US" sz="1800" b="1" dirty="0"/>
              <a:t>strong effect</a:t>
            </a:r>
            <a:r>
              <a:rPr lang="en-US" sz="1800" dirty="0"/>
              <a:t>, for instance, in analyses of </a:t>
            </a:r>
            <a:r>
              <a:rPr lang="en-US" sz="1800" dirty="0" err="1"/>
              <a:t>DistilBERT</a:t>
            </a:r>
            <a:r>
              <a:rPr lang="en-US" sz="1800" dirty="0"/>
              <a:t> on the </a:t>
            </a:r>
            <a:r>
              <a:rPr lang="en-US" sz="1800" dirty="0" err="1"/>
              <a:t>SQuAD</a:t>
            </a:r>
            <a:r>
              <a:rPr lang="en-US" sz="1800" dirty="0"/>
              <a:t> dataset.</a:t>
            </a:r>
          </a:p>
          <a:p>
            <a:endParaRPr lang="en-US" sz="1800" dirty="0"/>
          </a:p>
          <a:p>
            <a:r>
              <a:rPr lang="en-US" sz="1800" dirty="0"/>
              <a:t>"To give you a concrete example, recent work by </a:t>
            </a:r>
            <a:r>
              <a:rPr lang="en-US" sz="1800" dirty="0" err="1"/>
              <a:t>Farea</a:t>
            </a:r>
            <a:r>
              <a:rPr lang="en-US" sz="1800" dirty="0"/>
              <a:t> et al. found that just going from an answer length of </a:t>
            </a:r>
            <a:r>
              <a:rPr lang="en-US" sz="1800" b="1" dirty="0"/>
              <a:t>1 to 5 tokens can reduce the exact match score by almost a factor of 2</a:t>
            </a:r>
            <a:r>
              <a:rPr lang="en-US" sz="1800" dirty="0"/>
              <a:t>.</a:t>
            </a:r>
          </a:p>
          <a:p>
            <a:endParaRPr lang="en-US" sz="1800" dirty="0"/>
          </a:p>
          <a:p>
            <a:r>
              <a:rPr lang="en-US" sz="1800" dirty="0"/>
              <a:t>"This is </a:t>
            </a:r>
            <a:r>
              <a:rPr lang="en-US" sz="1800" i="1" dirty="0"/>
              <a:t>highly relevant</a:t>
            </a:r>
            <a:r>
              <a:rPr lang="en-US" sz="1800" dirty="0"/>
              <a:t> for us, because as you saw in our data, our average answer length is quite long—about </a:t>
            </a:r>
            <a:r>
              <a:rPr lang="en-US" sz="1800" b="1" dirty="0"/>
              <a:t>48 tokens</a:t>
            </a:r>
            <a:r>
              <a:rPr lang="en-US" sz="1800" dirty="0"/>
              <a:t>. This context is important for interpreting our own scores, as it helps explain the gap you'll see between our strict Exact Match and our more lenient F1-scores."</a:t>
            </a:r>
          </a:p>
        </p:txBody>
      </p:sp>
    </p:spTree>
    <p:extLst>
      <p:ext uri="{BB962C8B-B14F-4D97-AF65-F5344CB8AC3E}">
        <p14:creationId xmlns:p14="http://schemas.microsoft.com/office/powerpoint/2010/main" val="41106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29977EDC-9990-7FA0-3CCB-0C78F7BF30BB}"/>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57C34107-7678-F554-47FC-215AD22E39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BCE2E4F2-9C40-4977-6AE7-CADFFA76C1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question addresses the first substantive condition of the technology undertaking exception, seeking the factual basis required to classify the target company’s activities.</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The primary challenge with this question stems not from a lack of information, but from an abundance of it. Unlike the more formulaic legal conclusions, TCA decisions often contain multiple sentences describing the target undertaking’s business. These descriptions are presented for various purposes, such as defining the affected markets, detailing global operations, or outlining specific activities in Turkey. </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This creates a significant challenge for the annotation task, which required selecting the single best sentence that was both neutral and provided a comprehensive overview of the company’s core activities.</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So, in this case model selects a descriptive sentence that is factually correct but suboptimal. The annotated answer describes what the target company, CENOCSO, currently does: it is an ”Asset Integrity Management (AIM) software provider” serving specific industries. The model’s prediction, however, describes what the company used to be or its historical origins: it ”was founded in 2000 as an information technology consulting company.” While this sentence is also a valid description of the company, it is less relevant for the legal analysis, which is concerned with the company’s present-day activities.</a:t>
            </a:r>
          </a:p>
          <a:p>
            <a:pPr marL="457200" marR="0" lvl="0" indent="-298450" algn="just"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6488272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A8F31617-E7AD-2FD7-4F27-89292C5EF8CA}"/>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7B044235-4EF2-F347-67F8-041BF7C354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45B215F1-A40E-B91F-BEE2-2DE4C918B3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model was prompted for the target’s Business Description (Q1), which requires a factual statement of the company’s core commercial activities. The ground- truth answer correctly identifies GEOMAGIC’s role in soft- ware development and support. However, the model instead extracted a sentence detailing the company’s ”operations in Turkey through a distributor.” This prediction, while factually correct, is a textbook answer for the Market Nexus (Q3) question, The error is significant because the model did not simply fail; it correctly identified a legally relevant sentence but misapplied it to the wrong analytical task.</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For the vast majority of cases, our annotator was therefore required to select the best available proxy sentence—one that implicitly established the target’s presence in Turkey. Common examples of such implicit sentences included statements about the target’s Turkish market share, its turnover generated in Turkey, or its business dealings with other Turkish companies.</a:t>
            </a:r>
          </a:p>
          <a:p>
            <a:endParaRPr lang="en-US" sz="1100" b="0" i="0" u="none" strike="noStrike" cap="none" dirty="0">
              <a:solidFill>
                <a:srgbClr val="000000"/>
              </a:solidFill>
              <a:effectLst/>
              <a:latin typeface="Arial"/>
              <a:ea typeface="Arial"/>
              <a:cs typeface="Arial"/>
              <a:sym typeface="Arial"/>
            </a:endParaRPr>
          </a:p>
          <a:p>
            <a:pPr marL="457200" marR="0" lvl="0" indent="-298450" algn="just"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4113479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8120ACF1-D83E-7590-A3F4-44C5D62FE549}"/>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E730DA2E-D851-DD6C-D37C-B8357115CB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1C21A9FF-E3BF-F965-15DE-0AC3A84251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Here is an example to that constraint and how it led to error in our model, </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For this decision, the annotated answer establishes the market nexus by citing the target company’s (BEAM) turnover and market share in Turkey. This is an implicit but legally sufficient fact. The model, however, failed to identify this sentence. Instead, the model predicted a different sentence that describes BEAM’s technical accreditations and its status as a ”Cybersecurity Evaluation Test Laboratory based in Turkey.” </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This error is a classic example of a plausible distractor. The model correctly identified the target entity and latched onto the relevant keyword ”Turkey,” but it selected a sentence describing the company’s general capabilities rather than its specific economic activity. This highlights a key limitation: the model struggles to distinguish between a general descriptive statement and the specific, jurisdictionally relevant fact when both are contextually plausible.</a:t>
            </a:r>
          </a:p>
          <a:p>
            <a:pPr marL="457200" marR="0" lvl="0" indent="-298450" algn="just"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479816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EDE25EEB-4C25-DD42-6160-03F7BEE7F0F9}"/>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2454A8EA-2B93-F438-1555-8B5010DFB4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6326FF82-54C6-5C34-F808-A63F1872D9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Figure 7 illustrates a more fundamental error of entity confusion. In this case, the model was tasked with finding the market nexus for the target undertaking, MIM. The correct answer appropriately identifies MIM’s distributor in Turkey. </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The model, however, extracted a sentence describing the Turkish activities of a different company, GEHC, which was the acquiring undertaking in the decision. This type of failure is significant because it reveals that the model correctly understood the semantic pattern of a market nexus sentence (i.e., a company’s activity in Turkey). </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However, it failed to correctly ground this pattern to the specific entity at the heart of the query (the target, MIM). This suggests that while the model is effective at pattern matching, its ability to maintain a consistent focus on the correct entity can be fragile, especially when multiple companies are discussed in close proximity within the text.</a:t>
            </a:r>
          </a:p>
        </p:txBody>
      </p:sp>
    </p:spTree>
    <p:extLst>
      <p:ext uri="{BB962C8B-B14F-4D97-AF65-F5344CB8AC3E}">
        <p14:creationId xmlns:p14="http://schemas.microsoft.com/office/powerpoint/2010/main" val="8483633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88C6D7AB-3555-E7C6-E99C-9456DAC53AAF}"/>
            </a:ext>
          </a:extLst>
        </p:cNvPr>
        <p:cNvGrpSpPr/>
        <p:nvPr/>
      </p:nvGrpSpPr>
      <p:grpSpPr>
        <a:xfrm>
          <a:off x="0" y="0"/>
          <a:ext cx="0" cy="0"/>
          <a:chOff x="0" y="0"/>
          <a:chExt cx="0" cy="0"/>
        </a:xfrm>
      </p:grpSpPr>
      <p:sp>
        <p:nvSpPr>
          <p:cNvPr id="62" name="Google Shape;62;g29fe6875168_0_3:notes">
            <a:extLst>
              <a:ext uri="{FF2B5EF4-FFF2-40B4-BE49-F238E27FC236}">
                <a16:creationId xmlns:a16="http://schemas.microsoft.com/office/drawing/2014/main" id="{DD6C6358-AC50-BDAD-A0B8-68978B02DD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9fe6875168_0_3:notes">
            <a:extLst>
              <a:ext uri="{FF2B5EF4-FFF2-40B4-BE49-F238E27FC236}">
                <a16:creationId xmlns:a16="http://schemas.microsoft.com/office/drawing/2014/main" id="{EF1B7528-70BE-E872-5D80-1D3B072718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1. The Data Bias Problem: Positive and Monolingual Data</a:t>
            </a:r>
            <a:endParaRPr lang="en-US" dirty="0"/>
          </a:p>
          <a:p>
            <a:r>
              <a:rPr lang="en-US" dirty="0"/>
              <a:t>Our dataset comes with two major biases. First, it’s </a:t>
            </a:r>
            <a:r>
              <a:rPr lang="en-US" i="1" dirty="0"/>
              <a:t>monolingual</a:t>
            </a:r>
            <a:r>
              <a:rPr lang="en-US" dirty="0"/>
              <a:t> — everything is in Turkish. That means we can’t really compare our results with other legal QA datasets or models trained in English, like </a:t>
            </a:r>
            <a:r>
              <a:rPr lang="en-US" dirty="0" err="1"/>
              <a:t>LegalBERT</a:t>
            </a:r>
            <a:r>
              <a:rPr lang="en-US" dirty="0"/>
              <a:t>.</a:t>
            </a:r>
          </a:p>
          <a:p>
            <a:r>
              <a:rPr lang="en-US" dirty="0"/>
              <a:t>But the bigger issue is that the dataset only includes </a:t>
            </a:r>
            <a:r>
              <a:rPr lang="en-US" i="1" dirty="0"/>
              <a:t>positive</a:t>
            </a:r>
            <a:r>
              <a:rPr lang="en-US" dirty="0"/>
              <a:t> examples — cases where the TCA actually </a:t>
            </a:r>
            <a:r>
              <a:rPr lang="en-US" i="1" dirty="0"/>
              <a:t>applied</a:t>
            </a:r>
            <a:r>
              <a:rPr lang="en-US" dirty="0"/>
              <a:t> the exception. The model never sees what it looks like when the rule </a:t>
            </a:r>
            <a:r>
              <a:rPr lang="en-US" i="1" dirty="0"/>
              <a:t>doesn’t</a:t>
            </a:r>
            <a:r>
              <a:rPr lang="en-US" dirty="0"/>
              <a:t> apply. So it learns what the rule looks like in action, but not where its boundaries are.</a:t>
            </a:r>
          </a:p>
          <a:p>
            <a:br>
              <a:rPr lang="en-US" dirty="0"/>
            </a:br>
            <a:endParaRPr lang="en-US" dirty="0"/>
          </a:p>
          <a:p>
            <a:r>
              <a:rPr lang="en-US" dirty="0"/>
              <a:t>In future work, we plan to address both of these limitations. We’ll start by translating the dataset into English to allow for cross-linguistic benchmarking. And we’ll also try to create a </a:t>
            </a:r>
            <a:r>
              <a:rPr lang="en-US" i="1" dirty="0"/>
              <a:t>balanced corpus</a:t>
            </a:r>
            <a:r>
              <a:rPr lang="en-US" dirty="0"/>
              <a:t> — ideally by including negative examples, or, if that’s not possible, generating synthetic counterexamples through data augmentation. That will help the model learn not just when the rule holds, but also when it doesn’t.</a:t>
            </a:r>
          </a:p>
          <a:p>
            <a:br>
              <a:rPr lang="en-US" dirty="0"/>
            </a:br>
            <a:endParaRPr lang="en-US" dirty="0"/>
          </a:p>
          <a:p>
            <a:r>
              <a:rPr lang="en-US" b="1" dirty="0"/>
              <a:t>2. The Context &amp; Noise Problem: Finding the Signal</a:t>
            </a:r>
            <a:endParaRPr lang="en-US" dirty="0"/>
          </a:p>
          <a:p>
            <a:r>
              <a:rPr lang="en-US" dirty="0"/>
              <a:t>Our ablation study made something very clear — too much context is actually hurting performance. When we removed the surrounding “noise” from the text, the model’s accuracy on the most difficult implicit reasoning task jumped by more than 45 points.</a:t>
            </a:r>
          </a:p>
          <a:p>
            <a:br>
              <a:rPr lang="en-US" dirty="0"/>
            </a:br>
            <a:endParaRPr lang="en-US" dirty="0"/>
          </a:p>
          <a:p>
            <a:r>
              <a:rPr lang="en-US" dirty="0"/>
              <a:t>So instead of giving the model the </a:t>
            </a:r>
            <a:r>
              <a:rPr lang="en-US" i="1" dirty="0"/>
              <a:t>entire</a:t>
            </a:r>
            <a:r>
              <a:rPr lang="en-US" dirty="0"/>
              <a:t> document, we need a smarter way to focus its attention. The next step is to design a </a:t>
            </a:r>
            <a:r>
              <a:rPr lang="en-US" i="1" dirty="0"/>
              <a:t>two-stage Retriever-Reader system</a:t>
            </a:r>
            <a:r>
              <a:rPr lang="en-US" dirty="0"/>
              <a:t>.</a:t>
            </a:r>
          </a:p>
          <a:p>
            <a:r>
              <a:rPr lang="en-US" dirty="0"/>
              <a:t>In this setup, the </a:t>
            </a:r>
            <a:r>
              <a:rPr lang="en-US" i="1" dirty="0"/>
              <a:t>Retriever</a:t>
            </a:r>
            <a:r>
              <a:rPr lang="en-US" dirty="0"/>
              <a:t> will first scan the whole document and pick out a few candidate passages. Then the </a:t>
            </a:r>
            <a:r>
              <a:rPr lang="en-US" i="1" dirty="0"/>
              <a:t>Reader</a:t>
            </a:r>
            <a:r>
              <a:rPr lang="en-US" dirty="0"/>
              <a:t> — which is basically our current QA model — will dive into those passages and do the detailed reasoning. This should help the model find the right signal without getting lost in irrelevant text.</a:t>
            </a:r>
          </a:p>
          <a:p>
            <a:br>
              <a:rPr lang="en-US" dirty="0"/>
            </a:br>
            <a:endParaRPr lang="en-US" dirty="0"/>
          </a:p>
          <a:p>
            <a:r>
              <a:rPr lang="en-US" b="1" dirty="0"/>
              <a:t>3. The “Single Best Answer” Problem: The Limits of </a:t>
            </a:r>
            <a:r>
              <a:rPr lang="en-US" b="1" dirty="0" err="1"/>
              <a:t>SQuAD</a:t>
            </a:r>
            <a:endParaRPr lang="en-US" dirty="0"/>
          </a:p>
          <a:p>
            <a:r>
              <a:rPr lang="en-US" dirty="0"/>
              <a:t>Another limitation comes from the framework we used — </a:t>
            </a:r>
            <a:r>
              <a:rPr lang="en-US" dirty="0" err="1"/>
              <a:t>SQuAD</a:t>
            </a:r>
            <a:r>
              <a:rPr lang="en-US" dirty="0"/>
              <a:t>. It assumes that every question has exactly one correct answer span. But legal reasoning doesn’t always work that way.</a:t>
            </a:r>
          </a:p>
          <a:p>
            <a:r>
              <a:rPr lang="en-US" dirty="0"/>
              <a:t>When we looked at the results qualitatively, we found that many questions actually have </a:t>
            </a:r>
            <a:r>
              <a:rPr lang="en-US" i="1" dirty="0"/>
              <a:t>multiple valid answers</a:t>
            </a:r>
            <a:r>
              <a:rPr lang="en-US" dirty="0"/>
              <a:t>. Sometimes, different sentences express the same idea in slightly different ways, but the model gets penalized for choosing any answer that isn’t </a:t>
            </a:r>
            <a:r>
              <a:rPr lang="en-US" i="1" dirty="0"/>
              <a:t>exactly</a:t>
            </a:r>
            <a:r>
              <a:rPr lang="en-US" dirty="0"/>
              <a:t> the one annotated.</a:t>
            </a:r>
          </a:p>
          <a:p>
            <a:br>
              <a:rPr lang="en-US" dirty="0"/>
            </a:br>
            <a:endParaRPr lang="en-US" dirty="0"/>
          </a:p>
          <a:p>
            <a:r>
              <a:rPr lang="en-US" dirty="0"/>
              <a:t>To fix this, we want to move beyond the single-span setup. In future versions, we’ll look into </a:t>
            </a:r>
            <a:r>
              <a:rPr lang="en-US" i="1" dirty="0"/>
              <a:t>multi-span annotation</a:t>
            </a:r>
            <a:r>
              <a:rPr lang="en-US" dirty="0"/>
              <a:t>, where all valid answers are marked. We’re also considering </a:t>
            </a:r>
            <a:r>
              <a:rPr lang="en-US" i="1" dirty="0"/>
              <a:t>preference-based approaches</a:t>
            </a:r>
            <a:r>
              <a:rPr lang="en-US" dirty="0"/>
              <a:t>, where the model learns to identify a set of good answers rather than just one “official” answer.</a:t>
            </a:r>
          </a:p>
          <a:p>
            <a:br>
              <a:rPr lang="en-US" dirty="0"/>
            </a:br>
            <a:endParaRPr lang="en-US" dirty="0"/>
          </a:p>
          <a:p>
            <a:r>
              <a:rPr lang="en-US" b="1" dirty="0"/>
              <a:t>4. The Model Capability Problem: Implicit vs. Explicit Reasoning</a:t>
            </a:r>
            <a:endParaRPr lang="en-US" dirty="0"/>
          </a:p>
          <a:p>
            <a:r>
              <a:rPr lang="en-US" dirty="0"/>
              <a:t>Finally, our results clearly show a gap between question types. The model does really well on formulaic, pattern-based questions — but it struggles when the reasoning is implicit or abstract.</a:t>
            </a:r>
          </a:p>
          <a:p>
            <a:r>
              <a:rPr lang="en-US" dirty="0"/>
              <a:t>This highlights the limits of traditional models like BERT. They’re great at matching patterns, but not at understanding the deeper logic or reasoning behind the text.</a:t>
            </a:r>
          </a:p>
          <a:p>
            <a:br>
              <a:rPr lang="en-US" dirty="0"/>
            </a:br>
            <a:endParaRPr lang="en-US" dirty="0"/>
          </a:p>
          <a:p>
            <a:r>
              <a:rPr lang="en-US" dirty="0"/>
              <a:t>That’s where </a:t>
            </a:r>
            <a:r>
              <a:rPr lang="en-US" i="1" dirty="0"/>
              <a:t>large language models</a:t>
            </a:r>
            <a:r>
              <a:rPr lang="en-US" dirty="0"/>
              <a:t> come in. With their larger context windows and emerging reasoning abilities, LLMs are much better equipped for these kinds of nuanced, implicit arguments. So in our next phase, we plan to benchmark our dataset against modern LLMs to see how far we can push these results.</a:t>
            </a:r>
          </a:p>
        </p:txBody>
      </p:sp>
    </p:spTree>
    <p:extLst>
      <p:ext uri="{BB962C8B-B14F-4D97-AF65-F5344CB8AC3E}">
        <p14:creationId xmlns:p14="http://schemas.microsoft.com/office/powerpoint/2010/main" val="373679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9fe6875168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9fe6875168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lnSpc>
                <a:spcPct val="107000"/>
              </a:lnSpc>
            </a:pPr>
            <a:r>
              <a:rPr lang="en-US" sz="1100" dirty="0">
                <a:effectLst/>
                <a:latin typeface="Arial" panose="020B0604020202020204" pitchFamily="34" charset="0"/>
                <a:ea typeface="Times New Roman" panose="02020603050405020304" pitchFamily="18" charset="0"/>
              </a:rPr>
              <a:t>Thanks for listening and if we have time we can do Q&amp;A.</a:t>
            </a:r>
            <a:endParaRPr lang="en-TR" sz="1100" dirty="0">
              <a:effectLst/>
              <a:latin typeface="Times New Roman" panose="02020603050405020304" pitchFamily="18" charset="0"/>
              <a:ea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6" name="Google Shape;16;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2"/>
            </a:solidFill>
            <a:prstDash val="solid"/>
            <a:round/>
            <a:headEnd type="none" w="sm" len="sm"/>
            <a:tailEnd type="none" w="sm" len="sm"/>
          </a:ln>
        </p:spPr>
      </p:cxnSp>
      <p:sp>
        <p:nvSpPr>
          <p:cNvPr id="41" name="Google Shape;41;p9"/>
          <p:cNvSpPr txBox="1">
            <a:spLocks noGrp="1"/>
          </p:cNvSpPr>
          <p:nvPr>
            <p:ph type="title"/>
          </p:nvPr>
        </p:nvSpPr>
        <p:spPr>
          <a:xfrm>
            <a:off x="265500" y="1205825"/>
            <a:ext cx="4045200" cy="1509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pn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png"/><Relationship Id="rId7" Type="http://schemas.openxmlformats.org/officeDocument/2006/relationships/diagramQuickStyle" Target="../diagrams/quickStyle2.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png"/><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png"/><Relationship Id="rId7" Type="http://schemas.openxmlformats.org/officeDocument/2006/relationships/diagramQuickStyle" Target="../diagrams/quickStyle3.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6.png"/><Relationship Id="rId4" Type="http://schemas.openxmlformats.org/officeDocument/2006/relationships/image" Target="../media/image2.png"/><Relationship Id="rId9" Type="http://schemas.microsoft.com/office/2007/relationships/diagramDrawing" Target="../diagrams/drawing3.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1.png"/><Relationship Id="rId7" Type="http://schemas.openxmlformats.org/officeDocument/2006/relationships/diagramQuickStyle" Target="../diagrams/quickStyle4.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2.png"/><Relationship Id="rId9" Type="http://schemas.microsoft.com/office/2007/relationships/diagramDrawing" Target="../diagrams/drawing4.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1.png"/><Relationship Id="rId7" Type="http://schemas.openxmlformats.org/officeDocument/2006/relationships/diagramQuickStyle" Target="../diagrams/quickStyle5.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2.png"/><Relationship Id="rId9" Type="http://schemas.microsoft.com/office/2007/relationships/diagramDrawing" Target="../diagrams/drawing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1.png"/><Relationship Id="rId7" Type="http://schemas.openxmlformats.org/officeDocument/2006/relationships/diagramQuickStyle" Target="../diagrams/quickStyle6.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2.png"/><Relationship Id="rId9" Type="http://schemas.microsoft.com/office/2007/relationships/diagramDrawing" Target="../diagrams/drawing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1.png"/><Relationship Id="rId7" Type="http://schemas.openxmlformats.org/officeDocument/2006/relationships/diagramQuickStyle" Target="../diagrams/quickStyle7.xm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2.png"/><Relationship Id="rId9" Type="http://schemas.microsoft.com/office/2007/relationships/diagramDrawing" Target="../diagrams/drawing7.xml"/></Relationships>
</file>

<file path=ppt/slides/_rels/slide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4" name="Picture 3">
            <a:extLst>
              <a:ext uri="{FF2B5EF4-FFF2-40B4-BE49-F238E27FC236}">
                <a16:creationId xmlns:a16="http://schemas.microsoft.com/office/drawing/2014/main" id="{1DC7152B-D0A8-5F77-EDD3-C93430066AC3}"/>
              </a:ext>
            </a:extLst>
          </p:cNvPr>
          <p:cNvPicPr>
            <a:picLocks noChangeAspect="1"/>
          </p:cNvPicPr>
          <p:nvPr/>
        </p:nvPicPr>
        <p:blipFill>
          <a:blip r:embed="rId3"/>
          <a:stretch>
            <a:fillRect/>
          </a:stretch>
        </p:blipFill>
        <p:spPr>
          <a:xfrm>
            <a:off x="812798" y="518248"/>
            <a:ext cx="3311301" cy="667394"/>
          </a:xfrm>
          <a:prstGeom prst="rect">
            <a:avLst/>
          </a:prstGeom>
        </p:spPr>
      </p:pic>
      <p:sp>
        <p:nvSpPr>
          <p:cNvPr id="60" name="Google Shape;60;p13"/>
          <p:cNvSpPr txBox="1">
            <a:spLocks noGrp="1"/>
          </p:cNvSpPr>
          <p:nvPr>
            <p:ph type="subTitle" idx="1"/>
          </p:nvPr>
        </p:nvSpPr>
        <p:spPr>
          <a:xfrm>
            <a:off x="812798" y="3223919"/>
            <a:ext cx="7497393" cy="1815914"/>
          </a:xfrm>
          <a:prstGeom prst="rect">
            <a:avLst/>
          </a:prstGeom>
        </p:spPr>
        <p:txBody>
          <a:bodyPr spcFirstLastPara="1" wrap="square" lIns="91425" tIns="91425" rIns="91425" bIns="91425" anchor="t" anchorCtr="0">
            <a:normAutofit/>
          </a:bodyPr>
          <a:lstStyle/>
          <a:p>
            <a:pPr marL="0" lvl="0" indent="0" algn="ctr"/>
            <a:r>
              <a:rPr lang="en-US" sz="1200" dirty="0">
                <a:solidFill>
                  <a:schemeClr val="bg1"/>
                </a:solidFill>
                <a:latin typeface="Calibri" panose="020F0502020204030204" pitchFamily="34" charset="0"/>
                <a:cs typeface="Calibri" panose="020F0502020204030204" pitchFamily="34" charset="0"/>
              </a:rPr>
              <a:t>M. Mikail Demir</a:t>
            </a:r>
            <a:r>
              <a:rPr lang="en-US" sz="1200" baseline="30000" dirty="0">
                <a:solidFill>
                  <a:schemeClr val="bg1"/>
                </a:solidFill>
                <a:latin typeface="Calibri" panose="020F0502020204030204" pitchFamily="34" charset="0"/>
                <a:cs typeface="Calibri" panose="020F0502020204030204" pitchFamily="34" charset="0"/>
              </a:rPr>
              <a:t>  </a:t>
            </a:r>
            <a:r>
              <a:rPr lang="en-US" sz="1200" dirty="0">
                <a:solidFill>
                  <a:schemeClr val="bg1"/>
                </a:solidFill>
                <a:latin typeface="Calibri" panose="020F0502020204030204" pitchFamily="34" charset="0"/>
                <a:cs typeface="Calibri" panose="020F0502020204030204" pitchFamily="34" charset="0"/>
              </a:rPr>
              <a:t>and M. Abdullah Canbaz</a:t>
            </a:r>
            <a:endParaRPr lang="en-US" sz="1200" baseline="30000" dirty="0">
              <a:solidFill>
                <a:schemeClr val="bg1"/>
              </a:solidFill>
              <a:latin typeface="Calibri" panose="020F0502020204030204" pitchFamily="34" charset="0"/>
              <a:cs typeface="Calibri" panose="020F0502020204030204" pitchFamily="34" charset="0"/>
            </a:endParaRPr>
          </a:p>
          <a:p>
            <a:pPr marL="0" lvl="0" indent="0" algn="ctr"/>
            <a:endParaRPr lang="en-US" sz="1200" baseline="30000" dirty="0">
              <a:solidFill>
                <a:schemeClr val="bg1"/>
              </a:solidFill>
              <a:latin typeface="Calibri" panose="020F0502020204030204" pitchFamily="34" charset="0"/>
              <a:cs typeface="Calibri" panose="020F0502020204030204" pitchFamily="34" charset="0"/>
            </a:endParaRPr>
          </a:p>
          <a:p>
            <a:pPr marL="0" lvl="0" indent="0" algn="ctr"/>
            <a:r>
              <a:rPr lang="en-US" sz="1400" baseline="30000" dirty="0">
                <a:solidFill>
                  <a:schemeClr val="bg1"/>
                </a:solidFill>
                <a:latin typeface="Calibri" panose="020F0502020204030204" pitchFamily="34" charset="0"/>
                <a:cs typeface="Calibri" panose="020F0502020204030204" pitchFamily="34" charset="0"/>
              </a:rPr>
              <a:t>Department of Information Science and Technology</a:t>
            </a:r>
          </a:p>
          <a:p>
            <a:pPr marL="0" lvl="0" indent="0" algn="ctr"/>
            <a:r>
              <a:rPr lang="en-US" sz="1400" baseline="30000" dirty="0">
                <a:solidFill>
                  <a:schemeClr val="bg1"/>
                </a:solidFill>
                <a:latin typeface="Calibri" panose="020F0502020204030204" pitchFamily="34" charset="0"/>
                <a:cs typeface="Calibri" panose="020F0502020204030204" pitchFamily="34" charset="0"/>
              </a:rPr>
              <a:t>College of Emergency Preparedness, Homeland Security, and Cybersecurity University at Albany, SUNY</a:t>
            </a:r>
          </a:p>
          <a:p>
            <a:pPr marL="0" lvl="0" indent="0" algn="ctr"/>
            <a:r>
              <a:rPr lang="en-US" sz="1400" baseline="30000" dirty="0">
                <a:solidFill>
                  <a:schemeClr val="bg1"/>
                </a:solidFill>
                <a:latin typeface="Calibri" panose="020F0502020204030204" pitchFamily="34" charset="0"/>
                <a:cs typeface="Calibri" panose="020F0502020204030204" pitchFamily="34" charset="0"/>
              </a:rPr>
              <a:t>Albany, New York, United States</a:t>
            </a:r>
          </a:p>
          <a:p>
            <a:pPr marL="0" lvl="0" indent="0" algn="ctr"/>
            <a:endParaRPr lang="en-US" sz="1200" baseline="30000" dirty="0">
              <a:solidFill>
                <a:schemeClr val="bg1"/>
              </a:solidFill>
              <a:latin typeface="Calibri" panose="020F0502020204030204" pitchFamily="34" charset="0"/>
              <a:cs typeface="Calibri" panose="020F0502020204030204" pitchFamily="34" charset="0"/>
            </a:endParaRPr>
          </a:p>
          <a:p>
            <a:pPr marL="0" lvl="0" indent="0" algn="ctr" rtl="0">
              <a:spcBef>
                <a:spcPts val="0"/>
              </a:spcBef>
              <a:spcAft>
                <a:spcPts val="0"/>
              </a:spcAft>
              <a:buNone/>
            </a:pPr>
            <a:endParaRPr lang="en-US" sz="1200" baseline="30000" dirty="0">
              <a:solidFill>
                <a:schemeClr val="bg1"/>
              </a:solidFill>
              <a:latin typeface="Calibri" panose="020F0502020204030204" pitchFamily="34" charset="0"/>
              <a:cs typeface="Calibri" panose="020F0502020204030204" pitchFamily="34" charset="0"/>
            </a:endParaRPr>
          </a:p>
        </p:txBody>
      </p:sp>
      <p:pic>
        <p:nvPicPr>
          <p:cNvPr id="8" name="Picture 7" descr="A logo with lines and dots&#10;&#10;Description automatically generated">
            <a:extLst>
              <a:ext uri="{FF2B5EF4-FFF2-40B4-BE49-F238E27FC236}">
                <a16:creationId xmlns:a16="http://schemas.microsoft.com/office/drawing/2014/main" id="{17FE6378-438E-0661-CB6B-A67B8557F79F}"/>
              </a:ext>
            </a:extLst>
          </p:cNvPr>
          <p:cNvPicPr>
            <a:picLocks noChangeAspect="1"/>
          </p:cNvPicPr>
          <p:nvPr/>
        </p:nvPicPr>
        <p:blipFill>
          <a:blip r:embed="rId4"/>
          <a:stretch>
            <a:fillRect/>
          </a:stretch>
        </p:blipFill>
        <p:spPr>
          <a:xfrm>
            <a:off x="4557709" y="490517"/>
            <a:ext cx="837580" cy="769896"/>
          </a:xfrm>
          <a:prstGeom prst="rect">
            <a:avLst/>
          </a:prstGeom>
        </p:spPr>
      </p:pic>
      <p:sp>
        <p:nvSpPr>
          <p:cNvPr id="13" name="TextBox 12">
            <a:extLst>
              <a:ext uri="{FF2B5EF4-FFF2-40B4-BE49-F238E27FC236}">
                <a16:creationId xmlns:a16="http://schemas.microsoft.com/office/drawing/2014/main" id="{BDD14B7D-E313-7E1F-DAD7-13375D62BFAA}"/>
              </a:ext>
            </a:extLst>
          </p:cNvPr>
          <p:cNvSpPr txBox="1"/>
          <p:nvPr/>
        </p:nvSpPr>
        <p:spPr>
          <a:xfrm>
            <a:off x="1589452" y="2026113"/>
            <a:ext cx="5965095" cy="830997"/>
          </a:xfrm>
          <a:prstGeom prst="rect">
            <a:avLst/>
          </a:prstGeom>
          <a:noFill/>
        </p:spPr>
        <p:txBody>
          <a:bodyPr wrap="none" lIns="91440" tIns="45720" rIns="91440" bIns="45720" rtlCol="0" anchor="t">
            <a:spAutoFit/>
          </a:bodyPr>
          <a:lstStyle/>
          <a:p>
            <a:pPr algn="ctr"/>
            <a:r>
              <a:rPr lang="en-US" sz="2400" b="1" dirty="0">
                <a:solidFill>
                  <a:schemeClr val="bg1"/>
                </a:solidFill>
                <a:latin typeface="Calibri" panose="020F0502020204030204" pitchFamily="34" charset="0"/>
                <a:cs typeface="Calibri" panose="020F0502020204030204" pitchFamily="34" charset="0"/>
              </a:rPr>
              <a:t>Legal Argument Mining the TCA’s Technology</a:t>
            </a:r>
          </a:p>
          <a:p>
            <a:pPr algn="ctr"/>
            <a:r>
              <a:rPr lang="en-US" sz="2400" b="1" dirty="0">
                <a:solidFill>
                  <a:schemeClr val="bg1"/>
                </a:solidFill>
                <a:latin typeface="Calibri" panose="020F0502020204030204" pitchFamily="34" charset="0"/>
                <a:cs typeface="Calibri" panose="020F0502020204030204" pitchFamily="34" charset="0"/>
              </a:rPr>
              <a:t>Undertaking Exception with Turkish BERT</a:t>
            </a:r>
          </a:p>
        </p:txBody>
      </p:sp>
      <p:pic>
        <p:nvPicPr>
          <p:cNvPr id="7" name="Picture 6" descr="A purple circle with white text&#10;&#10;Description automatically generated">
            <a:extLst>
              <a:ext uri="{FF2B5EF4-FFF2-40B4-BE49-F238E27FC236}">
                <a16:creationId xmlns:a16="http://schemas.microsoft.com/office/drawing/2014/main" id="{C243D0A0-95EE-4492-B7BB-10ED98CD540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3167" b="96500" l="2500" r="97667">
                        <a14:foregroundMark x1="59833" y1="6000" x2="50667" y2="15000"/>
                        <a14:foregroundMark x1="50667" y1="15000" x2="50667" y2="15167"/>
                        <a14:foregroundMark x1="52833" y1="3333" x2="52833" y2="3333"/>
                        <a14:foregroundMark x1="76167" y1="41000" x2="16167" y2="44333"/>
                        <a14:foregroundMark x1="16167" y1="44333" x2="10167" y2="55667"/>
                        <a14:foregroundMark x1="10167" y1="55667" x2="39667" y2="60500"/>
                        <a14:foregroundMark x1="39667" y1="60500" x2="55167" y2="60167"/>
                        <a14:foregroundMark x1="55167" y1="60167" x2="83167" y2="60333"/>
                        <a14:foregroundMark x1="83167" y1="60333" x2="94000" y2="67667"/>
                        <a14:foregroundMark x1="94000" y1="67667" x2="12333" y2="69667"/>
                        <a14:foregroundMark x1="12333" y1="69667" x2="18667" y2="55167"/>
                        <a14:foregroundMark x1="18667" y1="55167" x2="31667" y2="48333"/>
                        <a14:foregroundMark x1="31667" y1="48333" x2="49500" y2="50333"/>
                        <a14:foregroundMark x1="49500" y1="50333" x2="64667" y2="49667"/>
                        <a14:foregroundMark x1="64667" y1="49667" x2="77333" y2="52000"/>
                        <a14:foregroundMark x1="77333" y1="52000" x2="89667" y2="50167"/>
                        <a14:foregroundMark x1="94833" y1="54667" x2="92000" y2="68667"/>
                        <a14:foregroundMark x1="92000" y1="68667" x2="82167" y2="80833"/>
                        <a14:foregroundMark x1="82167" y1="80833" x2="36500" y2="89000"/>
                        <a14:foregroundMark x1="36500" y1="89000" x2="14500" y2="74667"/>
                        <a14:foregroundMark x1="14500" y1="74667" x2="7000" y2="64667"/>
                        <a14:foregroundMark x1="7000" y1="64667" x2="3167" y2="52333"/>
                        <a14:foregroundMark x1="3167" y1="52333" x2="7167" y2="44333"/>
                        <a14:foregroundMark x1="20667" y1="45000" x2="2500" y2="64667"/>
                        <a14:foregroundMark x1="2500" y1="64667" x2="9667" y2="60833"/>
                        <a14:foregroundMark x1="16000" y1="77833" x2="16500" y2="82667"/>
                        <a14:foregroundMark x1="21000" y1="79667" x2="33167" y2="90667"/>
                        <a14:foregroundMark x1="33167" y1="90667" x2="59833" y2="96167"/>
                        <a14:foregroundMark x1="59833" y1="96167" x2="72167" y2="89833"/>
                        <a14:foregroundMark x1="72167" y1="89833" x2="59333" y2="88333"/>
                        <a14:foregroundMark x1="59333" y1="88333" x2="43500" y2="91500"/>
                        <a14:foregroundMark x1="35667" y1="96167" x2="45500" y2="96500"/>
                        <a14:foregroundMark x1="97667" y1="50833" x2="97667" y2="50833"/>
                        <a14:foregroundMark x1="74500" y1="35833" x2="29000" y2="41000"/>
                        <a14:foregroundMark x1="29000" y1="41000" x2="26000" y2="40833"/>
                        <a14:foregroundMark x1="12500" y1="51667" x2="29667" y2="50000"/>
                        <a14:foregroundMark x1="29667" y1="50000" x2="46167" y2="51167"/>
                        <a14:foregroundMark x1="46167" y1="51167" x2="78333" y2="49667"/>
                        <a14:foregroundMark x1="78333" y1="49667" x2="89500" y2="57667"/>
                        <a14:foregroundMark x1="89500" y1="57667" x2="61000" y2="65000"/>
                        <a14:foregroundMark x1="61000" y1="65000" x2="24667" y2="64833"/>
                        <a14:foregroundMark x1="24667" y1="64833" x2="12500" y2="61500"/>
                        <a14:foregroundMark x1="12500" y1="61500" x2="29833" y2="62000"/>
                        <a14:foregroundMark x1="29833" y1="62000" x2="41667" y2="72000"/>
                        <a14:foregroundMark x1="41667" y1="72000" x2="72333" y2="73000"/>
                        <a14:foregroundMark x1="72333" y1="73000" x2="82000" y2="72333"/>
                        <a14:foregroundMark x1="34500" y1="78333" x2="11000" y2="61167"/>
                      </a14:backgroundRemoval>
                    </a14:imgEffect>
                  </a14:imgLayer>
                </a14:imgProps>
              </a:ext>
            </a:extLst>
          </a:blip>
          <a:stretch>
            <a:fillRect/>
          </a:stretch>
        </p:blipFill>
        <p:spPr>
          <a:xfrm>
            <a:off x="6507995" y="383490"/>
            <a:ext cx="936909" cy="936909"/>
          </a:xfrm>
          <a:prstGeom prst="rect">
            <a:avLst/>
          </a:prstGeom>
        </p:spPr>
      </p:pic>
      <p:pic>
        <p:nvPicPr>
          <p:cNvPr id="3" name="Picture 2">
            <a:extLst>
              <a:ext uri="{FF2B5EF4-FFF2-40B4-BE49-F238E27FC236}">
                <a16:creationId xmlns:a16="http://schemas.microsoft.com/office/drawing/2014/main" id="{116C505E-5CAD-B6C3-5494-F90259FE02F8}"/>
              </a:ext>
            </a:extLst>
          </p:cNvPr>
          <p:cNvPicPr>
            <a:picLocks noChangeAspect="1"/>
          </p:cNvPicPr>
          <p:nvPr/>
        </p:nvPicPr>
        <p:blipFill>
          <a:blip r:embed="rId7"/>
          <a:stretch>
            <a:fillRect/>
          </a:stretch>
        </p:blipFill>
        <p:spPr>
          <a:xfrm>
            <a:off x="6798447" y="4514873"/>
            <a:ext cx="2149986" cy="431917"/>
          </a:xfrm>
          <a:prstGeom prst="rect">
            <a:avLst/>
          </a:prstGeom>
        </p:spPr>
      </p:pic>
      <p:pic>
        <p:nvPicPr>
          <p:cNvPr id="1026" name="Picture 2">
            <a:extLst>
              <a:ext uri="{FF2B5EF4-FFF2-40B4-BE49-F238E27FC236}">
                <a16:creationId xmlns:a16="http://schemas.microsoft.com/office/drawing/2014/main" id="{90A07F65-812A-300B-9974-536A7E91B7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567" y="3957535"/>
            <a:ext cx="2428568" cy="1114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chemeClr val="bg1"/>
                </a:solidFill>
                <a:latin typeface="Calibri" panose="020F0502020204030204" pitchFamily="34" charset="0"/>
                <a:cs typeface="Calibri" panose="020F0502020204030204" pitchFamily="34" charset="0"/>
              </a:rPr>
              <a:t>Motivation</a:t>
            </a:r>
            <a:endParaRPr b="1" dirty="0">
              <a:solidFill>
                <a:schemeClr val="bg1"/>
              </a:solidFill>
              <a:latin typeface="Calibri" panose="020F0502020204030204" pitchFamily="34" charset="0"/>
              <a:cs typeface="Calibri" panose="020F0502020204030204" pitchFamily="34" charset="0"/>
            </a:endParaRPr>
          </a:p>
        </p:txBody>
      </p:sp>
      <p:sp>
        <p:nvSpPr>
          <p:cNvPr id="66" name="Google Shape;66;p14"/>
          <p:cNvSpPr txBox="1">
            <a:spLocks noGrp="1"/>
          </p:cNvSpPr>
          <p:nvPr>
            <p:ph type="body" idx="1"/>
          </p:nvPr>
        </p:nvSpPr>
        <p:spPr>
          <a:prstGeom prst="rect">
            <a:avLst/>
          </a:prstGeom>
        </p:spPr>
        <p:txBody>
          <a:bodyPr spcFirstLastPara="1" wrap="square" lIns="91425" tIns="91425" rIns="91425" bIns="91425" anchor="t" anchorCtr="0">
            <a:normAutofit fontScale="92500" lnSpcReduction="10000"/>
          </a:bodyPr>
          <a:lstStyle/>
          <a:p>
            <a:pPr marL="285750" indent="-285750">
              <a:spcAft>
                <a:spcPts val="1200"/>
              </a:spcAft>
            </a:pPr>
            <a:r>
              <a:rPr lang="en-US" sz="2000" dirty="0">
                <a:solidFill>
                  <a:schemeClr val="lt1"/>
                </a:solidFill>
                <a:latin typeface="Calibri" panose="020F0502020204030204" pitchFamily="34" charset="0"/>
                <a:cs typeface="Calibri" panose="020F0502020204030204" pitchFamily="34" charset="0"/>
              </a:rPr>
              <a:t>Authorities around the world publish vast amounts of complex, unstructured text in the form of decisions, laws and other types of binding/non-binding legal sources.</a:t>
            </a:r>
          </a:p>
          <a:p>
            <a:pPr marL="285750" indent="-285750">
              <a:spcAft>
                <a:spcPts val="1200"/>
              </a:spcAft>
            </a:pPr>
            <a:r>
              <a:rPr lang="en-US" sz="2000" dirty="0">
                <a:solidFill>
                  <a:schemeClr val="lt1"/>
                </a:solidFill>
                <a:latin typeface="Calibri" panose="020F0502020204030204" pitchFamily="34" charset="0"/>
                <a:cs typeface="Calibri" panose="020F0502020204030204" pitchFamily="34" charset="0"/>
              </a:rPr>
              <a:t>Effectively monitoring how authorities apply the law over time is essential for developing scientifically grounded arguments in support of more robust regulations.</a:t>
            </a:r>
          </a:p>
          <a:p>
            <a:pPr marL="285750" indent="-285750">
              <a:spcAft>
                <a:spcPts val="1200"/>
              </a:spcAft>
            </a:pPr>
            <a:r>
              <a:rPr lang="en-US" sz="2000" dirty="0">
                <a:solidFill>
                  <a:schemeClr val="lt1"/>
                </a:solidFill>
                <a:latin typeface="Calibri" panose="020F0502020204030204" pitchFamily="34" charset="0"/>
                <a:cs typeface="Calibri" panose="020F0502020204030204" pitchFamily="34" charset="0"/>
              </a:rPr>
              <a:t>Legal argument mining and extractive question answering provide effective means to systematically uncover and analyze how laws are applied in these textual sources.</a:t>
            </a:r>
          </a:p>
          <a:p>
            <a:pPr marL="285750" indent="-285750">
              <a:spcAft>
                <a:spcPts val="1200"/>
              </a:spcAft>
            </a:pPr>
            <a:endParaRPr lang="en-US" sz="2000"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lang="en-US" sz="2000"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lang="en-US" sz="2000" i="1"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sz="2000" dirty="0">
              <a:solidFill>
                <a:schemeClr val="lt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59FD72A-A43E-6A58-65CD-BC46AF033955}"/>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7C37B98E-3F51-CF40-CE1F-77123F2997E1}"/>
              </a:ext>
            </a:extLst>
          </p:cNvPr>
          <p:cNvPicPr>
            <a:picLocks noChangeAspect="1"/>
          </p:cNvPicPr>
          <p:nvPr/>
        </p:nvPicPr>
        <p:blipFill>
          <a:blip r:embed="rId4"/>
          <a:stretch>
            <a:fillRect/>
          </a:stretch>
        </p:blipFill>
        <p:spPr>
          <a:xfrm>
            <a:off x="8579052" y="49800"/>
            <a:ext cx="506496" cy="465567"/>
          </a:xfrm>
          <a:prstGeom prst="rect">
            <a:avLst/>
          </a:prstGeom>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8AA85221-7419-AA5D-2EC4-AEE5B6D104D2}"/>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342BC1D5-C0FA-6901-4596-EB6E2656DA62}"/>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chemeClr val="bg1"/>
                </a:solidFill>
                <a:latin typeface="Calibri" panose="020F0502020204030204" pitchFamily="34" charset="0"/>
                <a:cs typeface="Calibri" panose="020F0502020204030204" pitchFamily="34" charset="0"/>
              </a:rPr>
              <a:t>Related Work on Legal Argument Mining / Extractive Question Answering </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E30B018-A6DF-C0AB-600C-C96B961C0246}"/>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40DF7326-5649-065B-FFAA-7EF9F24BB0DC}"/>
              </a:ext>
            </a:extLst>
          </p:cNvPr>
          <p:cNvPicPr>
            <a:picLocks noChangeAspect="1"/>
          </p:cNvPicPr>
          <p:nvPr/>
        </p:nvPicPr>
        <p:blipFill>
          <a:blip r:embed="rId4"/>
          <a:stretch>
            <a:fillRect/>
          </a:stretch>
        </p:blipFill>
        <p:spPr>
          <a:xfrm>
            <a:off x="8579052" y="49800"/>
            <a:ext cx="506496" cy="465567"/>
          </a:xfrm>
          <a:prstGeom prst="rect">
            <a:avLst/>
          </a:prstGeom>
        </p:spPr>
      </p:pic>
      <p:graphicFrame>
        <p:nvGraphicFramePr>
          <p:cNvPr id="11" name="Diagram 10">
            <a:extLst>
              <a:ext uri="{FF2B5EF4-FFF2-40B4-BE49-F238E27FC236}">
                <a16:creationId xmlns:a16="http://schemas.microsoft.com/office/drawing/2014/main" id="{81C8CAAB-BF4E-C4FE-16D4-B571531CB8B0}"/>
              </a:ext>
            </a:extLst>
          </p:cNvPr>
          <p:cNvGraphicFramePr/>
          <p:nvPr>
            <p:extLst>
              <p:ext uri="{D42A27DB-BD31-4B8C-83A1-F6EECF244321}">
                <p14:modId xmlns:p14="http://schemas.microsoft.com/office/powerpoint/2010/main" val="3085877992"/>
              </p:ext>
            </p:extLst>
          </p:nvPr>
        </p:nvGraphicFramePr>
        <p:xfrm>
          <a:off x="314561" y="2029462"/>
          <a:ext cx="3718532" cy="20583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1" name="Rectangle 2">
            <a:extLst>
              <a:ext uri="{FF2B5EF4-FFF2-40B4-BE49-F238E27FC236}">
                <a16:creationId xmlns:a16="http://schemas.microsoft.com/office/drawing/2014/main" id="{84D706EC-44A4-3B2A-BA0A-147E005C69B9}"/>
              </a:ext>
            </a:extLst>
          </p:cNvPr>
          <p:cNvSpPr>
            <a:spLocks noChangeArrowheads="1"/>
          </p:cNvSpPr>
          <p:nvPr/>
        </p:nvSpPr>
        <p:spPr bwMode="auto">
          <a:xfrm>
            <a:off x="4007052" y="1294724"/>
            <a:ext cx="507849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rgbClr val="FF0000"/>
                </a:solidFill>
                <a:effectLst/>
                <a:latin typeface="Calibri" panose="020F0502020204030204" pitchFamily="34" charset="0"/>
                <a:cs typeface="Calibri" panose="020F0502020204030204" pitchFamily="34" charset="0"/>
              </a:rPr>
              <a:t>The Classic Model</a:t>
            </a:r>
            <a:endParaRPr lang="en-US" altLang="en-US" sz="1200" dirty="0">
              <a:solidFill>
                <a:srgbClr val="FF0000"/>
              </a:solidFill>
              <a:latin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Early work (e.g., </a:t>
            </a:r>
            <a:r>
              <a:rPr kumimoji="0" lang="en-US" altLang="en-US" sz="12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Mochales</a:t>
            </a: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&amp; Moens) focused on classifying sentences as </a:t>
            </a:r>
            <a:r>
              <a:rPr kumimoji="0" lang="en-US" altLang="en-US" sz="1200" b="1" i="0" u="none" strike="noStrike" cap="none" normalizeH="0" baseline="0" dirty="0">
                <a:ln>
                  <a:noFill/>
                </a:ln>
                <a:solidFill>
                  <a:schemeClr val="bg1"/>
                </a:solidFill>
                <a:effectLst/>
                <a:latin typeface="Calibri" panose="020F0502020204030204" pitchFamily="34" charset="0"/>
                <a:cs typeface="Calibri" panose="020F0502020204030204" pitchFamily="34" charset="0"/>
              </a:rPr>
              <a:t>Premise</a:t>
            </a: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or </a:t>
            </a:r>
            <a:r>
              <a:rPr kumimoji="0" lang="en-US" altLang="en-US" sz="1200" b="1" i="0" u="none" strike="noStrike" cap="none" normalizeH="0" baseline="0" dirty="0">
                <a:ln>
                  <a:noFill/>
                </a:ln>
                <a:solidFill>
                  <a:schemeClr val="bg1"/>
                </a:solidFill>
                <a:effectLst/>
                <a:latin typeface="Calibri" panose="020F0502020204030204" pitchFamily="34" charset="0"/>
                <a:cs typeface="Calibri" panose="020F0502020204030204" pitchFamily="34" charset="0"/>
              </a:rPr>
              <a:t>Conclusion</a:t>
            </a: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This simplified model, often inspired by Walton's argumentation schemes, became a common NLP approach.</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rgbClr val="FF0000"/>
                </a:solidFill>
                <a:effectLst/>
                <a:latin typeface="Calibri" panose="020F0502020204030204" pitchFamily="34" charset="0"/>
                <a:cs typeface="Calibri" panose="020F0502020204030204" pitchFamily="34" charset="0"/>
              </a:rPr>
              <a:t>The "Richness Gap”</a:t>
            </a:r>
            <a:endParaRPr lang="en-US" altLang="en-US" sz="1200" dirty="0">
              <a:solidFill>
                <a:srgbClr val="FF0000"/>
              </a:solidFill>
              <a:latin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A </a:t>
            </a:r>
            <a:r>
              <a:rPr kumimoji="0" lang="en-US" altLang="en-US" sz="1200" b="1" i="0" u="none" strike="noStrike" cap="none" normalizeH="0" baseline="0" dirty="0">
                <a:ln>
                  <a:noFill/>
                </a:ln>
                <a:solidFill>
                  <a:schemeClr val="bg1"/>
                </a:solidFill>
                <a:effectLst/>
                <a:latin typeface="Calibri" panose="020F0502020204030204" pitchFamily="34" charset="0"/>
                <a:cs typeface="Calibri" panose="020F0502020204030204" pitchFamily="34" charset="0"/>
              </a:rPr>
              <a:t>"major discrepancy"</a:t>
            </a: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exists between the simple premise/conclusion model and how legal experts actually analyze arguments.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Legal theory employs a </a:t>
            </a:r>
            <a:r>
              <a:rPr kumimoji="0" lang="en-US" altLang="en-US" sz="1200" b="1" i="0" u="none" strike="noStrike" cap="none" normalizeH="0" baseline="0" dirty="0">
                <a:ln>
                  <a:noFill/>
                </a:ln>
                <a:solidFill>
                  <a:schemeClr val="bg1"/>
                </a:solidFill>
                <a:effectLst/>
                <a:latin typeface="Calibri" panose="020F0502020204030204" pitchFamily="34" charset="0"/>
                <a:cs typeface="Calibri" panose="020F0502020204030204" pitchFamily="34" charset="0"/>
              </a:rPr>
              <a:t>"rich typology"</a:t>
            </a: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of arguments (e.g., </a:t>
            </a:r>
            <a:r>
              <a:rPr kumimoji="0" lang="en-US" altLang="en-US" sz="1200" b="0" i="1" u="none" strike="noStrike" cap="none" normalizeH="0" baseline="0" dirty="0">
                <a:ln>
                  <a:noFill/>
                </a:ln>
                <a:solidFill>
                  <a:schemeClr val="bg1"/>
                </a:solidFill>
                <a:effectLst/>
                <a:latin typeface="Calibri" panose="020F0502020204030204" pitchFamily="34" charset="0"/>
                <a:cs typeface="Calibri" panose="020F0502020204030204" pitchFamily="34" charset="0"/>
              </a:rPr>
              <a:t>Teleological Interpretation</a:t>
            </a: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which is critical for analysis.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Habernal</a:t>
            </a: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et al. (2023) address this with a new scheme of 16 fine-grained, legally-grounded argument types.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rgbClr val="FF0000"/>
                </a:solidFill>
                <a:effectLst/>
                <a:latin typeface="Calibri" panose="020F0502020204030204" pitchFamily="34" charset="0"/>
                <a:cs typeface="Calibri" panose="020F0502020204030204" pitchFamily="34" charset="0"/>
              </a:rPr>
              <a:t>Key Challenges in the Field</a:t>
            </a:r>
            <a:endParaRPr lang="en-US" altLang="en-US" sz="1200" dirty="0">
              <a:solidFill>
                <a:srgbClr val="FF0000"/>
              </a:solidFill>
              <a:latin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A single clause can be a premise in one context and a conclusion in another.</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Models are often limited to single paragraphs, but legal experts may require document-level context.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Datasets are often highly imbalanced</a:t>
            </a:r>
            <a:endParaRPr lang="en-US" altLang="en-US" sz="1200" dirty="0">
              <a:solidFill>
                <a:schemeClr val="bg1"/>
              </a:solidFill>
              <a:latin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Arguments are often subtle or "implicit" rather than explicitly stated in a single sentence.</a:t>
            </a:r>
          </a:p>
          <a:p>
            <a:pPr marR="0" lvl="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cxnSp>
        <p:nvCxnSpPr>
          <p:cNvPr id="3" name="Elbow Connector 2">
            <a:extLst>
              <a:ext uri="{FF2B5EF4-FFF2-40B4-BE49-F238E27FC236}">
                <a16:creationId xmlns:a16="http://schemas.microsoft.com/office/drawing/2014/main" id="{1EBAC0B1-7A43-6402-1B7B-59BD5FD0C30F}"/>
              </a:ext>
            </a:extLst>
          </p:cNvPr>
          <p:cNvCxnSpPr>
            <a:cxnSpLocks/>
          </p:cNvCxnSpPr>
          <p:nvPr/>
        </p:nvCxnSpPr>
        <p:spPr>
          <a:xfrm flipV="1">
            <a:off x="1099038" y="1415562"/>
            <a:ext cx="2908014" cy="712176"/>
          </a:xfrm>
          <a:prstGeom prst="bentConnector3">
            <a:avLst>
              <a:gd name="adj1" fmla="val -794"/>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9436256"/>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3C2A7948-2330-70C4-0B1D-117298DAD199}"/>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D92136E3-EEBB-B7BE-CB07-31D0C4AAC1B3}"/>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chemeClr val="bg1"/>
                </a:solidFill>
                <a:latin typeface="Calibri" panose="020F0502020204030204" pitchFamily="34" charset="0"/>
                <a:cs typeface="Calibri" panose="020F0502020204030204" pitchFamily="34" charset="0"/>
              </a:rPr>
              <a:t>Related Work on Legal Argument Mining / Extractive Question Answering </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DA0F4E68-F81F-B523-0FA8-3C4371122538}"/>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4BE79FE1-ECDB-D6E7-F95E-739FB7580C42}"/>
              </a:ext>
            </a:extLst>
          </p:cNvPr>
          <p:cNvPicPr>
            <a:picLocks noChangeAspect="1"/>
          </p:cNvPicPr>
          <p:nvPr/>
        </p:nvPicPr>
        <p:blipFill>
          <a:blip r:embed="rId4"/>
          <a:stretch>
            <a:fillRect/>
          </a:stretch>
        </p:blipFill>
        <p:spPr>
          <a:xfrm>
            <a:off x="8579052" y="49800"/>
            <a:ext cx="506496" cy="465567"/>
          </a:xfrm>
          <a:prstGeom prst="rect">
            <a:avLst/>
          </a:prstGeom>
        </p:spPr>
      </p:pic>
      <p:graphicFrame>
        <p:nvGraphicFramePr>
          <p:cNvPr id="11" name="Diagram 10">
            <a:extLst>
              <a:ext uri="{FF2B5EF4-FFF2-40B4-BE49-F238E27FC236}">
                <a16:creationId xmlns:a16="http://schemas.microsoft.com/office/drawing/2014/main" id="{C8C553BA-D5E5-B31F-0381-7DDEA9168C63}"/>
              </a:ext>
            </a:extLst>
          </p:cNvPr>
          <p:cNvGraphicFramePr/>
          <p:nvPr/>
        </p:nvGraphicFramePr>
        <p:xfrm>
          <a:off x="314561" y="2029462"/>
          <a:ext cx="3718532" cy="20583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1" name="Rectangle 2">
            <a:extLst>
              <a:ext uri="{FF2B5EF4-FFF2-40B4-BE49-F238E27FC236}">
                <a16:creationId xmlns:a16="http://schemas.microsoft.com/office/drawing/2014/main" id="{C866DF0C-56EF-6BAF-2AB8-11F3E3E26375}"/>
              </a:ext>
            </a:extLst>
          </p:cNvPr>
          <p:cNvSpPr>
            <a:spLocks noChangeArrowheads="1"/>
          </p:cNvSpPr>
          <p:nvPr/>
        </p:nvSpPr>
        <p:spPr bwMode="auto">
          <a:xfrm>
            <a:off x="4007052" y="1277380"/>
            <a:ext cx="5078496" cy="3820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nSpc>
                <a:spcPct val="115000"/>
              </a:lnSpc>
              <a:spcAft>
                <a:spcPts val="1200"/>
              </a:spcAft>
              <a:buClr>
                <a:srgbClr val="616161"/>
              </a:buClr>
              <a:buSzPts val="1800"/>
              <a:defRPr/>
            </a:pPr>
            <a:r>
              <a:rPr lang="en-US" b="1" dirty="0">
                <a:solidFill>
                  <a:srgbClr val="FFFF00"/>
                </a:solidFill>
                <a:latin typeface="Calibri" panose="020F0502020204030204" pitchFamily="34" charset="0"/>
                <a:cs typeface="Calibri" panose="020F0502020204030204" pitchFamily="34" charset="0"/>
                <a:sym typeface="Proxima Nova"/>
              </a:rPr>
              <a:t>Extractive Question Answering</a:t>
            </a:r>
          </a:p>
          <a:p>
            <a:pPr marL="342900" lvl="0" indent="-342900">
              <a:lnSpc>
                <a:spcPct val="115000"/>
              </a:lnSpc>
              <a:spcAft>
                <a:spcPts val="1200"/>
              </a:spcAft>
              <a:buClr>
                <a:srgbClr val="616161"/>
              </a:buClr>
              <a:buSzPts val="1800"/>
              <a:buFont typeface="Proxima Nova"/>
              <a:buChar char="●"/>
              <a:defRPr/>
            </a:pPr>
            <a:r>
              <a:rPr lang="en-US" dirty="0">
                <a:solidFill>
                  <a:srgbClr val="FFFFFF"/>
                </a:solidFill>
                <a:latin typeface="Calibri" panose="020F0502020204030204" pitchFamily="34" charset="0"/>
                <a:cs typeface="Calibri" panose="020F0502020204030204" pitchFamily="34" charset="0"/>
                <a:sym typeface="Proxima Nova"/>
              </a:rPr>
              <a:t>Extractive Question Answering (EQA) is the task of extracting a span of text from a given context paragraph as the answer to a specified question (Pearce et al., 2021)</a:t>
            </a:r>
          </a:p>
          <a:p>
            <a:pPr marL="342900" lvl="0" indent="-342900">
              <a:lnSpc>
                <a:spcPct val="115000"/>
              </a:lnSpc>
              <a:spcAft>
                <a:spcPts val="1200"/>
              </a:spcAft>
              <a:buClr>
                <a:srgbClr val="616161"/>
              </a:buClr>
              <a:buSzPts val="1800"/>
              <a:buFont typeface="Proxima Nova"/>
              <a:buChar char="●"/>
              <a:defRPr/>
            </a:pPr>
            <a:r>
              <a:rPr lang="en-US" dirty="0" err="1">
                <a:solidFill>
                  <a:srgbClr val="FFFFFF"/>
                </a:solidFill>
                <a:latin typeface="Calibri" panose="020F0502020204030204" pitchFamily="34" charset="0"/>
                <a:cs typeface="Calibri" panose="020F0502020204030204" pitchFamily="34" charset="0"/>
                <a:sym typeface="Proxima Nova"/>
              </a:rPr>
              <a:t>SQuAD</a:t>
            </a:r>
            <a:r>
              <a:rPr lang="en-US" dirty="0">
                <a:solidFill>
                  <a:srgbClr val="FFFFFF"/>
                </a:solidFill>
                <a:latin typeface="Calibri" panose="020F0502020204030204" pitchFamily="34" charset="0"/>
                <a:cs typeface="Calibri" panose="020F0502020204030204" pitchFamily="34" charset="0"/>
                <a:sym typeface="Proxima Nova"/>
              </a:rPr>
              <a:t> is one of the most popular datasets for EQA, which consists of </a:t>
            </a:r>
            <a:r>
              <a:rPr lang="en-US" i="1" dirty="0">
                <a:solidFill>
                  <a:srgbClr val="FFFFFF"/>
                </a:solidFill>
                <a:latin typeface="Calibri" panose="020F0502020204030204" pitchFamily="34" charset="0"/>
                <a:cs typeface="Calibri" panose="020F0502020204030204" pitchFamily="34" charset="0"/>
                <a:sym typeface="Proxima Nova"/>
              </a:rPr>
              <a:t>context-question-answer span</a:t>
            </a:r>
            <a:r>
              <a:rPr lang="en-US" dirty="0">
                <a:solidFill>
                  <a:srgbClr val="FFFFFF"/>
                </a:solidFill>
                <a:latin typeface="Calibri" panose="020F0502020204030204" pitchFamily="34" charset="0"/>
                <a:cs typeface="Calibri" panose="020F0502020204030204" pitchFamily="34" charset="0"/>
                <a:sym typeface="Proxima Nova"/>
              </a:rPr>
              <a:t> triplets (</a:t>
            </a:r>
            <a:r>
              <a:rPr lang="en-US" dirty="0" err="1">
                <a:solidFill>
                  <a:srgbClr val="FFFFFF"/>
                </a:solidFill>
                <a:latin typeface="Calibri" panose="020F0502020204030204" pitchFamily="34" charset="0"/>
                <a:cs typeface="Calibri" panose="020F0502020204030204" pitchFamily="34" charset="0"/>
                <a:sym typeface="Proxima Nova"/>
              </a:rPr>
              <a:t>Rajpurkar</a:t>
            </a:r>
            <a:r>
              <a:rPr lang="en-US" dirty="0">
                <a:solidFill>
                  <a:srgbClr val="FFFFFF"/>
                </a:solidFill>
                <a:latin typeface="Calibri" panose="020F0502020204030204" pitchFamily="34" charset="0"/>
                <a:cs typeface="Calibri" panose="020F0502020204030204" pitchFamily="34" charset="0"/>
                <a:sym typeface="Proxima Nova"/>
              </a:rPr>
              <a:t> et al., 2018)</a:t>
            </a:r>
          </a:p>
          <a:p>
            <a:pPr marL="342900" lvl="0" indent="-342900">
              <a:lnSpc>
                <a:spcPct val="115000"/>
              </a:lnSpc>
              <a:spcAft>
                <a:spcPts val="1200"/>
              </a:spcAft>
              <a:buClr>
                <a:srgbClr val="616161"/>
              </a:buClr>
              <a:buSzPts val="1800"/>
              <a:buFont typeface="Proxima Nova"/>
              <a:buChar char="●"/>
              <a:defRPr/>
            </a:pPr>
            <a:r>
              <a:rPr lang="en-US" dirty="0">
                <a:solidFill>
                  <a:srgbClr val="FFFFFF"/>
                </a:solidFill>
                <a:latin typeface="Calibri" panose="020F0502020204030204" pitchFamily="34" charset="0"/>
                <a:cs typeface="Calibri" panose="020F0502020204030204" pitchFamily="34" charset="0"/>
                <a:sym typeface="Proxima Nova"/>
              </a:rPr>
              <a:t>By framing a legal analysis as a series of targeted questions, a QA framework effectively deconstructs a complex document into its structured components.</a:t>
            </a:r>
          </a:p>
          <a:p>
            <a:pPr lvl="0">
              <a:lnSpc>
                <a:spcPct val="115000"/>
              </a:lnSpc>
              <a:spcAft>
                <a:spcPts val="1200"/>
              </a:spcAft>
              <a:buClr>
                <a:srgbClr val="616161"/>
              </a:buClr>
              <a:buSzPts val="1800"/>
              <a:defRPr/>
            </a:pPr>
            <a:endParaRPr lang="en-US" i="1" dirty="0">
              <a:solidFill>
                <a:srgbClr val="FFFFFF"/>
              </a:solidFill>
              <a:latin typeface="Calibri" panose="020F0502020204030204" pitchFamily="34" charset="0"/>
              <a:cs typeface="Calibri" panose="020F0502020204030204" pitchFamily="34" charset="0"/>
              <a:sym typeface="Proxima Nova"/>
            </a:endParaRPr>
          </a:p>
          <a:p>
            <a:pPr lvl="0">
              <a:lnSpc>
                <a:spcPct val="115000"/>
              </a:lnSpc>
              <a:spcAft>
                <a:spcPts val="1200"/>
              </a:spcAft>
              <a:buClr>
                <a:srgbClr val="616161"/>
              </a:buClr>
              <a:buSzPts val="1800"/>
              <a:defRPr/>
            </a:pPr>
            <a:endParaRPr lang="en-US" dirty="0">
              <a:solidFill>
                <a:srgbClr val="FFFFFF"/>
              </a:solidFill>
              <a:latin typeface="Calibri" panose="020F0502020204030204" pitchFamily="34" charset="0"/>
              <a:cs typeface="Calibri" panose="020F0502020204030204" pitchFamily="34" charset="0"/>
              <a:sym typeface="Proxima Nova"/>
            </a:endParaRPr>
          </a:p>
        </p:txBody>
      </p:sp>
      <p:cxnSp>
        <p:nvCxnSpPr>
          <p:cNvPr id="2" name="Elbow Connector 1">
            <a:extLst>
              <a:ext uri="{FF2B5EF4-FFF2-40B4-BE49-F238E27FC236}">
                <a16:creationId xmlns:a16="http://schemas.microsoft.com/office/drawing/2014/main" id="{7427EA0B-6C47-5218-EC42-165303E3AE0F}"/>
              </a:ext>
            </a:extLst>
          </p:cNvPr>
          <p:cNvCxnSpPr>
            <a:cxnSpLocks/>
          </p:cNvCxnSpPr>
          <p:nvPr/>
        </p:nvCxnSpPr>
        <p:spPr>
          <a:xfrm flipV="1">
            <a:off x="2945423" y="1415562"/>
            <a:ext cx="1061629" cy="613900"/>
          </a:xfrm>
          <a:prstGeom prst="bentConnector3">
            <a:avLst>
              <a:gd name="adj1" fmla="val -520"/>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800323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9B922E55-ABC7-DAA9-C326-EB70789AEC21}"/>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7E5D4395-2EBB-D724-3C36-44DC98544919}"/>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chemeClr val="bg1"/>
                </a:solidFill>
                <a:latin typeface="Calibri" panose="020F0502020204030204" pitchFamily="34" charset="0"/>
                <a:cs typeface="Calibri" panose="020F0502020204030204" pitchFamily="34" charset="0"/>
              </a:rPr>
              <a:t>Related Work on Legal Argument Mining / Extractive Question Answering </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B6112C2-BABE-C3BA-B039-D6258136A3C2}"/>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03F3948C-3817-6E4A-D71E-11F4629115AA}"/>
              </a:ext>
            </a:extLst>
          </p:cNvPr>
          <p:cNvPicPr>
            <a:picLocks noChangeAspect="1"/>
          </p:cNvPicPr>
          <p:nvPr/>
        </p:nvPicPr>
        <p:blipFill>
          <a:blip r:embed="rId4"/>
          <a:stretch>
            <a:fillRect/>
          </a:stretch>
        </p:blipFill>
        <p:spPr>
          <a:xfrm>
            <a:off x="8579052" y="49800"/>
            <a:ext cx="506496" cy="465567"/>
          </a:xfrm>
          <a:prstGeom prst="rect">
            <a:avLst/>
          </a:prstGeom>
        </p:spPr>
      </p:pic>
      <p:graphicFrame>
        <p:nvGraphicFramePr>
          <p:cNvPr id="11" name="Diagram 10">
            <a:extLst>
              <a:ext uri="{FF2B5EF4-FFF2-40B4-BE49-F238E27FC236}">
                <a16:creationId xmlns:a16="http://schemas.microsoft.com/office/drawing/2014/main" id="{DFA6DA69-54C4-03AC-A23E-1D960DE2159B}"/>
              </a:ext>
            </a:extLst>
          </p:cNvPr>
          <p:cNvGraphicFramePr/>
          <p:nvPr/>
        </p:nvGraphicFramePr>
        <p:xfrm>
          <a:off x="314561" y="2029462"/>
          <a:ext cx="3718532" cy="20583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1" name="Rectangle 2">
            <a:extLst>
              <a:ext uri="{FF2B5EF4-FFF2-40B4-BE49-F238E27FC236}">
                <a16:creationId xmlns:a16="http://schemas.microsoft.com/office/drawing/2014/main" id="{BAE33E4C-92F3-0884-2936-EC317B453845}"/>
              </a:ext>
            </a:extLst>
          </p:cNvPr>
          <p:cNvSpPr>
            <a:spLocks noChangeArrowheads="1"/>
          </p:cNvSpPr>
          <p:nvPr/>
        </p:nvSpPr>
        <p:spPr bwMode="auto">
          <a:xfrm>
            <a:off x="4007052" y="1277380"/>
            <a:ext cx="5078496" cy="3820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15000"/>
              </a:lnSpc>
              <a:spcBef>
                <a:spcPts val="0"/>
              </a:spcBef>
              <a:spcAft>
                <a:spcPts val="1200"/>
              </a:spcAft>
              <a:buClr>
                <a:srgbClr val="616161"/>
              </a:buClr>
              <a:buSzPts val="1800"/>
              <a:buFont typeface="Arial"/>
              <a:buNone/>
              <a:tabLst/>
              <a:defRPr/>
            </a:pPr>
            <a:r>
              <a:rPr kumimoji="0" lang="en-US" sz="1400" b="1" i="0" u="none" strike="noStrike" kern="0" cap="none" spc="0" normalizeH="0" baseline="0" noProof="0" dirty="0">
                <a:ln>
                  <a:noFill/>
                </a:ln>
                <a:solidFill>
                  <a:srgbClr val="FFFF00"/>
                </a:solidFill>
                <a:effectLst/>
                <a:uLnTx/>
                <a:uFillTx/>
                <a:latin typeface="Calibri" panose="020F0502020204030204" pitchFamily="34" charset="0"/>
                <a:cs typeface="Calibri" panose="020F0502020204030204" pitchFamily="34" charset="0"/>
                <a:sym typeface="Proxima Nova"/>
              </a:rPr>
              <a:t>Extractive Question Answering</a:t>
            </a:r>
          </a:p>
          <a:p>
            <a:pPr marL="342900" marR="0" lvl="0" indent="-342900" algn="l" defTabSz="914400" rtl="0" eaLnBrk="1" fontAlgn="auto" latinLnBrk="0" hangingPunct="1">
              <a:lnSpc>
                <a:spcPct val="115000"/>
              </a:lnSpc>
              <a:spcBef>
                <a:spcPts val="0"/>
              </a:spcBef>
              <a:spcAft>
                <a:spcPts val="1200"/>
              </a:spcAft>
              <a:buClr>
                <a:srgbClr val="616161"/>
              </a:buClr>
              <a:buSzPts val="1800"/>
              <a:buFont typeface="Proxima Nova"/>
              <a:buChar char="●"/>
              <a:tabLst/>
              <a:defRPr/>
            </a:pPr>
            <a:r>
              <a:rPr kumimoji="0" lang="en-US" sz="14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rPr>
              <a:t>Extractive Question Answering (EQA) is the task of extracting a span of text from a given context paragraph as the answer to a specified question (Pearce et al., 2021)</a:t>
            </a:r>
          </a:p>
          <a:p>
            <a:pPr marL="342900" marR="0" lvl="0" indent="-342900" algn="l" defTabSz="914400" rtl="0" eaLnBrk="1" fontAlgn="auto" latinLnBrk="0" hangingPunct="1">
              <a:lnSpc>
                <a:spcPct val="115000"/>
              </a:lnSpc>
              <a:spcBef>
                <a:spcPts val="0"/>
              </a:spcBef>
              <a:spcAft>
                <a:spcPts val="1200"/>
              </a:spcAft>
              <a:buClr>
                <a:srgbClr val="616161"/>
              </a:buClr>
              <a:buSzPts val="1800"/>
              <a:buFont typeface="Proxima Nova"/>
              <a:buChar char="●"/>
              <a:tabLst/>
              <a:defRPr/>
            </a:pP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sym typeface="Proxima Nova"/>
              </a:rPr>
              <a:t>SQuAD</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rPr>
              <a:t> is one of the most popular datasets for EQA, which consists of </a:t>
            </a:r>
            <a:r>
              <a:rPr kumimoji="0" lang="en-US" sz="1400" b="0" i="1"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rPr>
              <a:t>context-question-answer span</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rPr>
              <a:t> triplets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sym typeface="Proxima Nova"/>
              </a:rPr>
              <a:t>Rajpurkar</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rPr>
              <a:t> et al., 2018)</a:t>
            </a:r>
          </a:p>
          <a:p>
            <a:pPr marL="342900" marR="0" lvl="0" indent="-342900" algn="l" defTabSz="914400" rtl="0" eaLnBrk="1" fontAlgn="auto" latinLnBrk="0" hangingPunct="1">
              <a:lnSpc>
                <a:spcPct val="115000"/>
              </a:lnSpc>
              <a:spcBef>
                <a:spcPts val="0"/>
              </a:spcBef>
              <a:spcAft>
                <a:spcPts val="1200"/>
              </a:spcAft>
              <a:buClr>
                <a:srgbClr val="616161"/>
              </a:buClr>
              <a:buSzPts val="1800"/>
              <a:buFont typeface="Proxima Nova"/>
              <a:buChar char="●"/>
              <a:tabLst/>
              <a:defRPr/>
            </a:pPr>
            <a:r>
              <a:rPr kumimoji="0" lang="en-US" sz="14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rPr>
              <a:t>By framing a legal analysis as a series of targeted questions, a QA framework effectively deconstructs a complex document into its structured components.</a:t>
            </a:r>
          </a:p>
          <a:p>
            <a:pPr marL="0" marR="0" lvl="0" indent="0" algn="l" defTabSz="914400" rtl="0" eaLnBrk="1" fontAlgn="auto" latinLnBrk="0" hangingPunct="1">
              <a:lnSpc>
                <a:spcPct val="115000"/>
              </a:lnSpc>
              <a:spcBef>
                <a:spcPts val="0"/>
              </a:spcBef>
              <a:spcAft>
                <a:spcPts val="1200"/>
              </a:spcAft>
              <a:buClr>
                <a:srgbClr val="616161"/>
              </a:buClr>
              <a:buSzPts val="1800"/>
              <a:buFont typeface="Arial"/>
              <a:buNone/>
              <a:tabLst/>
              <a:defRPr/>
            </a:pPr>
            <a:endParaRPr kumimoji="0" lang="en-US" sz="1400" b="0" i="1"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endParaRPr>
          </a:p>
          <a:p>
            <a:pPr marL="0" marR="0" lvl="0" indent="0" algn="l" defTabSz="914400" rtl="0" eaLnBrk="1" fontAlgn="auto" latinLnBrk="0" hangingPunct="1">
              <a:lnSpc>
                <a:spcPct val="115000"/>
              </a:lnSpc>
              <a:spcBef>
                <a:spcPts val="0"/>
              </a:spcBef>
              <a:spcAft>
                <a:spcPts val="1200"/>
              </a:spcAft>
              <a:buClr>
                <a:srgbClr val="616161"/>
              </a:buClr>
              <a:buSzPts val="1800"/>
              <a:buFont typeface="Arial"/>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endParaRPr>
          </a:p>
        </p:txBody>
      </p:sp>
      <p:cxnSp>
        <p:nvCxnSpPr>
          <p:cNvPr id="2" name="Elbow Connector 1">
            <a:extLst>
              <a:ext uri="{FF2B5EF4-FFF2-40B4-BE49-F238E27FC236}">
                <a16:creationId xmlns:a16="http://schemas.microsoft.com/office/drawing/2014/main" id="{B491D181-999E-600A-6998-EBEE96B268C1}"/>
              </a:ext>
            </a:extLst>
          </p:cNvPr>
          <p:cNvCxnSpPr>
            <a:cxnSpLocks/>
          </p:cNvCxnSpPr>
          <p:nvPr/>
        </p:nvCxnSpPr>
        <p:spPr>
          <a:xfrm flipV="1">
            <a:off x="2945423" y="1415562"/>
            <a:ext cx="1061629" cy="613900"/>
          </a:xfrm>
          <a:prstGeom prst="bentConnector3">
            <a:avLst>
              <a:gd name="adj1" fmla="val -520"/>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392AE01-250F-D049-CFC0-C958E261FFE8}"/>
              </a:ext>
            </a:extLst>
          </p:cNvPr>
          <p:cNvPicPr>
            <a:picLocks noChangeAspect="1"/>
          </p:cNvPicPr>
          <p:nvPr/>
        </p:nvPicPr>
        <p:blipFill>
          <a:blip r:embed="rId10"/>
          <a:stretch>
            <a:fillRect/>
          </a:stretch>
        </p:blipFill>
        <p:spPr>
          <a:xfrm>
            <a:off x="311700" y="1434032"/>
            <a:ext cx="7493000" cy="2959100"/>
          </a:xfrm>
          <a:prstGeom prst="rect">
            <a:avLst/>
          </a:prstGeom>
        </p:spPr>
      </p:pic>
    </p:spTree>
    <p:extLst>
      <p:ext uri="{BB962C8B-B14F-4D97-AF65-F5344CB8AC3E}">
        <p14:creationId xmlns:p14="http://schemas.microsoft.com/office/powerpoint/2010/main" val="28763399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C8B6A2F7-2E10-68B5-67EF-4A03860241B7}"/>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3A708280-8883-D864-5D41-4356CE1DB41C}"/>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chemeClr val="bg1"/>
                </a:solidFill>
                <a:latin typeface="Calibri" panose="020F0502020204030204" pitchFamily="34" charset="0"/>
                <a:cs typeface="Calibri" panose="020F0502020204030204" pitchFamily="34" charset="0"/>
              </a:rPr>
              <a:t>Related Work on Legal Argument Mining / Extractive Question Answering </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FFB50206-F298-77C8-5FDF-7CB629B65BD9}"/>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3E7FC988-B2A0-5466-835B-9D23149C2CFC}"/>
              </a:ext>
            </a:extLst>
          </p:cNvPr>
          <p:cNvPicPr>
            <a:picLocks noChangeAspect="1"/>
          </p:cNvPicPr>
          <p:nvPr/>
        </p:nvPicPr>
        <p:blipFill>
          <a:blip r:embed="rId4"/>
          <a:stretch>
            <a:fillRect/>
          </a:stretch>
        </p:blipFill>
        <p:spPr>
          <a:xfrm>
            <a:off x="8579052" y="49800"/>
            <a:ext cx="506496" cy="465567"/>
          </a:xfrm>
          <a:prstGeom prst="rect">
            <a:avLst/>
          </a:prstGeom>
        </p:spPr>
      </p:pic>
      <p:sp>
        <p:nvSpPr>
          <p:cNvPr id="17" name="Google Shape;66;p14">
            <a:extLst>
              <a:ext uri="{FF2B5EF4-FFF2-40B4-BE49-F238E27FC236}">
                <a16:creationId xmlns:a16="http://schemas.microsoft.com/office/drawing/2014/main" id="{F3C32FCD-9875-D13A-60AB-AB249567F7D6}"/>
              </a:ext>
            </a:extLst>
          </p:cNvPr>
          <p:cNvSpPr txBox="1">
            <a:spLocks/>
          </p:cNvSpPr>
          <p:nvPr/>
        </p:nvSpPr>
        <p:spPr>
          <a:xfrm>
            <a:off x="4033093" y="1325406"/>
            <a:ext cx="4718183" cy="4299779"/>
          </a:xfrm>
          <a:prstGeom prst="rect">
            <a:avLst/>
          </a:prstGeom>
          <a:noFill/>
          <a:ln>
            <a:noFill/>
          </a:ln>
        </p:spPr>
        <p:txBody>
          <a:bodyPr spcFirstLastPara="1" wrap="square" lIns="91425" tIns="91425" rIns="91425" bIns="91425" anchor="t" anchorCtr="0">
            <a:normAutofit fontScale="6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3"/>
              </a:buClr>
              <a:buSzPts val="1800"/>
              <a:buFont typeface="Proxima Nova"/>
              <a:buChar char="●"/>
              <a:defRPr sz="1800" b="0" i="0" u="none" strike="noStrike" cap="none">
                <a:solidFill>
                  <a:schemeClr val="accent3"/>
                </a:solidFill>
                <a:latin typeface="Proxima Nova"/>
                <a:ea typeface="Proxima Nova"/>
                <a:cs typeface="Proxima Nova"/>
                <a:sym typeface="Proxima Nova"/>
              </a:defRPr>
            </a:lvl1pPr>
            <a:lvl2pPr marL="914400" marR="0" lvl="1"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2pPr>
            <a:lvl3pPr marL="1371600" marR="0" lvl="2"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3pPr>
            <a:lvl4pPr marL="1828800" marR="0" lvl="3"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4pPr>
            <a:lvl5pPr marL="2286000" marR="0" lvl="4"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5pPr>
            <a:lvl6pPr marL="2743200" marR="0" lvl="5"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6pPr>
            <a:lvl7pPr marL="3200400" marR="0" lvl="6"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7pPr>
            <a:lvl8pPr marL="3657600" marR="0" lvl="7"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8pPr>
            <a:lvl9pPr marL="4114800" marR="0" lvl="8"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9pPr>
          </a:lstStyle>
          <a:p>
            <a:pPr marL="0" marR="0" lvl="0" indent="0" algn="l" defTabSz="914400" rtl="0" eaLnBrk="1" fontAlgn="auto" latinLnBrk="0" hangingPunct="1">
              <a:lnSpc>
                <a:spcPct val="115000"/>
              </a:lnSpc>
              <a:spcBef>
                <a:spcPts val="0"/>
              </a:spcBef>
              <a:spcAft>
                <a:spcPts val="1200"/>
              </a:spcAft>
              <a:buClr>
                <a:srgbClr val="616161"/>
              </a:buClr>
              <a:buSzPts val="1800"/>
              <a:buFont typeface="Proxima Nova"/>
              <a:buNone/>
              <a:tabLst/>
              <a:defRPr/>
            </a:pPr>
            <a:r>
              <a:rPr kumimoji="0" lang="en-US" sz="20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Proxima Nova"/>
              </a:rPr>
              <a:t>Applying them together</a:t>
            </a:r>
          </a:p>
          <a:p>
            <a:pPr marL="342900" marR="0" lvl="0" indent="-342900" algn="l" defTabSz="914400" rtl="0" eaLnBrk="1" fontAlgn="auto" latinLnBrk="0" hangingPunct="1">
              <a:lnSpc>
                <a:spcPct val="115000"/>
              </a:lnSpc>
              <a:spcBef>
                <a:spcPts val="0"/>
              </a:spcBef>
              <a:spcAft>
                <a:spcPts val="1200"/>
              </a:spcAft>
              <a:buClr>
                <a:srgbClr val="616161"/>
              </a:buClr>
              <a:buSzPts val="1800"/>
              <a:buFont typeface="Proxima Nova"/>
              <a:buChar char="●"/>
              <a:tabLst/>
              <a:defRPr/>
            </a:pPr>
            <a:r>
              <a:rPr kumimoji="0" lang="en-US" sz="20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rPr>
              <a:t>Legal schemes does not always reflect the linguistic scheme which had been applied in the NLP domain predominantly (issue – evidence – rule – conclusion) (</a:t>
            </a:r>
            <a:r>
              <a:rPr kumimoji="0" lang="en-US" sz="2000" b="0" i="0" u="none" strike="noStrike" kern="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sym typeface="Proxima Nova"/>
              </a:rPr>
              <a:t>Habernal</a:t>
            </a:r>
            <a:r>
              <a:rPr kumimoji="0" lang="en-US" sz="20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rPr>
              <a:t>, et al., 2023)</a:t>
            </a:r>
          </a:p>
          <a:p>
            <a:pPr marL="342900" marR="0" lvl="0" indent="-342900" algn="l" defTabSz="914400" rtl="0" eaLnBrk="1" fontAlgn="auto" latinLnBrk="0" hangingPunct="1">
              <a:lnSpc>
                <a:spcPct val="115000"/>
              </a:lnSpc>
              <a:spcBef>
                <a:spcPts val="0"/>
              </a:spcBef>
              <a:spcAft>
                <a:spcPts val="1200"/>
              </a:spcAft>
              <a:buClr>
                <a:srgbClr val="616161"/>
              </a:buClr>
              <a:buSzPts val="1800"/>
              <a:buFont typeface="Proxima Nova"/>
              <a:buChar char="●"/>
              <a:tabLst/>
              <a:defRPr/>
            </a:pPr>
            <a:r>
              <a:rPr kumimoji="0" lang="en-US" sz="20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rPr>
              <a:t>To bridge this gap, Question Answering (QA) and reading comprehension have become an established framework for performing targeted legal NLP tasks. Prominent efforts, such as the creation of the large-scale, expert-annotated Merger Agreement Understanding Dataset (MAUD), explicitly model complex legal work like contract review as a QA challenge, where models learn to answer specific, standardized questions based on extracted legal clauses (Wang et al., 2023)</a:t>
            </a:r>
          </a:p>
          <a:p>
            <a:pPr marL="342900" marR="0" lvl="0" indent="-342900" algn="l" defTabSz="914400" rtl="0" eaLnBrk="1" fontAlgn="auto" latinLnBrk="0" hangingPunct="1">
              <a:lnSpc>
                <a:spcPct val="115000"/>
              </a:lnSpc>
              <a:spcBef>
                <a:spcPts val="0"/>
              </a:spcBef>
              <a:spcAft>
                <a:spcPts val="1200"/>
              </a:spcAft>
              <a:buClr>
                <a:srgbClr val="616161"/>
              </a:buClr>
              <a:buSzPts val="1800"/>
              <a:buFont typeface="Proxima Nova"/>
              <a:buChar char="●"/>
              <a:tabLst/>
              <a:defRPr/>
            </a:pPr>
            <a:r>
              <a:rPr kumimoji="0" lang="en-US" sz="20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rPr>
              <a:t>For that reason, we integrated QA style annotation scheme for legal argument extraction to gain insight about the application of a rule by tracking the decision that applies that rule</a:t>
            </a:r>
          </a:p>
          <a:p>
            <a:pPr marL="342900" marR="0" lvl="0" indent="-342900" algn="l" defTabSz="914400" rtl="0" eaLnBrk="1" fontAlgn="auto" latinLnBrk="0" hangingPunct="1">
              <a:lnSpc>
                <a:spcPct val="115000"/>
              </a:lnSpc>
              <a:spcBef>
                <a:spcPts val="0"/>
              </a:spcBef>
              <a:spcAft>
                <a:spcPts val="1200"/>
              </a:spcAft>
              <a:buClr>
                <a:srgbClr val="616161"/>
              </a:buClr>
              <a:buSzPts val="1800"/>
              <a:buFont typeface="Proxima Nova"/>
              <a:buChar char="●"/>
              <a:tabLst/>
              <a:defRPr/>
            </a:pPr>
            <a:endParaRPr kumimoji="0" lang="en-US" sz="20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endParaRPr>
          </a:p>
          <a:p>
            <a:pPr marL="0" marR="0" lvl="0" indent="0" algn="l" defTabSz="914400" rtl="0" eaLnBrk="1" fontAlgn="auto" latinLnBrk="0" hangingPunct="1">
              <a:lnSpc>
                <a:spcPct val="115000"/>
              </a:lnSpc>
              <a:spcBef>
                <a:spcPts val="0"/>
              </a:spcBef>
              <a:spcAft>
                <a:spcPts val="1200"/>
              </a:spcAft>
              <a:buClr>
                <a:srgbClr val="616161"/>
              </a:buClr>
              <a:buSzPts val="1800"/>
              <a:buFont typeface="Proxima Nova"/>
              <a:buNone/>
              <a:tabLst/>
              <a:defRPr/>
            </a:pPr>
            <a:endParaRPr kumimoji="0" lang="en-US" sz="2000" b="0" i="1"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endParaRPr>
          </a:p>
          <a:p>
            <a:pPr marL="0" marR="0" lvl="0" indent="0" algn="l" defTabSz="914400" rtl="0" eaLnBrk="1" fontAlgn="auto" latinLnBrk="0" hangingPunct="1">
              <a:lnSpc>
                <a:spcPct val="115000"/>
              </a:lnSpc>
              <a:spcBef>
                <a:spcPts val="0"/>
              </a:spcBef>
              <a:spcAft>
                <a:spcPts val="1200"/>
              </a:spcAft>
              <a:buClr>
                <a:srgbClr val="616161"/>
              </a:buClr>
              <a:buSzPts val="1800"/>
              <a:buFont typeface="Proxima Nova"/>
              <a:buNone/>
              <a:tabLst/>
              <a:defRPr/>
            </a:pPr>
            <a:endParaRPr kumimoji="0" lang="en-US" sz="20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Proxima Nova"/>
            </a:endParaRPr>
          </a:p>
        </p:txBody>
      </p:sp>
      <p:graphicFrame>
        <p:nvGraphicFramePr>
          <p:cNvPr id="2" name="Diagram 1">
            <a:extLst>
              <a:ext uri="{FF2B5EF4-FFF2-40B4-BE49-F238E27FC236}">
                <a16:creationId xmlns:a16="http://schemas.microsoft.com/office/drawing/2014/main" id="{47336A1F-127B-F182-6EC8-948360EA1897}"/>
              </a:ext>
            </a:extLst>
          </p:cNvPr>
          <p:cNvGraphicFramePr/>
          <p:nvPr/>
        </p:nvGraphicFramePr>
        <p:xfrm>
          <a:off x="314561" y="2029462"/>
          <a:ext cx="3718532" cy="20583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93358454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7">
                                            <p:txEl>
                                              <p:pRg st="1" end="1"/>
                                            </p:txEl>
                                          </p:spTgt>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7">
                                            <p:txEl>
                                              <p:pRg st="2" end="2"/>
                                            </p:txEl>
                                          </p:spTgt>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7">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17" grpId="1"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CA48D7F3-469F-6D64-20F8-9FE76BF95144}"/>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6586E7B3-12F5-C43C-FAC3-0F96ACB3C10F}"/>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Background – Technology Undertaking Exception Rule</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80340A1C-6A0B-B832-45A8-BFDF7C7CEE10}"/>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15B2E360-B952-620D-4D59-5BCB71153ACD}"/>
              </a:ext>
            </a:extLst>
          </p:cNvPr>
          <p:cNvPicPr>
            <a:picLocks noChangeAspect="1"/>
          </p:cNvPicPr>
          <p:nvPr/>
        </p:nvPicPr>
        <p:blipFill>
          <a:blip r:embed="rId4"/>
          <a:stretch>
            <a:fillRect/>
          </a:stretch>
        </p:blipFill>
        <p:spPr>
          <a:xfrm>
            <a:off x="8579052" y="49800"/>
            <a:ext cx="506496" cy="465567"/>
          </a:xfrm>
          <a:prstGeom prst="rect">
            <a:avLst/>
          </a:prstGeom>
        </p:spPr>
      </p:pic>
      <p:pic>
        <p:nvPicPr>
          <p:cNvPr id="6" name="Picture 5">
            <a:extLst>
              <a:ext uri="{FF2B5EF4-FFF2-40B4-BE49-F238E27FC236}">
                <a16:creationId xmlns:a16="http://schemas.microsoft.com/office/drawing/2014/main" id="{9C45DFE3-71EC-2BA1-7B9A-297276759256}"/>
              </a:ext>
            </a:extLst>
          </p:cNvPr>
          <p:cNvPicPr>
            <a:picLocks noChangeAspect="1"/>
          </p:cNvPicPr>
          <p:nvPr/>
        </p:nvPicPr>
        <p:blipFill>
          <a:blip r:embed="rId5"/>
          <a:stretch>
            <a:fillRect/>
          </a:stretch>
        </p:blipFill>
        <p:spPr>
          <a:xfrm>
            <a:off x="5351215" y="1622479"/>
            <a:ext cx="3481085" cy="1293217"/>
          </a:xfrm>
          <a:prstGeom prst="rect">
            <a:avLst/>
          </a:prstGeom>
        </p:spPr>
      </p:pic>
      <p:pic>
        <p:nvPicPr>
          <p:cNvPr id="7" name="Picture 6">
            <a:extLst>
              <a:ext uri="{FF2B5EF4-FFF2-40B4-BE49-F238E27FC236}">
                <a16:creationId xmlns:a16="http://schemas.microsoft.com/office/drawing/2014/main" id="{40DE20D2-3A5C-B6EC-1DD2-74B0A691BB54}"/>
              </a:ext>
            </a:extLst>
          </p:cNvPr>
          <p:cNvPicPr>
            <a:picLocks noChangeAspect="1"/>
          </p:cNvPicPr>
          <p:nvPr/>
        </p:nvPicPr>
        <p:blipFill>
          <a:blip r:embed="rId6"/>
          <a:stretch>
            <a:fillRect/>
          </a:stretch>
        </p:blipFill>
        <p:spPr>
          <a:xfrm>
            <a:off x="5890563" y="1902706"/>
            <a:ext cx="2553303" cy="1444057"/>
          </a:xfrm>
          <a:prstGeom prst="rect">
            <a:avLst/>
          </a:prstGeom>
        </p:spPr>
      </p:pic>
      <p:pic>
        <p:nvPicPr>
          <p:cNvPr id="8" name="Picture 7">
            <a:extLst>
              <a:ext uri="{FF2B5EF4-FFF2-40B4-BE49-F238E27FC236}">
                <a16:creationId xmlns:a16="http://schemas.microsoft.com/office/drawing/2014/main" id="{17B5B27C-DEAD-C4FA-A880-7370F39E3241}"/>
              </a:ext>
            </a:extLst>
          </p:cNvPr>
          <p:cNvPicPr>
            <a:picLocks noChangeAspect="1"/>
          </p:cNvPicPr>
          <p:nvPr/>
        </p:nvPicPr>
        <p:blipFill>
          <a:blip r:embed="rId7"/>
          <a:stretch>
            <a:fillRect/>
          </a:stretch>
        </p:blipFill>
        <p:spPr>
          <a:xfrm>
            <a:off x="5785153" y="2261239"/>
            <a:ext cx="2994380" cy="1552039"/>
          </a:xfrm>
          <a:prstGeom prst="rect">
            <a:avLst/>
          </a:prstGeom>
        </p:spPr>
      </p:pic>
      <p:pic>
        <p:nvPicPr>
          <p:cNvPr id="9" name="Picture 8">
            <a:extLst>
              <a:ext uri="{FF2B5EF4-FFF2-40B4-BE49-F238E27FC236}">
                <a16:creationId xmlns:a16="http://schemas.microsoft.com/office/drawing/2014/main" id="{46FA734D-2941-54E2-2755-1C3D509F72DB}"/>
              </a:ext>
            </a:extLst>
          </p:cNvPr>
          <p:cNvPicPr>
            <a:picLocks noChangeAspect="1"/>
          </p:cNvPicPr>
          <p:nvPr/>
        </p:nvPicPr>
        <p:blipFill>
          <a:blip r:embed="rId8"/>
          <a:stretch>
            <a:fillRect/>
          </a:stretch>
        </p:blipFill>
        <p:spPr>
          <a:xfrm>
            <a:off x="6115727" y="2685214"/>
            <a:ext cx="2690189" cy="1430227"/>
          </a:xfrm>
          <a:prstGeom prst="rect">
            <a:avLst/>
          </a:prstGeom>
        </p:spPr>
      </p:pic>
      <p:sp>
        <p:nvSpPr>
          <p:cNvPr id="11" name="Google Shape;66;p14">
            <a:extLst>
              <a:ext uri="{FF2B5EF4-FFF2-40B4-BE49-F238E27FC236}">
                <a16:creationId xmlns:a16="http://schemas.microsoft.com/office/drawing/2014/main" id="{A64C9FEE-0105-4F67-8AAE-B96BB405EA94}"/>
              </a:ext>
            </a:extLst>
          </p:cNvPr>
          <p:cNvSpPr txBox="1">
            <a:spLocks noGrp="1"/>
          </p:cNvSpPr>
          <p:nvPr>
            <p:ph type="body" idx="1"/>
          </p:nvPr>
        </p:nvSpPr>
        <p:spPr>
          <a:xfrm>
            <a:off x="311700" y="1152475"/>
            <a:ext cx="4873758" cy="3416400"/>
          </a:xfrm>
          <a:prstGeom prst="rect">
            <a:avLst/>
          </a:prstGeom>
        </p:spPr>
        <p:txBody>
          <a:bodyPr spcFirstLastPara="1" wrap="square" lIns="91425" tIns="91425" rIns="91425" bIns="91425" anchor="t" anchorCtr="0">
            <a:normAutofit/>
          </a:bodyPr>
          <a:lstStyle/>
          <a:p>
            <a:pPr marL="285750" indent="-285750">
              <a:spcAft>
                <a:spcPts val="1200"/>
              </a:spcAft>
            </a:pPr>
            <a:r>
              <a:rPr lang="en-US" sz="2000" dirty="0">
                <a:solidFill>
                  <a:schemeClr val="lt1"/>
                </a:solidFill>
                <a:latin typeface="Calibri" panose="020F0502020204030204" pitchFamily="34" charset="0"/>
                <a:cs typeface="Calibri" panose="020F0502020204030204" pitchFamily="34" charset="0"/>
              </a:rPr>
              <a:t>Introduced by the Turkish Competition Authority (TCA) in March 2022</a:t>
            </a:r>
          </a:p>
          <a:p>
            <a:pPr marL="285750" indent="-285750">
              <a:spcAft>
                <a:spcPts val="1200"/>
              </a:spcAft>
            </a:pPr>
            <a:r>
              <a:rPr lang="en-US" sz="2000" dirty="0">
                <a:solidFill>
                  <a:schemeClr val="lt1"/>
                </a:solidFill>
                <a:latin typeface="Calibri" panose="020F0502020204030204" pitchFamily="34" charset="0"/>
                <a:cs typeface="Calibri" panose="020F0502020204030204" pitchFamily="34" charset="0"/>
              </a:rPr>
              <a:t>Extends merger control rules to nascent technology companies</a:t>
            </a:r>
          </a:p>
          <a:p>
            <a:pPr marL="285750" indent="-285750">
              <a:spcAft>
                <a:spcPts val="1200"/>
              </a:spcAft>
            </a:pPr>
            <a:r>
              <a:rPr lang="en-US" sz="2000" dirty="0">
                <a:solidFill>
                  <a:schemeClr val="lt1"/>
                </a:solidFill>
                <a:latin typeface="Calibri" panose="020F0502020204030204" pitchFamily="34" charset="0"/>
                <a:cs typeface="Calibri" panose="020F0502020204030204" pitchFamily="34" charset="0"/>
              </a:rPr>
              <a:t>Waives turnover thresholds when the target qualifies as a “technology undertaking”</a:t>
            </a:r>
          </a:p>
          <a:p>
            <a:pPr marL="0" lvl="0" indent="0" algn="l" rtl="0">
              <a:spcBef>
                <a:spcPts val="0"/>
              </a:spcBef>
              <a:spcAft>
                <a:spcPts val="1200"/>
              </a:spcAft>
              <a:buNone/>
            </a:pPr>
            <a:endParaRPr lang="en-US" sz="2000"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lang="en-US" sz="2000" i="1"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sz="2000" dirty="0">
              <a:solidFill>
                <a:schemeClr val="l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033891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FCC40FA4-BE2F-9AEB-27B3-7CAD4A29283E}"/>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30A40A5D-752B-3BE8-2485-EAF2F1A36D74}"/>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Background – Technology Undertaking Exception Rule</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0D8F50C-E0EC-2523-E8C3-C476B6D3BB36}"/>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CC080948-BB2B-3509-1739-C3D1A4F55C7E}"/>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AD67E476-F486-7355-F98A-758DC4ABC118}"/>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8" name="Picture 17">
            <a:extLst>
              <a:ext uri="{FF2B5EF4-FFF2-40B4-BE49-F238E27FC236}">
                <a16:creationId xmlns:a16="http://schemas.microsoft.com/office/drawing/2014/main" id="{9FD776F2-CE10-C8A4-1983-94A42FC69469}"/>
              </a:ext>
            </a:extLst>
          </p:cNvPr>
          <p:cNvPicPr>
            <a:picLocks noChangeAspect="1"/>
          </p:cNvPicPr>
          <p:nvPr/>
        </p:nvPicPr>
        <p:blipFill>
          <a:blip r:embed="rId5"/>
          <a:stretch>
            <a:fillRect/>
          </a:stretch>
        </p:blipFill>
        <p:spPr>
          <a:xfrm>
            <a:off x="685800" y="1071978"/>
            <a:ext cx="7772400" cy="3741847"/>
          </a:xfrm>
          <a:prstGeom prst="rect">
            <a:avLst/>
          </a:prstGeom>
        </p:spPr>
      </p:pic>
      <p:sp>
        <p:nvSpPr>
          <p:cNvPr id="2" name="Rectangle 1">
            <a:extLst>
              <a:ext uri="{FF2B5EF4-FFF2-40B4-BE49-F238E27FC236}">
                <a16:creationId xmlns:a16="http://schemas.microsoft.com/office/drawing/2014/main" id="{98FE373F-3865-772D-A003-92843A320AEE}"/>
              </a:ext>
            </a:extLst>
          </p:cNvPr>
          <p:cNvSpPr/>
          <p:nvPr/>
        </p:nvSpPr>
        <p:spPr>
          <a:xfrm>
            <a:off x="2860589" y="3521675"/>
            <a:ext cx="3886200" cy="887073"/>
          </a:xfrm>
          <a:prstGeom prst="rect">
            <a:avLst/>
          </a:prstGeom>
          <a:solidFill>
            <a:srgbClr val="D9D9D9">
              <a:alpha val="2403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Q4</a:t>
            </a:r>
          </a:p>
        </p:txBody>
      </p:sp>
      <p:grpSp>
        <p:nvGrpSpPr>
          <p:cNvPr id="7" name="Group 6">
            <a:extLst>
              <a:ext uri="{FF2B5EF4-FFF2-40B4-BE49-F238E27FC236}">
                <a16:creationId xmlns:a16="http://schemas.microsoft.com/office/drawing/2014/main" id="{CF49FE2B-5B7C-3FF8-3068-E4B1E9FEDFA7}"/>
              </a:ext>
            </a:extLst>
          </p:cNvPr>
          <p:cNvGrpSpPr/>
          <p:nvPr/>
        </p:nvGrpSpPr>
        <p:grpSpPr>
          <a:xfrm>
            <a:off x="2668097" y="1434032"/>
            <a:ext cx="1817405" cy="1552672"/>
            <a:chOff x="2668097" y="1434032"/>
            <a:chExt cx="1817405" cy="1552672"/>
          </a:xfrm>
        </p:grpSpPr>
        <p:sp>
          <p:nvSpPr>
            <p:cNvPr id="3" name="Rectangle 2">
              <a:extLst>
                <a:ext uri="{FF2B5EF4-FFF2-40B4-BE49-F238E27FC236}">
                  <a16:creationId xmlns:a16="http://schemas.microsoft.com/office/drawing/2014/main" id="{2918163C-47C4-AFC9-9057-71DFE575028A}"/>
                </a:ext>
              </a:extLst>
            </p:cNvPr>
            <p:cNvSpPr/>
            <p:nvPr/>
          </p:nvSpPr>
          <p:spPr>
            <a:xfrm>
              <a:off x="2668097" y="1434032"/>
              <a:ext cx="1817405" cy="1552672"/>
            </a:xfrm>
            <a:prstGeom prst="rect">
              <a:avLst/>
            </a:prstGeom>
            <a:solidFill>
              <a:srgbClr val="D9D9D9">
                <a:alpha val="2403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7E6475DC-8353-CE7D-A3BD-B889515D1CEC}"/>
                </a:ext>
              </a:extLst>
            </p:cNvPr>
            <p:cNvSpPr txBox="1"/>
            <p:nvPr/>
          </p:nvSpPr>
          <p:spPr>
            <a:xfrm>
              <a:off x="2668097" y="1466847"/>
              <a:ext cx="1297459" cy="307777"/>
            </a:xfrm>
            <a:prstGeom prst="rect">
              <a:avLst/>
            </a:prstGeom>
            <a:noFill/>
          </p:spPr>
          <p:txBody>
            <a:bodyPr wrap="square" rtlCol="0">
              <a:spAutoFit/>
            </a:bodyPr>
            <a:lstStyle/>
            <a:p>
              <a:r>
                <a:rPr lang="en-US" dirty="0">
                  <a:solidFill>
                    <a:schemeClr val="bg1"/>
                  </a:solidFill>
                </a:rPr>
                <a:t>Q1/Q2</a:t>
              </a:r>
            </a:p>
          </p:txBody>
        </p:sp>
      </p:grpSp>
      <p:grpSp>
        <p:nvGrpSpPr>
          <p:cNvPr id="8" name="Group 7">
            <a:extLst>
              <a:ext uri="{FF2B5EF4-FFF2-40B4-BE49-F238E27FC236}">
                <a16:creationId xmlns:a16="http://schemas.microsoft.com/office/drawing/2014/main" id="{8B609A71-51D3-AD8C-BE7E-072795B13DA4}"/>
              </a:ext>
            </a:extLst>
          </p:cNvPr>
          <p:cNvGrpSpPr/>
          <p:nvPr/>
        </p:nvGrpSpPr>
        <p:grpSpPr>
          <a:xfrm>
            <a:off x="4877829" y="1434032"/>
            <a:ext cx="1817405" cy="1552672"/>
            <a:chOff x="2668097" y="1434032"/>
            <a:chExt cx="1817405" cy="1552672"/>
          </a:xfrm>
        </p:grpSpPr>
        <p:sp>
          <p:nvSpPr>
            <p:cNvPr id="9" name="Rectangle 8">
              <a:extLst>
                <a:ext uri="{FF2B5EF4-FFF2-40B4-BE49-F238E27FC236}">
                  <a16:creationId xmlns:a16="http://schemas.microsoft.com/office/drawing/2014/main" id="{57874E4F-5153-745C-B90E-9BBA1281C79B}"/>
                </a:ext>
              </a:extLst>
            </p:cNvPr>
            <p:cNvSpPr/>
            <p:nvPr/>
          </p:nvSpPr>
          <p:spPr>
            <a:xfrm>
              <a:off x="2668097" y="1434032"/>
              <a:ext cx="1817405" cy="1552672"/>
            </a:xfrm>
            <a:prstGeom prst="rect">
              <a:avLst/>
            </a:prstGeom>
            <a:solidFill>
              <a:srgbClr val="D9D9D9">
                <a:alpha val="2403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C2047CF9-351E-506B-6E02-B8006E25AD4F}"/>
                </a:ext>
              </a:extLst>
            </p:cNvPr>
            <p:cNvSpPr txBox="1"/>
            <p:nvPr/>
          </p:nvSpPr>
          <p:spPr>
            <a:xfrm>
              <a:off x="2668097" y="1466847"/>
              <a:ext cx="1297459" cy="307777"/>
            </a:xfrm>
            <a:prstGeom prst="rect">
              <a:avLst/>
            </a:prstGeom>
            <a:noFill/>
          </p:spPr>
          <p:txBody>
            <a:bodyPr wrap="square" rtlCol="0">
              <a:spAutoFit/>
            </a:bodyPr>
            <a:lstStyle/>
            <a:p>
              <a:r>
                <a:rPr lang="en-US" dirty="0">
                  <a:solidFill>
                    <a:schemeClr val="bg1"/>
                  </a:solidFill>
                </a:rPr>
                <a:t>Q3</a:t>
              </a:r>
            </a:p>
          </p:txBody>
        </p:sp>
      </p:grpSp>
    </p:spTree>
    <p:extLst>
      <p:ext uri="{BB962C8B-B14F-4D97-AF65-F5344CB8AC3E}">
        <p14:creationId xmlns:p14="http://schemas.microsoft.com/office/powerpoint/2010/main" val="38877304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404A4D63-5F81-F2C6-3DA3-8AC3564E0B95}"/>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4F80B8C6-1714-B109-E050-F51C77B3670B}"/>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Research Questions</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663BC275-F328-5C76-30C0-710153B73B40}"/>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3387DB51-F8FE-0B5D-FEBC-A29A6E83E15E}"/>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164D2A96-F636-A278-D597-831D79652803}"/>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66;p14">
            <a:extLst>
              <a:ext uri="{FF2B5EF4-FFF2-40B4-BE49-F238E27FC236}">
                <a16:creationId xmlns:a16="http://schemas.microsoft.com/office/drawing/2014/main" id="{6ACE4D1D-B55D-9E94-D409-FD51FECC9D3F}"/>
              </a:ext>
            </a:extLst>
          </p:cNvPr>
          <p:cNvSpPr txBox="1">
            <a:spLocks noGrp="1"/>
          </p:cNvSpPr>
          <p:nvPr>
            <p:ph type="body" idx="1"/>
          </p:nvPr>
        </p:nvSpPr>
        <p:spPr>
          <a:xfrm>
            <a:off x="311700" y="1282075"/>
            <a:ext cx="8369300" cy="3416400"/>
          </a:xfrm>
          <a:prstGeom prst="rect">
            <a:avLst/>
          </a:prstGeom>
        </p:spPr>
        <p:txBody>
          <a:bodyPr spcFirstLastPara="1" wrap="square" lIns="91425" tIns="91425" rIns="91425" bIns="91425" anchor="t" anchorCtr="0">
            <a:normAutofit lnSpcReduction="10000"/>
          </a:bodyPr>
          <a:lstStyle/>
          <a:p>
            <a:pPr marL="285750" indent="-285750">
              <a:spcAft>
                <a:spcPts val="1200"/>
              </a:spcAft>
            </a:pPr>
            <a:r>
              <a:rPr lang="en-US" sz="2000" b="1" dirty="0">
                <a:solidFill>
                  <a:srgbClr val="FFC000"/>
                </a:solidFill>
                <a:latin typeface="Calibri" panose="020F0502020204030204" pitchFamily="34" charset="0"/>
                <a:cs typeface="Calibri" panose="020F0502020204030204" pitchFamily="34" charset="0"/>
              </a:rPr>
              <a:t>RQ1: </a:t>
            </a:r>
            <a:r>
              <a:rPr lang="en-US" sz="2000" dirty="0">
                <a:solidFill>
                  <a:schemeClr val="lt1"/>
                </a:solidFill>
                <a:latin typeface="Calibri" panose="020F0502020204030204" pitchFamily="34" charset="0"/>
                <a:cs typeface="Calibri" panose="020F0502020204030204" pitchFamily="34" charset="0"/>
              </a:rPr>
              <a:t>To what extent can a fine-tuned BERT model, framed within an extractive QA task, effectively and accurately extract the components of a complex legal argument from specialized, non-English legal documents?</a:t>
            </a:r>
          </a:p>
          <a:p>
            <a:pPr marL="285750" indent="-285750">
              <a:spcAft>
                <a:spcPts val="1200"/>
              </a:spcAft>
            </a:pPr>
            <a:r>
              <a:rPr lang="en-US" sz="2000" b="1" dirty="0">
                <a:solidFill>
                  <a:srgbClr val="FFC000"/>
                </a:solidFill>
                <a:latin typeface="Calibri" panose="020F0502020204030204" pitchFamily="34" charset="0"/>
                <a:cs typeface="Calibri" panose="020F0502020204030204" pitchFamily="34" charset="0"/>
              </a:rPr>
              <a:t>RQ2:</a:t>
            </a:r>
            <a:r>
              <a:rPr lang="en-US" sz="2000" b="1" dirty="0">
                <a:solidFill>
                  <a:schemeClr val="lt1"/>
                </a:solidFill>
                <a:latin typeface="Calibri" panose="020F0502020204030204" pitchFamily="34" charset="0"/>
                <a:cs typeface="Calibri" panose="020F0502020204030204" pitchFamily="34" charset="0"/>
              </a:rPr>
              <a:t> </a:t>
            </a:r>
            <a:r>
              <a:rPr lang="en-US" sz="2000" dirty="0">
                <a:solidFill>
                  <a:schemeClr val="lt1"/>
                </a:solidFill>
                <a:latin typeface="Calibri" panose="020F0502020204030204" pitchFamily="34" charset="0"/>
                <a:cs typeface="Calibri" panose="020F0502020204030204" pitchFamily="34" charset="0"/>
              </a:rPr>
              <a:t>How does the model's performance differ across various types of argumentative components, and what does this variation reveal about the nature of the legal text itself?</a:t>
            </a:r>
          </a:p>
          <a:p>
            <a:pPr marL="285750" indent="-285750">
              <a:spcAft>
                <a:spcPts val="1200"/>
              </a:spcAft>
            </a:pPr>
            <a:r>
              <a:rPr lang="en-US" sz="2000" b="1" dirty="0">
                <a:solidFill>
                  <a:srgbClr val="FFC000"/>
                </a:solidFill>
                <a:latin typeface="Calibri" panose="020F0502020204030204" pitchFamily="34" charset="0"/>
                <a:cs typeface="Calibri" panose="020F0502020204030204" pitchFamily="34" charset="0"/>
              </a:rPr>
              <a:t>RQ3:</a:t>
            </a:r>
            <a:r>
              <a:rPr lang="en-US" sz="2000" dirty="0">
                <a:solidFill>
                  <a:schemeClr val="lt1"/>
                </a:solidFill>
                <a:latin typeface="Calibri" panose="020F0502020204030204" pitchFamily="34" charset="0"/>
                <a:cs typeface="Calibri" panose="020F0502020204030204" pitchFamily="34" charset="0"/>
              </a:rPr>
              <a:t> What is the role of context length in the model's performance on this legal QA task, particularly for identifying implicit reasoning?</a:t>
            </a:r>
          </a:p>
          <a:p>
            <a:pPr marL="0" lvl="0" indent="0" algn="l" rtl="0">
              <a:spcBef>
                <a:spcPts val="0"/>
              </a:spcBef>
              <a:spcAft>
                <a:spcPts val="1200"/>
              </a:spcAft>
              <a:buNone/>
            </a:pPr>
            <a:endParaRPr lang="en-US" sz="2000" i="1"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sz="2000" dirty="0">
              <a:solidFill>
                <a:schemeClr val="l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693118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D58D72C2-BA9D-012C-4B17-BD619E64A1EF}"/>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07A1E5BA-87E7-9DC8-54DD-802F4A4C4804}"/>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Methodology</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89D78E45-717B-EB65-ECC6-0F0133A04228}"/>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3C2B5442-5755-8E04-FFD5-1A127F9FB571}"/>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FEA8C5D1-9BF9-E081-CA5A-7E7BCE2D9B2C}"/>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pic>
        <p:nvPicPr>
          <p:cNvPr id="2" name="Picture 1">
            <a:extLst>
              <a:ext uri="{FF2B5EF4-FFF2-40B4-BE49-F238E27FC236}">
                <a16:creationId xmlns:a16="http://schemas.microsoft.com/office/drawing/2014/main" id="{9A86BCDD-32EC-CA74-B4CB-1A3E6F74B755}"/>
              </a:ext>
            </a:extLst>
          </p:cNvPr>
          <p:cNvPicPr>
            <a:picLocks noChangeAspect="1"/>
          </p:cNvPicPr>
          <p:nvPr/>
        </p:nvPicPr>
        <p:blipFill>
          <a:blip r:embed="rId5"/>
          <a:stretch>
            <a:fillRect/>
          </a:stretch>
        </p:blipFill>
        <p:spPr>
          <a:xfrm>
            <a:off x="685800" y="1293468"/>
            <a:ext cx="7782931" cy="3191256"/>
          </a:xfrm>
          <a:prstGeom prst="rect">
            <a:avLst/>
          </a:prstGeom>
        </p:spPr>
      </p:pic>
    </p:spTree>
    <p:extLst>
      <p:ext uri="{BB962C8B-B14F-4D97-AF65-F5344CB8AC3E}">
        <p14:creationId xmlns:p14="http://schemas.microsoft.com/office/powerpoint/2010/main" val="96352789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89872D08-C982-AAF6-E6A2-201CAD626EE7}"/>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F680FC5D-3ED9-896B-F73D-15CE2B3C487C}"/>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Methodology</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D1DFCFFA-ABA5-4C2C-712B-E8B9DD3E045E}"/>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9A6272B8-323F-4A19-D73A-B338A234DC07}"/>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A1BD6369-9E1E-ADC4-E5CC-1BF3E960E38E}"/>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66;p14">
            <a:extLst>
              <a:ext uri="{FF2B5EF4-FFF2-40B4-BE49-F238E27FC236}">
                <a16:creationId xmlns:a16="http://schemas.microsoft.com/office/drawing/2014/main" id="{2EFFDE30-ABB7-8A08-77D6-846279910FF0}"/>
              </a:ext>
            </a:extLst>
          </p:cNvPr>
          <p:cNvSpPr txBox="1">
            <a:spLocks noGrp="1"/>
          </p:cNvSpPr>
          <p:nvPr>
            <p:ph type="body" idx="1"/>
          </p:nvPr>
        </p:nvSpPr>
        <p:spPr>
          <a:xfrm>
            <a:off x="311700" y="1282075"/>
            <a:ext cx="8369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lang="en-US" sz="2000" i="1"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sz="2000" dirty="0">
              <a:solidFill>
                <a:schemeClr val="lt1"/>
              </a:solidFill>
              <a:latin typeface="Calibri" panose="020F0502020204030204" pitchFamily="34" charset="0"/>
              <a:cs typeface="Calibri" panose="020F0502020204030204" pitchFamily="34" charset="0"/>
            </a:endParaRPr>
          </a:p>
        </p:txBody>
      </p:sp>
      <p:graphicFrame>
        <p:nvGraphicFramePr>
          <p:cNvPr id="8" name="Diagram 7">
            <a:extLst>
              <a:ext uri="{FF2B5EF4-FFF2-40B4-BE49-F238E27FC236}">
                <a16:creationId xmlns:a16="http://schemas.microsoft.com/office/drawing/2014/main" id="{E2E14FED-ECBD-5D36-1484-D2EB28BB6A06}"/>
              </a:ext>
            </a:extLst>
          </p:cNvPr>
          <p:cNvGraphicFramePr/>
          <p:nvPr/>
        </p:nvGraphicFramePr>
        <p:xfrm>
          <a:off x="670226" y="731375"/>
          <a:ext cx="8010774"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81955896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163F93FA-A158-A4D5-8FC6-57E25A272FBA}"/>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F59D12C3-D063-9176-C168-0FA1F79AF0B0}"/>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Methodology</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58F86449-FECD-5D20-DA55-DD702E945B6F}"/>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9E215A0E-F712-2746-5CA0-18611B68C7FA}"/>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EE800331-075A-C363-F464-12F0F98DDC73}"/>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66;p14">
            <a:extLst>
              <a:ext uri="{FF2B5EF4-FFF2-40B4-BE49-F238E27FC236}">
                <a16:creationId xmlns:a16="http://schemas.microsoft.com/office/drawing/2014/main" id="{5BE7630F-5B79-18DC-3711-C5EB68CC2D1C}"/>
              </a:ext>
            </a:extLst>
          </p:cNvPr>
          <p:cNvSpPr txBox="1">
            <a:spLocks noGrp="1"/>
          </p:cNvSpPr>
          <p:nvPr>
            <p:ph type="body" idx="1"/>
          </p:nvPr>
        </p:nvSpPr>
        <p:spPr>
          <a:xfrm>
            <a:off x="311700" y="1282075"/>
            <a:ext cx="8369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lang="en-US" sz="2000" i="1"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sz="2000" dirty="0">
              <a:solidFill>
                <a:schemeClr val="lt1"/>
              </a:solidFill>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A231634C-6CC8-1BC9-21A4-56959CA633A6}"/>
              </a:ext>
            </a:extLst>
          </p:cNvPr>
          <p:cNvPicPr>
            <a:picLocks noChangeAspect="1"/>
          </p:cNvPicPr>
          <p:nvPr/>
        </p:nvPicPr>
        <p:blipFill>
          <a:blip r:embed="rId5"/>
          <a:stretch>
            <a:fillRect/>
          </a:stretch>
        </p:blipFill>
        <p:spPr>
          <a:xfrm>
            <a:off x="2387039" y="1145866"/>
            <a:ext cx="4497338" cy="3667959"/>
          </a:xfrm>
          <a:prstGeom prst="rect">
            <a:avLst/>
          </a:prstGeom>
        </p:spPr>
      </p:pic>
    </p:spTree>
    <p:extLst>
      <p:ext uri="{BB962C8B-B14F-4D97-AF65-F5344CB8AC3E}">
        <p14:creationId xmlns:p14="http://schemas.microsoft.com/office/powerpoint/2010/main" val="114018304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F1303131-AFC0-8D0B-A96F-2C4231493233}"/>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68D1D940-D649-5B85-8239-61E521518D3E}"/>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Methodology</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D85D130-3ADC-BB91-79CE-3074CC7ABCF8}"/>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BEA2C025-502E-F382-9D7C-F1018089588C}"/>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FE17D6B7-6E61-41E8-1231-6E0A8B76B84A}"/>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aphicFrame>
        <p:nvGraphicFramePr>
          <p:cNvPr id="3" name="Diagram 2">
            <a:extLst>
              <a:ext uri="{FF2B5EF4-FFF2-40B4-BE49-F238E27FC236}">
                <a16:creationId xmlns:a16="http://schemas.microsoft.com/office/drawing/2014/main" id="{048100FF-B3A9-F33D-999B-91EE294FA06F}"/>
              </a:ext>
            </a:extLst>
          </p:cNvPr>
          <p:cNvGraphicFramePr/>
          <p:nvPr>
            <p:extLst>
              <p:ext uri="{D42A27DB-BD31-4B8C-83A1-F6EECF244321}">
                <p14:modId xmlns:p14="http://schemas.microsoft.com/office/powerpoint/2010/main" val="2968896764"/>
              </p:ext>
            </p:extLst>
          </p:nvPr>
        </p:nvGraphicFramePr>
        <p:xfrm>
          <a:off x="463000" y="792623"/>
          <a:ext cx="8369300" cy="4064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1922484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41FDC48E-A08F-C575-1580-9E5E260B6798}"/>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FC5CF464-03F6-86DB-0B97-12894F114219}"/>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Methodology</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03C286B8-AE98-C833-8473-94325C975425}"/>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DD34AE1E-B992-0E61-AF23-E9156127B175}"/>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497372F3-8D28-ABDF-E9C3-CC12801EA22B}"/>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pic>
        <p:nvPicPr>
          <p:cNvPr id="2" name="Picture 1">
            <a:extLst>
              <a:ext uri="{FF2B5EF4-FFF2-40B4-BE49-F238E27FC236}">
                <a16:creationId xmlns:a16="http://schemas.microsoft.com/office/drawing/2014/main" id="{2ECEEF55-E612-314E-714F-BACAB4E018FD}"/>
              </a:ext>
            </a:extLst>
          </p:cNvPr>
          <p:cNvPicPr>
            <a:picLocks noChangeAspect="1"/>
          </p:cNvPicPr>
          <p:nvPr/>
        </p:nvPicPr>
        <p:blipFill>
          <a:blip r:embed="rId5"/>
          <a:stretch>
            <a:fillRect/>
          </a:stretch>
        </p:blipFill>
        <p:spPr>
          <a:xfrm>
            <a:off x="2890479" y="1017725"/>
            <a:ext cx="2967852" cy="3985260"/>
          </a:xfrm>
          <a:prstGeom prst="rect">
            <a:avLst/>
          </a:prstGeom>
        </p:spPr>
      </p:pic>
    </p:spTree>
    <p:extLst>
      <p:ext uri="{BB962C8B-B14F-4D97-AF65-F5344CB8AC3E}">
        <p14:creationId xmlns:p14="http://schemas.microsoft.com/office/powerpoint/2010/main" val="242070981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2B81FC30-0227-9660-CE01-E7C948A1AB24}"/>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557AD7CE-972B-106E-FFFC-39A66F43B506}"/>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Experiment Results – Quantitative Findings</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28A0B025-9381-5C99-A31A-B3C9828EE3C3}"/>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3609FA86-ADEC-FD57-2F1B-41DCD75834FE}"/>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BCEC3142-0ED8-AA1B-A8D8-DE84DA3C4AB8}"/>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pic>
        <p:nvPicPr>
          <p:cNvPr id="6" name="Picture 5">
            <a:extLst>
              <a:ext uri="{FF2B5EF4-FFF2-40B4-BE49-F238E27FC236}">
                <a16:creationId xmlns:a16="http://schemas.microsoft.com/office/drawing/2014/main" id="{87628B85-1CC0-DC2A-CF81-D9CA1685A91B}"/>
              </a:ext>
            </a:extLst>
          </p:cNvPr>
          <p:cNvPicPr>
            <a:picLocks noChangeAspect="1"/>
          </p:cNvPicPr>
          <p:nvPr/>
        </p:nvPicPr>
        <p:blipFill>
          <a:blip r:embed="rId5"/>
          <a:stretch>
            <a:fillRect/>
          </a:stretch>
        </p:blipFill>
        <p:spPr>
          <a:xfrm>
            <a:off x="845274" y="1910708"/>
            <a:ext cx="7128140" cy="2487673"/>
          </a:xfrm>
          <a:prstGeom prst="rect">
            <a:avLst/>
          </a:prstGeom>
        </p:spPr>
      </p:pic>
      <p:sp>
        <p:nvSpPr>
          <p:cNvPr id="7" name="Rectangle 6">
            <a:extLst>
              <a:ext uri="{FF2B5EF4-FFF2-40B4-BE49-F238E27FC236}">
                <a16:creationId xmlns:a16="http://schemas.microsoft.com/office/drawing/2014/main" id="{05B59F1C-A95E-FB28-050D-07C5AA87EB1C}"/>
              </a:ext>
            </a:extLst>
          </p:cNvPr>
          <p:cNvSpPr/>
          <p:nvPr/>
        </p:nvSpPr>
        <p:spPr>
          <a:xfrm>
            <a:off x="3019903" y="3483980"/>
            <a:ext cx="2315765" cy="160509"/>
          </a:xfrm>
          <a:prstGeom prst="rect">
            <a:avLst/>
          </a:prstGeom>
          <a:solidFill>
            <a:schemeClr val="tx2">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8AD5727-F6F9-1CF0-B44E-213FF35E3098}"/>
              </a:ext>
            </a:extLst>
          </p:cNvPr>
          <p:cNvSpPr/>
          <p:nvPr/>
        </p:nvSpPr>
        <p:spPr>
          <a:xfrm>
            <a:off x="3019903" y="3821530"/>
            <a:ext cx="2315765" cy="160509"/>
          </a:xfrm>
          <a:prstGeom prst="rect">
            <a:avLst/>
          </a:prstGeom>
          <a:solidFill>
            <a:schemeClr val="tx2">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B0F579-0A54-DD53-9173-5EB68DA25391}"/>
              </a:ext>
            </a:extLst>
          </p:cNvPr>
          <p:cNvSpPr/>
          <p:nvPr/>
        </p:nvSpPr>
        <p:spPr>
          <a:xfrm>
            <a:off x="5444027" y="3483980"/>
            <a:ext cx="2315765" cy="160509"/>
          </a:xfrm>
          <a:prstGeom prst="rect">
            <a:avLst/>
          </a:prstGeom>
          <a:solidFill>
            <a:schemeClr val="bg2">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3B384AC-18E6-CA61-0EC4-2FDAF93C8FA7}"/>
              </a:ext>
            </a:extLst>
          </p:cNvPr>
          <p:cNvSpPr/>
          <p:nvPr/>
        </p:nvSpPr>
        <p:spPr>
          <a:xfrm>
            <a:off x="5444027" y="3821530"/>
            <a:ext cx="2315765" cy="160509"/>
          </a:xfrm>
          <a:prstGeom prst="rect">
            <a:avLst/>
          </a:prstGeom>
          <a:solidFill>
            <a:schemeClr val="bg2">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420894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2ACB74B6-B489-6D14-C3B2-05C1FAF2199E}"/>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A75B3ED5-44B1-B051-9EF0-7F70F2719B0D}"/>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Experiment Results – Quantitative Findings </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D99A429-8B70-8BC0-18F4-BE57F193B7D3}"/>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82F2ADFE-1E93-D52E-9591-4AF2E01A4BFE}"/>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3E2E3033-A5EA-56F0-DB68-2F748457D20B}"/>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66;p14">
            <a:extLst>
              <a:ext uri="{FF2B5EF4-FFF2-40B4-BE49-F238E27FC236}">
                <a16:creationId xmlns:a16="http://schemas.microsoft.com/office/drawing/2014/main" id="{ADAC7A8C-059F-6C4F-92D0-148C68336C15}"/>
              </a:ext>
            </a:extLst>
          </p:cNvPr>
          <p:cNvSpPr txBox="1">
            <a:spLocks noGrp="1"/>
          </p:cNvSpPr>
          <p:nvPr>
            <p:ph type="body" idx="1"/>
          </p:nvPr>
        </p:nvSpPr>
        <p:spPr>
          <a:xfrm>
            <a:off x="311700" y="1282074"/>
            <a:ext cx="8369300" cy="3695039"/>
          </a:xfrm>
          <a:prstGeom prst="rect">
            <a:avLst/>
          </a:prstGeom>
        </p:spPr>
        <p:txBody>
          <a:bodyPr spcFirstLastPara="1" wrap="square" lIns="91425" tIns="91425" rIns="91425" bIns="91425" anchor="t" anchorCtr="0">
            <a:normAutofit/>
          </a:bodyPr>
          <a:lstStyle/>
          <a:p>
            <a:pPr marL="0" indent="0">
              <a:spcAft>
                <a:spcPts val="1200"/>
              </a:spcAft>
              <a:buNone/>
            </a:pPr>
            <a:r>
              <a:rPr lang="en-US" sz="1400" b="1" dirty="0">
                <a:solidFill>
                  <a:srgbClr val="FFC000"/>
                </a:solidFill>
                <a:latin typeface="Calibri" panose="020F0502020204030204" pitchFamily="34" charset="0"/>
                <a:cs typeface="Calibri" panose="020F0502020204030204" pitchFamily="34" charset="0"/>
              </a:rPr>
              <a:t>Evaluation Metric</a:t>
            </a:r>
          </a:p>
          <a:p>
            <a:pPr marL="342900">
              <a:spcAft>
                <a:spcPts val="1200"/>
              </a:spcAft>
            </a:pPr>
            <a:r>
              <a:rPr lang="en-US" sz="1400" dirty="0">
                <a:solidFill>
                  <a:schemeClr val="bg1"/>
                </a:solidFill>
                <a:latin typeface="Calibri" panose="020F0502020204030204" pitchFamily="34" charset="0"/>
                <a:cs typeface="Calibri" panose="020F0502020204030204" pitchFamily="34" charset="0"/>
              </a:rPr>
              <a:t>Exact Match (EM) score is a strict, binary metric that measures the percentage of predictions where the predicted text span is identical to the ground-truth answer</a:t>
            </a:r>
          </a:p>
          <a:p>
            <a:pPr marL="342900">
              <a:spcAft>
                <a:spcPts val="1200"/>
              </a:spcAft>
            </a:pPr>
            <a:r>
              <a:rPr lang="en-US" sz="1400" dirty="0">
                <a:solidFill>
                  <a:schemeClr val="bg1"/>
                </a:solidFill>
                <a:latin typeface="Calibri" panose="020F0502020204030204" pitchFamily="34" charset="0"/>
                <a:cs typeface="Calibri" panose="020F0502020204030204" pitchFamily="34" charset="0"/>
              </a:rPr>
              <a:t>More than 1 acceptable answer (qualitative findings), punctuation marks</a:t>
            </a:r>
          </a:p>
          <a:p>
            <a:pPr marL="0" indent="0">
              <a:spcAft>
                <a:spcPts val="1200"/>
              </a:spcAft>
              <a:buNone/>
            </a:pPr>
            <a:r>
              <a:rPr lang="en-US" sz="1400" b="1" dirty="0">
                <a:solidFill>
                  <a:srgbClr val="FFC000"/>
                </a:solidFill>
                <a:latin typeface="Calibri" panose="020F0502020204030204" pitchFamily="34" charset="0"/>
                <a:cs typeface="Calibri" panose="020F0502020204030204" pitchFamily="34" charset="0"/>
              </a:rPr>
              <a:t>Influence of Answer Length on Prediction Performance</a:t>
            </a:r>
          </a:p>
          <a:p>
            <a:pPr marL="285750" indent="-285750">
              <a:spcAft>
                <a:spcPts val="1200"/>
              </a:spcAft>
            </a:pPr>
            <a:r>
              <a:rPr lang="en-US" sz="1400" dirty="0">
                <a:solidFill>
                  <a:schemeClr val="bg1"/>
                </a:solidFill>
                <a:latin typeface="Calibri" panose="020F0502020204030204" pitchFamily="34" charset="0"/>
                <a:cs typeface="Calibri" panose="020F0502020204030204" pitchFamily="34" charset="0"/>
              </a:rPr>
              <a:t>The answer length is negatively correlated with performance in EQA systems.</a:t>
            </a:r>
          </a:p>
          <a:p>
            <a:pPr marL="285750" indent="-285750">
              <a:spcAft>
                <a:spcPts val="1200"/>
              </a:spcAft>
            </a:pPr>
            <a:r>
              <a:rPr lang="en-US" sz="1400" dirty="0">
                <a:solidFill>
                  <a:schemeClr val="bg1"/>
                </a:solidFill>
                <a:latin typeface="Calibri" panose="020F0502020204030204" pitchFamily="34" charset="0"/>
                <a:cs typeface="Calibri" panose="020F0502020204030204" pitchFamily="34" charset="0"/>
              </a:rPr>
              <a:t>The negative correlation is described as a strong effect found in the analysis of </a:t>
            </a:r>
            <a:r>
              <a:rPr lang="en-US" sz="1400" dirty="0" err="1">
                <a:solidFill>
                  <a:schemeClr val="bg1"/>
                </a:solidFill>
                <a:latin typeface="Calibri" panose="020F0502020204030204" pitchFamily="34" charset="0"/>
                <a:cs typeface="Calibri" panose="020F0502020204030204" pitchFamily="34" charset="0"/>
              </a:rPr>
              <a:t>DistilBERT</a:t>
            </a:r>
            <a:r>
              <a:rPr lang="en-US" sz="1400" dirty="0">
                <a:solidFill>
                  <a:schemeClr val="bg1"/>
                </a:solidFill>
                <a:latin typeface="Calibri" panose="020F0502020204030204" pitchFamily="34" charset="0"/>
                <a:cs typeface="Calibri" panose="020F0502020204030204" pitchFamily="34" charset="0"/>
              </a:rPr>
              <a:t> on </a:t>
            </a:r>
            <a:r>
              <a:rPr lang="en-US" sz="1400" dirty="0" err="1">
                <a:solidFill>
                  <a:schemeClr val="bg1"/>
                </a:solidFill>
                <a:latin typeface="Calibri" panose="020F0502020204030204" pitchFamily="34" charset="0"/>
                <a:cs typeface="Calibri" panose="020F0502020204030204" pitchFamily="34" charset="0"/>
              </a:rPr>
              <a:t>SQuAD</a:t>
            </a:r>
            <a:r>
              <a:rPr lang="en-US" sz="1400" dirty="0">
                <a:solidFill>
                  <a:schemeClr val="bg1"/>
                </a:solidFill>
                <a:latin typeface="Calibri" panose="020F0502020204030204" pitchFamily="34" charset="0"/>
                <a:cs typeface="Calibri" panose="020F0502020204030204" pitchFamily="34" charset="0"/>
              </a:rPr>
              <a:t> data.</a:t>
            </a:r>
          </a:p>
          <a:p>
            <a:pPr marL="285750" indent="-285750">
              <a:spcAft>
                <a:spcPts val="1200"/>
              </a:spcAft>
            </a:pPr>
            <a:r>
              <a:rPr lang="en-US" sz="1400" dirty="0">
                <a:solidFill>
                  <a:schemeClr val="bg1"/>
                </a:solidFill>
                <a:latin typeface="Calibri" panose="020F0502020204030204" pitchFamily="34" charset="0"/>
                <a:cs typeface="Calibri" panose="020F0502020204030204" pitchFamily="34" charset="0"/>
              </a:rPr>
              <a:t>Specifically, going from an answer length of 1 to an answer length of 5 reduces the exact match by almost a factor of 2 (</a:t>
            </a:r>
            <a:r>
              <a:rPr lang="en-US" sz="1400" dirty="0" err="1">
                <a:solidFill>
                  <a:schemeClr val="bg1"/>
                </a:solidFill>
                <a:latin typeface="Calibri" panose="020F0502020204030204" pitchFamily="34" charset="0"/>
                <a:cs typeface="Calibri" panose="020F0502020204030204" pitchFamily="34" charset="0"/>
              </a:rPr>
              <a:t>Farea</a:t>
            </a:r>
            <a:r>
              <a:rPr lang="en-US" sz="1400" dirty="0">
                <a:solidFill>
                  <a:schemeClr val="bg1"/>
                </a:solidFill>
                <a:latin typeface="Calibri" panose="020F0502020204030204" pitchFamily="34" charset="0"/>
                <a:cs typeface="Calibri" panose="020F0502020204030204" pitchFamily="34" charset="0"/>
              </a:rPr>
              <a:t> et al., 2024).</a:t>
            </a:r>
            <a:endParaRPr lang="en-US" sz="900" dirty="0">
              <a:solidFill>
                <a:schemeClr val="l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2169797"/>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841638B8-0894-B6F1-DAFA-D8CDAF6350F5}"/>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CC69780F-BCE4-8009-AEE3-988290D5E86B}"/>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Experiment Results – Qualitative Findings</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08F9784F-F873-F28D-F419-F01FF9807839}"/>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32B6DC5A-62C3-4114-9C82-1FC3BE47F88D}"/>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3B358E1C-0FBE-605F-BB48-5A7929FD5BC2}"/>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pic>
        <p:nvPicPr>
          <p:cNvPr id="3" name="Picture 2">
            <a:extLst>
              <a:ext uri="{FF2B5EF4-FFF2-40B4-BE49-F238E27FC236}">
                <a16:creationId xmlns:a16="http://schemas.microsoft.com/office/drawing/2014/main" id="{687B4ABA-0C7B-106F-1D61-37043C42611D}"/>
              </a:ext>
            </a:extLst>
          </p:cNvPr>
          <p:cNvPicPr>
            <a:picLocks noChangeAspect="1"/>
          </p:cNvPicPr>
          <p:nvPr/>
        </p:nvPicPr>
        <p:blipFill>
          <a:blip r:embed="rId5"/>
          <a:stretch>
            <a:fillRect/>
          </a:stretch>
        </p:blipFill>
        <p:spPr>
          <a:xfrm>
            <a:off x="311700" y="1180575"/>
            <a:ext cx="4495800" cy="3517900"/>
          </a:xfrm>
          <a:prstGeom prst="rect">
            <a:avLst/>
          </a:prstGeom>
        </p:spPr>
      </p:pic>
      <p:sp>
        <p:nvSpPr>
          <p:cNvPr id="11" name="Google Shape;66;p14">
            <a:extLst>
              <a:ext uri="{FF2B5EF4-FFF2-40B4-BE49-F238E27FC236}">
                <a16:creationId xmlns:a16="http://schemas.microsoft.com/office/drawing/2014/main" id="{80A00085-CD88-236C-12A6-7513D8717255}"/>
              </a:ext>
            </a:extLst>
          </p:cNvPr>
          <p:cNvSpPr txBox="1">
            <a:spLocks noGrp="1"/>
          </p:cNvSpPr>
          <p:nvPr>
            <p:ph type="body" idx="1"/>
          </p:nvPr>
        </p:nvSpPr>
        <p:spPr>
          <a:xfrm>
            <a:off x="4883150" y="1204566"/>
            <a:ext cx="4202398" cy="3517900"/>
          </a:xfrm>
          <a:prstGeom prst="rect">
            <a:avLst/>
          </a:prstGeom>
        </p:spPr>
        <p:txBody>
          <a:bodyPr spcFirstLastPara="1" wrap="square" lIns="91425" tIns="91425" rIns="91425" bIns="91425" anchor="t" anchorCtr="0">
            <a:normAutofit/>
          </a:bodyPr>
          <a:lstStyle/>
          <a:p>
            <a:pPr marL="285750" indent="-285750">
              <a:spcAft>
                <a:spcPts val="1200"/>
              </a:spcAft>
            </a:pPr>
            <a:r>
              <a:rPr lang="en-US" sz="2000" b="1" dirty="0">
                <a:solidFill>
                  <a:schemeClr val="lt1"/>
                </a:solidFill>
                <a:latin typeface="Calibri" panose="020F0502020204030204" pitchFamily="34" charset="0"/>
                <a:cs typeface="Calibri" panose="020F0502020204030204" pitchFamily="34" charset="0"/>
              </a:rPr>
              <a:t>What is the single best sentence that provides a neutral, factual description of the target undertaking’s core business?</a:t>
            </a:r>
          </a:p>
          <a:p>
            <a:pPr marL="742950" lvl="1" indent="-285750">
              <a:spcAft>
                <a:spcPts val="1200"/>
              </a:spcAft>
            </a:pPr>
            <a:r>
              <a:rPr lang="en-US" sz="1600" dirty="0">
                <a:solidFill>
                  <a:schemeClr val="lt1"/>
                </a:solidFill>
                <a:latin typeface="Calibri" panose="020F0502020204030204" pitchFamily="34" charset="0"/>
                <a:cs typeface="Calibri" panose="020F0502020204030204" pitchFamily="34" charset="0"/>
              </a:rPr>
              <a:t>Abundance of information</a:t>
            </a:r>
          </a:p>
          <a:p>
            <a:pPr marL="742950" lvl="1" indent="-285750">
              <a:spcAft>
                <a:spcPts val="1200"/>
              </a:spcAft>
            </a:pPr>
            <a:r>
              <a:rPr lang="en-US" sz="1600" dirty="0">
                <a:solidFill>
                  <a:schemeClr val="lt1"/>
                </a:solidFill>
                <a:latin typeface="Calibri" panose="020F0502020204030204" pitchFamily="34" charset="0"/>
                <a:cs typeface="Calibri" panose="020F0502020204030204" pitchFamily="34" charset="0"/>
              </a:rPr>
              <a:t>A direct result of being constrained to single best-sentence</a:t>
            </a:r>
          </a:p>
          <a:p>
            <a:pPr marL="0" lvl="0" indent="0" algn="l" rtl="0">
              <a:spcBef>
                <a:spcPts val="0"/>
              </a:spcBef>
              <a:spcAft>
                <a:spcPts val="1200"/>
              </a:spcAft>
              <a:buNone/>
            </a:pPr>
            <a:endParaRPr lang="en-US" sz="2000"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lang="en-US" sz="2000" i="1"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sz="2000" dirty="0">
              <a:solidFill>
                <a:schemeClr val="l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1186929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A4EAA5E0-4F13-6959-DF52-C345F73D0D47}"/>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6C195800-DA9C-6D2D-87E7-66BFAAD940E3}"/>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Experiment Results – Qualitative Findings</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01651745-9455-BCEE-71A8-40F9B0A01703}"/>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670BE915-85CE-6F95-88AD-52AEF58A7B86}"/>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232F4BCC-0A55-FDB7-930E-622AB6E66107}"/>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66;p14">
            <a:extLst>
              <a:ext uri="{FF2B5EF4-FFF2-40B4-BE49-F238E27FC236}">
                <a16:creationId xmlns:a16="http://schemas.microsoft.com/office/drawing/2014/main" id="{993433DF-9B91-279D-D6D8-02D39FC21E14}"/>
              </a:ext>
            </a:extLst>
          </p:cNvPr>
          <p:cNvSpPr txBox="1">
            <a:spLocks noGrp="1"/>
          </p:cNvSpPr>
          <p:nvPr>
            <p:ph type="body" idx="1"/>
          </p:nvPr>
        </p:nvSpPr>
        <p:spPr>
          <a:xfrm>
            <a:off x="4883150" y="1204566"/>
            <a:ext cx="4202398" cy="3517900"/>
          </a:xfrm>
          <a:prstGeom prst="rect">
            <a:avLst/>
          </a:prstGeom>
        </p:spPr>
        <p:txBody>
          <a:bodyPr spcFirstLastPara="1" wrap="square" lIns="91425" tIns="91425" rIns="91425" bIns="91425" anchor="t" anchorCtr="0">
            <a:normAutofit fontScale="92500"/>
          </a:bodyPr>
          <a:lstStyle/>
          <a:p>
            <a:pPr marL="285750" indent="-285750">
              <a:spcAft>
                <a:spcPts val="1200"/>
              </a:spcAft>
            </a:pPr>
            <a:r>
              <a:rPr lang="en-US" sz="2000" b="1" dirty="0">
                <a:solidFill>
                  <a:schemeClr val="lt1"/>
                </a:solidFill>
                <a:latin typeface="Calibri" panose="020F0502020204030204" pitchFamily="34" charset="0"/>
                <a:cs typeface="Calibri" panose="020F0502020204030204" pitchFamily="34" charset="0"/>
              </a:rPr>
              <a:t>What is the single best sentence that provides a neutral, factual description of the target undertaking’s core business?</a:t>
            </a:r>
          </a:p>
          <a:p>
            <a:pPr marL="742950" lvl="1" indent="-285750">
              <a:spcAft>
                <a:spcPts val="1200"/>
              </a:spcAft>
            </a:pPr>
            <a:r>
              <a:rPr lang="en-US" sz="1600" dirty="0">
                <a:solidFill>
                  <a:schemeClr val="lt1"/>
                </a:solidFill>
                <a:latin typeface="Calibri" panose="020F0502020204030204" pitchFamily="34" charset="0"/>
                <a:cs typeface="Calibri" panose="020F0502020204030204" pitchFamily="34" charset="0"/>
              </a:rPr>
              <a:t>Relevant sentence, but not for this question</a:t>
            </a:r>
          </a:p>
          <a:p>
            <a:pPr marL="742950" lvl="1" indent="-285750">
              <a:spcAft>
                <a:spcPts val="1200"/>
              </a:spcAft>
            </a:pPr>
            <a:r>
              <a:rPr lang="en-US" sz="1500" dirty="0">
                <a:solidFill>
                  <a:schemeClr val="lt1"/>
                </a:solidFill>
                <a:latin typeface="Calibri" panose="020F0502020204030204" pitchFamily="34" charset="0"/>
                <a:cs typeface="Calibri" panose="020F0502020204030204" pitchFamily="34" charset="0"/>
              </a:rPr>
              <a:t>Our analysis of the 152-decision corpus revealed that only four decisions contained an explicit sentence that both discussed and confirmed the market nexus condition.</a:t>
            </a:r>
          </a:p>
          <a:p>
            <a:pPr marL="742950" lvl="1" indent="-285750">
              <a:spcAft>
                <a:spcPts val="1200"/>
              </a:spcAft>
            </a:pPr>
            <a:endParaRPr lang="en-US" sz="2000"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lang="en-US" sz="2000" i="1"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sz="2000" dirty="0">
              <a:solidFill>
                <a:schemeClr val="lt1"/>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88944E29-A478-4F8C-C946-D7BCE53BB05D}"/>
              </a:ext>
            </a:extLst>
          </p:cNvPr>
          <p:cNvPicPr>
            <a:picLocks noChangeAspect="1"/>
          </p:cNvPicPr>
          <p:nvPr/>
        </p:nvPicPr>
        <p:blipFill>
          <a:blip r:embed="rId5"/>
          <a:stretch>
            <a:fillRect/>
          </a:stretch>
        </p:blipFill>
        <p:spPr>
          <a:xfrm>
            <a:off x="387350" y="1039466"/>
            <a:ext cx="4305300" cy="3848100"/>
          </a:xfrm>
          <a:prstGeom prst="rect">
            <a:avLst/>
          </a:prstGeom>
        </p:spPr>
      </p:pic>
    </p:spTree>
    <p:extLst>
      <p:ext uri="{BB962C8B-B14F-4D97-AF65-F5344CB8AC3E}">
        <p14:creationId xmlns:p14="http://schemas.microsoft.com/office/powerpoint/2010/main" val="2171309714"/>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42F1F1D9-977C-6D0F-6303-D12915704495}"/>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CC0FFA21-9FCF-9221-021B-6399621B1E6E}"/>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Experiment Results – Qualitative Findings</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36ADB844-C570-BCB9-3E70-E3118951C7DF}"/>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DBF02CB0-4435-3C81-F9A9-DE05B4E29B2E}"/>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CFA789C2-4A87-D2AC-01DA-C07B140DC75A}"/>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66;p14">
            <a:extLst>
              <a:ext uri="{FF2B5EF4-FFF2-40B4-BE49-F238E27FC236}">
                <a16:creationId xmlns:a16="http://schemas.microsoft.com/office/drawing/2014/main" id="{0576C7DC-B429-FD84-B453-6E93F34C8B24}"/>
              </a:ext>
            </a:extLst>
          </p:cNvPr>
          <p:cNvSpPr txBox="1">
            <a:spLocks noGrp="1"/>
          </p:cNvSpPr>
          <p:nvPr>
            <p:ph type="body" idx="1"/>
          </p:nvPr>
        </p:nvSpPr>
        <p:spPr>
          <a:xfrm>
            <a:off x="4883150" y="1204566"/>
            <a:ext cx="4202398" cy="3517900"/>
          </a:xfrm>
          <a:prstGeom prst="rect">
            <a:avLst/>
          </a:prstGeom>
        </p:spPr>
        <p:txBody>
          <a:bodyPr spcFirstLastPara="1" wrap="square" lIns="91425" tIns="91425" rIns="91425" bIns="91425" anchor="t" anchorCtr="0">
            <a:normAutofit/>
          </a:bodyPr>
          <a:lstStyle/>
          <a:p>
            <a:pPr marL="285750" indent="-285750">
              <a:spcAft>
                <a:spcPts val="1200"/>
              </a:spcAft>
            </a:pPr>
            <a:r>
              <a:rPr lang="en-US" sz="2000" b="1" dirty="0">
                <a:solidFill>
                  <a:schemeClr val="lt1"/>
                </a:solidFill>
                <a:latin typeface="Calibri" panose="020F0502020204030204" pitchFamily="34" charset="0"/>
                <a:cs typeface="Calibri" panose="020F0502020204030204" pitchFamily="34" charset="0"/>
              </a:rPr>
              <a:t>What is the exact sentence that establishes the target undertaking’s nexus to the Turkish market?</a:t>
            </a:r>
          </a:p>
          <a:p>
            <a:pPr marL="742950" lvl="1" indent="-285750">
              <a:spcAft>
                <a:spcPts val="1200"/>
              </a:spcAft>
            </a:pPr>
            <a:r>
              <a:rPr lang="en-US" sz="1600" dirty="0">
                <a:solidFill>
                  <a:schemeClr val="lt1"/>
                </a:solidFill>
                <a:latin typeface="Calibri" panose="020F0502020204030204" pitchFamily="34" charset="0"/>
                <a:cs typeface="Calibri" panose="020F0502020204030204" pitchFamily="34" charset="0"/>
              </a:rPr>
              <a:t>Contextually plausible but not the one we are looking for.</a:t>
            </a:r>
          </a:p>
          <a:p>
            <a:pPr marL="742950" lvl="1" indent="-285750">
              <a:spcAft>
                <a:spcPts val="1200"/>
              </a:spcAft>
            </a:pPr>
            <a:endParaRPr lang="en-US" sz="2000"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lang="en-US" sz="2000" i="1"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sz="2000" dirty="0">
              <a:solidFill>
                <a:schemeClr val="lt1"/>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D8667A97-EB56-2D71-9B70-05F3AE917289}"/>
              </a:ext>
            </a:extLst>
          </p:cNvPr>
          <p:cNvPicPr>
            <a:picLocks noChangeAspect="1"/>
          </p:cNvPicPr>
          <p:nvPr/>
        </p:nvPicPr>
        <p:blipFill>
          <a:blip r:embed="rId5"/>
          <a:stretch>
            <a:fillRect/>
          </a:stretch>
        </p:blipFill>
        <p:spPr>
          <a:xfrm>
            <a:off x="778853" y="942202"/>
            <a:ext cx="3410216" cy="4042627"/>
          </a:xfrm>
          <a:prstGeom prst="rect">
            <a:avLst/>
          </a:prstGeom>
        </p:spPr>
      </p:pic>
    </p:spTree>
    <p:extLst>
      <p:ext uri="{BB962C8B-B14F-4D97-AF65-F5344CB8AC3E}">
        <p14:creationId xmlns:p14="http://schemas.microsoft.com/office/powerpoint/2010/main" val="134968047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8F0AD6F7-3A4C-5AFB-5955-50D24FEAAE84}"/>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6A7C0777-E2DD-321E-A410-9DAAEA5E9C3F}"/>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Experiment Results – Qualitative Findings</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C9F6D659-E35A-C70B-5659-FFDB39A2C3E1}"/>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107A9C9A-7D46-BD57-6CBE-1B73D3C4A55C}"/>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E4D2FC87-5ABE-A5AA-7F44-6D0B0E7AB5ED}"/>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pic>
        <p:nvPicPr>
          <p:cNvPr id="2" name="Picture 1">
            <a:extLst>
              <a:ext uri="{FF2B5EF4-FFF2-40B4-BE49-F238E27FC236}">
                <a16:creationId xmlns:a16="http://schemas.microsoft.com/office/drawing/2014/main" id="{EF899A8E-9D95-2E2B-083A-E659B5B70673}"/>
              </a:ext>
            </a:extLst>
          </p:cNvPr>
          <p:cNvPicPr>
            <a:picLocks noChangeAspect="1"/>
          </p:cNvPicPr>
          <p:nvPr/>
        </p:nvPicPr>
        <p:blipFill>
          <a:blip r:embed="rId5"/>
          <a:stretch>
            <a:fillRect/>
          </a:stretch>
        </p:blipFill>
        <p:spPr>
          <a:xfrm>
            <a:off x="510918" y="1204566"/>
            <a:ext cx="3873501" cy="3380178"/>
          </a:xfrm>
          <a:prstGeom prst="rect">
            <a:avLst/>
          </a:prstGeom>
        </p:spPr>
      </p:pic>
      <p:sp>
        <p:nvSpPr>
          <p:cNvPr id="8" name="Google Shape;66;p14">
            <a:extLst>
              <a:ext uri="{FF2B5EF4-FFF2-40B4-BE49-F238E27FC236}">
                <a16:creationId xmlns:a16="http://schemas.microsoft.com/office/drawing/2014/main" id="{FEAF94FB-1291-506E-6EC7-C2DBABAADE20}"/>
              </a:ext>
            </a:extLst>
          </p:cNvPr>
          <p:cNvSpPr txBox="1">
            <a:spLocks/>
          </p:cNvSpPr>
          <p:nvPr/>
        </p:nvSpPr>
        <p:spPr>
          <a:xfrm>
            <a:off x="4883150" y="1204566"/>
            <a:ext cx="4202398" cy="3517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3"/>
              </a:buClr>
              <a:buSzPts val="1800"/>
              <a:buFont typeface="Proxima Nova"/>
              <a:buChar char="●"/>
              <a:defRPr sz="1800" b="0" i="0" u="none" strike="noStrike" cap="none">
                <a:solidFill>
                  <a:schemeClr val="accent3"/>
                </a:solidFill>
                <a:latin typeface="Proxima Nova"/>
                <a:ea typeface="Proxima Nova"/>
                <a:cs typeface="Proxima Nova"/>
                <a:sym typeface="Proxima Nova"/>
              </a:defRPr>
            </a:lvl1pPr>
            <a:lvl2pPr marL="914400" marR="0" lvl="1"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2pPr>
            <a:lvl3pPr marL="1371600" marR="0" lvl="2"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3pPr>
            <a:lvl4pPr marL="1828800" marR="0" lvl="3"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4pPr>
            <a:lvl5pPr marL="2286000" marR="0" lvl="4"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5pPr>
            <a:lvl6pPr marL="2743200" marR="0" lvl="5"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6pPr>
            <a:lvl7pPr marL="3200400" marR="0" lvl="6"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7pPr>
            <a:lvl8pPr marL="3657600" marR="0" lvl="7"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8pPr>
            <a:lvl9pPr marL="4114800" marR="0" lvl="8"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9pPr>
          </a:lstStyle>
          <a:p>
            <a:pPr marL="285750" indent="-285750">
              <a:spcAft>
                <a:spcPts val="1200"/>
              </a:spcAft>
            </a:pPr>
            <a:r>
              <a:rPr lang="en-US" sz="2000" b="1" dirty="0">
                <a:solidFill>
                  <a:schemeClr val="lt1"/>
                </a:solidFill>
                <a:latin typeface="Calibri" panose="020F0502020204030204" pitchFamily="34" charset="0"/>
                <a:cs typeface="Calibri" panose="020F0502020204030204" pitchFamily="34" charset="0"/>
              </a:rPr>
              <a:t>What is the exact sentence that establishes the target undertaking’s nexus to the Turkish market?</a:t>
            </a:r>
          </a:p>
          <a:p>
            <a:pPr marL="742950" lvl="1" indent="-285750">
              <a:spcAft>
                <a:spcPts val="1200"/>
              </a:spcAft>
            </a:pPr>
            <a:r>
              <a:rPr lang="en-US" sz="1600" dirty="0">
                <a:solidFill>
                  <a:schemeClr val="lt1"/>
                </a:solidFill>
                <a:latin typeface="Calibri" panose="020F0502020204030204" pitchFamily="34" charset="0"/>
                <a:cs typeface="Calibri" panose="020F0502020204030204" pitchFamily="34" charset="0"/>
              </a:rPr>
              <a:t>Contextually plausible but not the one we are looking for.</a:t>
            </a:r>
          </a:p>
          <a:p>
            <a:pPr marL="742950" lvl="1" indent="-285750">
              <a:spcAft>
                <a:spcPts val="1200"/>
              </a:spcAft>
            </a:pPr>
            <a:endParaRPr lang="en-US" sz="2000" dirty="0">
              <a:solidFill>
                <a:schemeClr val="lt1"/>
              </a:solidFill>
              <a:latin typeface="Calibri" panose="020F0502020204030204" pitchFamily="34" charset="0"/>
              <a:cs typeface="Calibri" panose="020F0502020204030204" pitchFamily="34" charset="0"/>
            </a:endParaRPr>
          </a:p>
          <a:p>
            <a:pPr marL="0" indent="0">
              <a:spcAft>
                <a:spcPts val="1200"/>
              </a:spcAft>
              <a:buFont typeface="Proxima Nova"/>
              <a:buNone/>
            </a:pPr>
            <a:endParaRPr lang="en-US" sz="2000" i="1" dirty="0">
              <a:solidFill>
                <a:schemeClr val="lt1"/>
              </a:solidFill>
              <a:latin typeface="Calibri" panose="020F0502020204030204" pitchFamily="34" charset="0"/>
              <a:cs typeface="Calibri" panose="020F0502020204030204" pitchFamily="34" charset="0"/>
            </a:endParaRPr>
          </a:p>
          <a:p>
            <a:pPr marL="0" indent="0">
              <a:spcAft>
                <a:spcPts val="1200"/>
              </a:spcAft>
              <a:buFont typeface="Proxima Nova"/>
              <a:buNone/>
            </a:pPr>
            <a:endParaRPr lang="en-US" sz="2000" dirty="0">
              <a:solidFill>
                <a:schemeClr val="l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23320046"/>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
          <a:extLst>
            <a:ext uri="{FF2B5EF4-FFF2-40B4-BE49-F238E27FC236}">
              <a16:creationId xmlns:a16="http://schemas.microsoft.com/office/drawing/2014/main" id="{4570BDC5-0222-0D09-A6B9-2E2C1CB6C42D}"/>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32888A6E-BB01-B903-7635-C4549610C878}"/>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bg1"/>
                </a:solidFill>
                <a:latin typeface="Calibri" panose="020F0502020204030204" pitchFamily="34" charset="0"/>
                <a:cs typeface="Calibri" panose="020F0502020204030204" pitchFamily="34" charset="0"/>
              </a:rPr>
              <a:t>Limitation and Future Work</a:t>
            </a:r>
            <a:endParaRPr b="1"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F6FACA0-DCA9-F88C-7A90-05EA1F59FA2C}"/>
              </a:ext>
            </a:extLst>
          </p:cNvPr>
          <p:cNvPicPr>
            <a:picLocks noChangeAspect="1"/>
          </p:cNvPicPr>
          <p:nvPr/>
        </p:nvPicPr>
        <p:blipFill>
          <a:blip r:embed="rId3"/>
          <a:stretch>
            <a:fillRect/>
          </a:stretch>
        </p:blipFill>
        <p:spPr>
          <a:xfrm>
            <a:off x="58452" y="28718"/>
            <a:ext cx="2115375" cy="426355"/>
          </a:xfrm>
          <a:prstGeom prst="rect">
            <a:avLst/>
          </a:prstGeom>
        </p:spPr>
      </p:pic>
      <p:pic>
        <p:nvPicPr>
          <p:cNvPr id="5" name="Picture 4" descr="A logo with lines and dots&#10;&#10;Description automatically generated">
            <a:extLst>
              <a:ext uri="{FF2B5EF4-FFF2-40B4-BE49-F238E27FC236}">
                <a16:creationId xmlns:a16="http://schemas.microsoft.com/office/drawing/2014/main" id="{BC98E9E1-CEFF-8D50-5DF0-921731119D54}"/>
              </a:ext>
            </a:extLst>
          </p:cNvPr>
          <p:cNvPicPr>
            <a:picLocks noChangeAspect="1"/>
          </p:cNvPicPr>
          <p:nvPr/>
        </p:nvPicPr>
        <p:blipFill>
          <a:blip r:embed="rId4"/>
          <a:stretch>
            <a:fillRect/>
          </a:stretch>
        </p:blipFill>
        <p:spPr>
          <a:xfrm>
            <a:off x="8579052" y="49800"/>
            <a:ext cx="506496" cy="465567"/>
          </a:xfrm>
          <a:prstGeom prst="rect">
            <a:avLst/>
          </a:prstGeom>
        </p:spPr>
      </p:pic>
      <p:sp>
        <p:nvSpPr>
          <p:cNvPr id="15" name="AutoShape 4">
            <a:extLst>
              <a:ext uri="{FF2B5EF4-FFF2-40B4-BE49-F238E27FC236}">
                <a16:creationId xmlns:a16="http://schemas.microsoft.com/office/drawing/2014/main" id="{4B605102-51CC-3CBC-A029-9A26FC3CD64B}"/>
              </a:ext>
            </a:extLst>
          </p:cNvPr>
          <p:cNvSpPr>
            <a:spLocks noChangeAspect="1" noChangeArrowheads="1"/>
          </p:cNvSpPr>
          <p:nvPr/>
        </p:nvSpPr>
        <p:spPr bwMode="auto">
          <a:xfrm>
            <a:off x="387350" y="387350"/>
            <a:ext cx="8369300" cy="4368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66;p14">
            <a:extLst>
              <a:ext uri="{FF2B5EF4-FFF2-40B4-BE49-F238E27FC236}">
                <a16:creationId xmlns:a16="http://schemas.microsoft.com/office/drawing/2014/main" id="{0E9A002C-F13E-C969-B125-8FA505F1A24B}"/>
              </a:ext>
            </a:extLst>
          </p:cNvPr>
          <p:cNvSpPr txBox="1">
            <a:spLocks noGrp="1"/>
          </p:cNvSpPr>
          <p:nvPr>
            <p:ph type="body" idx="1"/>
          </p:nvPr>
        </p:nvSpPr>
        <p:spPr>
          <a:xfrm>
            <a:off x="387350" y="1295925"/>
            <a:ext cx="8191702" cy="3517900"/>
          </a:xfrm>
          <a:prstGeom prst="rect">
            <a:avLst/>
          </a:prstGeom>
        </p:spPr>
        <p:txBody>
          <a:bodyPr spcFirstLastPara="1" wrap="square" lIns="91425" tIns="91425" rIns="91425" bIns="91425" anchor="t" anchorCtr="0">
            <a:normAutofit/>
          </a:bodyPr>
          <a:lstStyle/>
          <a:p>
            <a:pPr marL="457200" lvl="1" indent="0">
              <a:spcAft>
                <a:spcPts val="1200"/>
              </a:spcAft>
              <a:buNone/>
            </a:pPr>
            <a:endParaRPr lang="en-US" sz="2000"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lang="en-US" sz="2000" i="1" dirty="0">
              <a:solidFill>
                <a:schemeClr val="lt1"/>
              </a:solidFill>
              <a:latin typeface="Calibri" panose="020F0502020204030204" pitchFamily="34" charset="0"/>
              <a:cs typeface="Calibri" panose="020F0502020204030204" pitchFamily="34" charset="0"/>
            </a:endParaRPr>
          </a:p>
          <a:p>
            <a:pPr marL="0" lvl="0" indent="0" algn="l" rtl="0">
              <a:spcBef>
                <a:spcPts val="0"/>
              </a:spcBef>
              <a:spcAft>
                <a:spcPts val="1200"/>
              </a:spcAft>
              <a:buNone/>
            </a:pPr>
            <a:endParaRPr sz="2000" dirty="0">
              <a:solidFill>
                <a:schemeClr val="lt1"/>
              </a:solidFill>
              <a:latin typeface="Calibri" panose="020F0502020204030204" pitchFamily="34" charset="0"/>
              <a:cs typeface="Calibri" panose="020F0502020204030204" pitchFamily="34" charset="0"/>
            </a:endParaRPr>
          </a:p>
        </p:txBody>
      </p:sp>
      <p:graphicFrame>
        <p:nvGraphicFramePr>
          <p:cNvPr id="10" name="Diagram 9">
            <a:extLst>
              <a:ext uri="{FF2B5EF4-FFF2-40B4-BE49-F238E27FC236}">
                <a16:creationId xmlns:a16="http://schemas.microsoft.com/office/drawing/2014/main" id="{60698965-3C6A-78C7-2C10-5D109302E3B3}"/>
              </a:ext>
            </a:extLst>
          </p:cNvPr>
          <p:cNvGraphicFramePr/>
          <p:nvPr>
            <p:extLst>
              <p:ext uri="{D42A27DB-BD31-4B8C-83A1-F6EECF244321}">
                <p14:modId xmlns:p14="http://schemas.microsoft.com/office/powerpoint/2010/main" val="1234477343"/>
              </p:ext>
            </p:extLst>
          </p:nvPr>
        </p:nvGraphicFramePr>
        <p:xfrm>
          <a:off x="840258" y="1238250"/>
          <a:ext cx="7463484" cy="346022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51977928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2531904" y="2285400"/>
            <a:ext cx="3787873" cy="1114674"/>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b="1" dirty="0">
                <a:solidFill>
                  <a:schemeClr val="bg1"/>
                </a:solidFill>
                <a:latin typeface="Calibri" panose="020F0502020204030204" pitchFamily="34" charset="0"/>
                <a:cs typeface="Calibri" panose="020F0502020204030204" pitchFamily="34" charset="0"/>
              </a:rPr>
              <a:t>Thanks for listening.</a:t>
            </a:r>
            <a:br>
              <a:rPr lang="en" b="1" dirty="0">
                <a:solidFill>
                  <a:schemeClr val="bg1"/>
                </a:solidFill>
                <a:latin typeface="Calibri" panose="020F0502020204030204" pitchFamily="34" charset="0"/>
                <a:cs typeface="Calibri" panose="020F0502020204030204" pitchFamily="34" charset="0"/>
              </a:rPr>
            </a:br>
            <a:r>
              <a:rPr lang="en" b="1" dirty="0">
                <a:solidFill>
                  <a:schemeClr val="bg1"/>
                </a:solidFill>
                <a:latin typeface="Calibri" panose="020F0502020204030204" pitchFamily="34" charset="0"/>
                <a:cs typeface="Calibri" panose="020F0502020204030204" pitchFamily="34" charset="0"/>
              </a:rPr>
              <a:t>Q&amp;A?</a:t>
            </a:r>
            <a:endParaRPr b="1" dirty="0">
              <a:solidFill>
                <a:schemeClr val="bg1"/>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B5D4488F-6ECF-6260-5CF0-AF2B1F2BADC8}"/>
              </a:ext>
            </a:extLst>
          </p:cNvPr>
          <p:cNvPicPr>
            <a:picLocks noChangeAspect="1"/>
          </p:cNvPicPr>
          <p:nvPr/>
        </p:nvPicPr>
        <p:blipFill>
          <a:blip r:embed="rId3"/>
          <a:stretch>
            <a:fillRect/>
          </a:stretch>
        </p:blipFill>
        <p:spPr>
          <a:xfrm>
            <a:off x="846208" y="825434"/>
            <a:ext cx="3311301" cy="667394"/>
          </a:xfrm>
          <a:prstGeom prst="rect">
            <a:avLst/>
          </a:prstGeom>
        </p:spPr>
      </p:pic>
      <p:pic>
        <p:nvPicPr>
          <p:cNvPr id="3" name="Picture 2" descr="A logo with lines and dots&#10;&#10;Description automatically generated">
            <a:extLst>
              <a:ext uri="{FF2B5EF4-FFF2-40B4-BE49-F238E27FC236}">
                <a16:creationId xmlns:a16="http://schemas.microsoft.com/office/drawing/2014/main" id="{366D5C5F-168C-3F9B-A6E0-62D7796B8858}"/>
              </a:ext>
            </a:extLst>
          </p:cNvPr>
          <p:cNvPicPr>
            <a:picLocks noChangeAspect="1"/>
          </p:cNvPicPr>
          <p:nvPr/>
        </p:nvPicPr>
        <p:blipFill>
          <a:blip r:embed="rId4"/>
          <a:stretch>
            <a:fillRect/>
          </a:stretch>
        </p:blipFill>
        <p:spPr>
          <a:xfrm>
            <a:off x="4260515" y="774183"/>
            <a:ext cx="837580" cy="769896"/>
          </a:xfrm>
          <a:prstGeom prst="rect">
            <a:avLst/>
          </a:prstGeom>
        </p:spPr>
      </p:pic>
      <p:pic>
        <p:nvPicPr>
          <p:cNvPr id="5" name="Picture 4" descr="A purple circle with white text&#10;&#10;Description automatically generated">
            <a:extLst>
              <a:ext uri="{FF2B5EF4-FFF2-40B4-BE49-F238E27FC236}">
                <a16:creationId xmlns:a16="http://schemas.microsoft.com/office/drawing/2014/main" id="{64C95FA8-59DD-8675-D8D7-3D709C30C43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3167" b="96500" l="2500" r="97667">
                        <a14:foregroundMark x1="59833" y1="6000" x2="50667" y2="15000"/>
                        <a14:foregroundMark x1="50667" y1="15000" x2="50667" y2="15167"/>
                        <a14:foregroundMark x1="52833" y1="3333" x2="52833" y2="3333"/>
                        <a14:foregroundMark x1="76167" y1="41000" x2="16167" y2="44333"/>
                        <a14:foregroundMark x1="16167" y1="44333" x2="10167" y2="55667"/>
                        <a14:foregroundMark x1="10167" y1="55667" x2="39667" y2="60500"/>
                        <a14:foregroundMark x1="39667" y1="60500" x2="55167" y2="60167"/>
                        <a14:foregroundMark x1="55167" y1="60167" x2="83167" y2="60333"/>
                        <a14:foregroundMark x1="83167" y1="60333" x2="94000" y2="67667"/>
                        <a14:foregroundMark x1="94000" y1="67667" x2="12333" y2="69667"/>
                        <a14:foregroundMark x1="12333" y1="69667" x2="18667" y2="55167"/>
                        <a14:foregroundMark x1="18667" y1="55167" x2="31667" y2="48333"/>
                        <a14:foregroundMark x1="31667" y1="48333" x2="49500" y2="50333"/>
                        <a14:foregroundMark x1="49500" y1="50333" x2="64667" y2="49667"/>
                        <a14:foregroundMark x1="64667" y1="49667" x2="77333" y2="52000"/>
                        <a14:foregroundMark x1="77333" y1="52000" x2="89667" y2="50167"/>
                        <a14:foregroundMark x1="94833" y1="54667" x2="92000" y2="68667"/>
                        <a14:foregroundMark x1="92000" y1="68667" x2="82167" y2="80833"/>
                        <a14:foregroundMark x1="82167" y1="80833" x2="36500" y2="89000"/>
                        <a14:foregroundMark x1="36500" y1="89000" x2="14500" y2="74667"/>
                        <a14:foregroundMark x1="14500" y1="74667" x2="7000" y2="64667"/>
                        <a14:foregroundMark x1="7000" y1="64667" x2="3167" y2="52333"/>
                        <a14:foregroundMark x1="3167" y1="52333" x2="7167" y2="44333"/>
                        <a14:foregroundMark x1="20667" y1="45000" x2="2500" y2="64667"/>
                        <a14:foregroundMark x1="2500" y1="64667" x2="9667" y2="60833"/>
                        <a14:foregroundMark x1="16000" y1="77833" x2="16500" y2="82667"/>
                        <a14:foregroundMark x1="21000" y1="79667" x2="33167" y2="90667"/>
                        <a14:foregroundMark x1="33167" y1="90667" x2="59833" y2="96167"/>
                        <a14:foregroundMark x1="59833" y1="96167" x2="72167" y2="89833"/>
                        <a14:foregroundMark x1="72167" y1="89833" x2="59333" y2="88333"/>
                        <a14:foregroundMark x1="59333" y1="88333" x2="43500" y2="91500"/>
                        <a14:foregroundMark x1="35667" y1="96167" x2="45500" y2="96500"/>
                        <a14:foregroundMark x1="97667" y1="50833" x2="97667" y2="50833"/>
                        <a14:foregroundMark x1="74500" y1="35833" x2="29000" y2="41000"/>
                        <a14:foregroundMark x1="29000" y1="41000" x2="26000" y2="40833"/>
                        <a14:foregroundMark x1="12500" y1="51667" x2="29667" y2="50000"/>
                        <a14:foregroundMark x1="29667" y1="50000" x2="46167" y2="51167"/>
                        <a14:foregroundMark x1="46167" y1="51167" x2="78333" y2="49667"/>
                        <a14:foregroundMark x1="78333" y1="49667" x2="89500" y2="57667"/>
                        <a14:foregroundMark x1="89500" y1="57667" x2="61000" y2="65000"/>
                        <a14:foregroundMark x1="61000" y1="65000" x2="24667" y2="64833"/>
                        <a14:foregroundMark x1="24667" y1="64833" x2="12500" y2="61500"/>
                        <a14:foregroundMark x1="12500" y1="61500" x2="29833" y2="62000"/>
                        <a14:foregroundMark x1="29833" y1="62000" x2="41667" y2="72000"/>
                        <a14:foregroundMark x1="41667" y1="72000" x2="72333" y2="73000"/>
                        <a14:foregroundMark x1="72333" y1="73000" x2="82000" y2="72333"/>
                        <a14:foregroundMark x1="34500" y1="78333" x2="11000" y2="61167"/>
                      </a14:backgroundRemoval>
                    </a14:imgEffect>
                  </a14:imgLayer>
                </a14:imgProps>
              </a:ext>
            </a:extLst>
          </a:blip>
          <a:stretch>
            <a:fillRect/>
          </a:stretch>
        </p:blipFill>
        <p:spPr>
          <a:xfrm>
            <a:off x="6319777" y="690676"/>
            <a:ext cx="936909" cy="936909"/>
          </a:xfrm>
          <a:prstGeom prst="rect">
            <a:avLst/>
          </a:prstGeom>
        </p:spPr>
      </p:pic>
      <p:pic>
        <p:nvPicPr>
          <p:cNvPr id="4" name="Picture 3">
            <a:extLst>
              <a:ext uri="{FF2B5EF4-FFF2-40B4-BE49-F238E27FC236}">
                <a16:creationId xmlns:a16="http://schemas.microsoft.com/office/drawing/2014/main" id="{76E6B93E-6709-EF36-D86B-052B8A9E72C8}"/>
              </a:ext>
            </a:extLst>
          </p:cNvPr>
          <p:cNvPicPr>
            <a:picLocks noChangeAspect="1"/>
          </p:cNvPicPr>
          <p:nvPr/>
        </p:nvPicPr>
        <p:blipFill>
          <a:blip r:embed="rId7"/>
          <a:stretch>
            <a:fillRect/>
          </a:stretch>
        </p:blipFill>
        <p:spPr>
          <a:xfrm>
            <a:off x="6798447" y="4514873"/>
            <a:ext cx="2149986" cy="431917"/>
          </a:xfrm>
          <a:prstGeom prst="rect">
            <a:avLst/>
          </a:prstGeom>
        </p:spPr>
      </p:pic>
      <p:pic>
        <p:nvPicPr>
          <p:cNvPr id="7" name="Picture 2">
            <a:extLst>
              <a:ext uri="{FF2B5EF4-FFF2-40B4-BE49-F238E27FC236}">
                <a16:creationId xmlns:a16="http://schemas.microsoft.com/office/drawing/2014/main" id="{4EBE5E31-8311-2B82-C95F-4AD75568A9F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567" y="3957535"/>
            <a:ext cx="2428568" cy="1114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theme/theme1.xml><?xml version="1.0" encoding="utf-8"?>
<a:theme xmlns:a="http://schemas.openxmlformats.org/drawingml/2006/main" name="Spearmint">
  <a:themeElements>
    <a:clrScheme name="Custom 6">
      <a:dk1>
        <a:srgbClr val="212121"/>
      </a:dk1>
      <a:lt1>
        <a:srgbClr val="FFFFFF"/>
      </a:lt1>
      <a:dk2>
        <a:srgbClr val="EEB211"/>
      </a:dk2>
      <a:lt2>
        <a:srgbClr val="46166B"/>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22798</TotalTime>
  <Words>7943</Words>
  <Application>Microsoft Macintosh PowerPoint</Application>
  <PresentationFormat>On-screen Show (16:9)</PresentationFormat>
  <Paragraphs>395</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Times New Roman</vt:lpstr>
      <vt:lpstr>Calibri</vt:lpstr>
      <vt:lpstr>Proxima Nova</vt:lpstr>
      <vt:lpstr>Arial</vt:lpstr>
      <vt:lpstr>Spearmint</vt:lpstr>
      <vt:lpstr>PowerPoint Presentation</vt:lpstr>
      <vt:lpstr>Motivation</vt:lpstr>
      <vt:lpstr>Related Work on Legal Argument Mining / Extractive Question Answering </vt:lpstr>
      <vt:lpstr>Related Work on Legal Argument Mining / Extractive Question Answering </vt:lpstr>
      <vt:lpstr>Related Work on Legal Argument Mining / Extractive Question Answering </vt:lpstr>
      <vt:lpstr>Related Work on Legal Argument Mining / Extractive Question Answering </vt:lpstr>
      <vt:lpstr>Background – Technology Undertaking Exception Rule</vt:lpstr>
      <vt:lpstr>Background – Technology Undertaking Exception Rule</vt:lpstr>
      <vt:lpstr>Research Questions</vt:lpstr>
      <vt:lpstr>Methodology</vt:lpstr>
      <vt:lpstr>Methodology</vt:lpstr>
      <vt:lpstr>Methodology</vt:lpstr>
      <vt:lpstr>Methodology</vt:lpstr>
      <vt:lpstr>Methodology</vt:lpstr>
      <vt:lpstr>Experiment Results – Quantitative Findings</vt:lpstr>
      <vt:lpstr>Experiment Results – Quantitative Findings </vt:lpstr>
      <vt:lpstr>Experiment Results – Qualitative Findings</vt:lpstr>
      <vt:lpstr>Experiment Results – Qualitative Findings</vt:lpstr>
      <vt:lpstr>Experiment Results – Qualitative Findings</vt:lpstr>
      <vt:lpstr>Experiment Results – Qualitative Findings</vt:lpstr>
      <vt:lpstr>Limitation and Future Work</vt:lpstr>
      <vt:lpstr>Thanks for listening. 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Demir, Mikail M</cp:lastModifiedBy>
  <cp:revision>9</cp:revision>
  <dcterms:modified xsi:type="dcterms:W3CDTF">2025-11-12T16:20:22Z</dcterms:modified>
</cp:coreProperties>
</file>